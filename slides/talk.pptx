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00:00-00:25
I am Yossi Eliaz. I build execution infrastructure for agents.
I want to show you four ways a worker can cross an authority boundary using the interfaces we deliberately gave it. Every case is reproducible. The worker scripts are deterministic, so we can examine the mechanism without depending on what a model happens to do on stage.
[Sources]
https://zenity.io/resources/events/ai-agent-security-summit-2026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00:25-01:20
Here is the result we will come back to. The checker file has exactly the same hash before and after. It prints PASS. The candidate returns two hundred for an unauthenticated admin request, where the controller's policy requires four-oh-one.
This particular candidate is a tiny status-code model: it prints the number. I am not showing a live production website or a customer breach. The acceptance error is real inside this reference experiment.
Keep one question in mind: which bytes were allowed to decide what passing meant? We will answer that after following the three other interfaces into the worker.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01:20-02:15
Assume the worker is adversarial. It can run commands and write its workspace. It can emit requests and candidate code. It cannot rewrite the trusted controller, steal its signing key, or exploit the host kernel in this model.
The interfaces are a credential, mounted files, a permitted service, and the inputs to an acceptance decision. Each interface has a different enforcing component. A namespace can separate processes while a token still authorizes another project. A read-only checker can still read expectations from a writable directory.
The first three cases use a loopback HTTP fixture and real Linux namespace and mount experiments. The fourth isolates the acceptance mechanism. We deliberately keep those scopes separate.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02:15-03:20
The job needs its own input. We start it with the runner's broader token in the environment. The worker sends an ordinary GET to another project's private path. The service returns two hundred and the synthetic private fixture.
That is an authorized request according to the credential we supplied. No process escape is required.
Now the service receives a task-scoped fixture token. The other project returns four-oh-three. The task's own input still returns two hundred. The expired and wrong-audience fixtures are denied as well.
The enforcing component is the service that checks the credential. Short lifetime limits exposure, while resource scope and audience determine what the token may do during that lifetime. The positive control matters: the worker still obtains the input it needs.
Evidence: credentials.before / after / positive / fixture-*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03:20-04:25
Next, the worker needs files. We bind a shared directory into its filesystem and leave it writable. The payload is a normal file write to next-job dot json. The host observes the changed content.
We rerun the same operation against a read-only bind. The write is denied and the host file remains unchanged. A separate output directory remains writable, so the worker can still deliver its patch.
That gives us a concrete filesystem policy: read the required inputs, write the intended outputs, and do not mount another job's writable state. Snapshots deserve the same review because they carry filesystem state into later runs. Snapshot inheritance is a deployment implication here; this experiment tests the bind mount itself.
Evidence: mount.before / mount.after / mount.positive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04:25-05:45
The worker must publish a report. We allow it to reach a service. That service also accepts uploads addressed to another account. The worker sends the private fixture to that path, and the receiving fixture records the delivery.
A hostname allowlist has not specified the recipient or the payload.
In the restricted case, the worker's network namespace cannot directly reach the host-loopback service. It can request one broker operation. The broker fixes the destination and constructs the report body from controller-owned values. Requests with extra recipient, URL or payload fields are denied, and the receiving service records no delivery for those attempts. The legitimate team report still arrives.
This tests one direct route and one fixed-schema operation. It does not prove the absence of every timing channel or every possible network bypass. The practical question is who controls the complete outbound envelope.
Evidence: egress.before / recipient / payload / url / no_delivery / bypass / positive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05:45-07:35
Now return to the green checker. The ticket says unauthenticated admin access must produce four-oh-one. The checker file is mounted read-only in the isolated run. An attempted write to it is denied. Its hash remains unchanged.
But look at what the checker reads. It loads expected dot json from the worker's workspace. The worker writes a case saying that admin without authentication should return two hundred. The buggy candidate returns two hundred. The checker compares those two numbers and prints PASS.
The file that expresses the expected behavior has crossed the acceptance boundary. Protecting the checker's source did not protect the meaning of its decision.
We evaluate exactly the same bad candidate against controller-owned cases. Three of five comparisons fail: no authentication, ordinary-user authentication, and expired authentication. The legitimate admin and public cases still pass. The independent decision is reject.
The deliberately weakened configuration is labeled as such. It is a detector we built, not a newly discovered vendor vulnerability. Its value is that you can reproduce both the false acceptance and the correction, including an unchanged checker hash. Moving that same checker and the same writable expectations to another machine would preserve the dependency error.
Evidence: factory: weakened.deps / same bad artifact / controller rejects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07:35-09:05
The corrected path starts by copying the candidate into a bounded immutable representation. The controller derives the manifest and digest from those bytes. It evaluates the candidate in an acceptance environment and compares observations against criteria the worker does not own.
An approval binds the artifact, task, run, policy, verifier bundle, acceptance-environment manifest, expiry and a one-use nonce. The release operation validates that approval and stores the exact approved payload. In this reference implementation, release means a controller-owned database object, not a production deployment or a Git merge.
A missing result or a timeout produces no approval. That is fail-closed behavior, not evidence that an attack was defeated. A correct candidate must still pass.
The history chain has a separate job. A rewritten history can be detected against a head retained outside worker control. History does not establish that the expected answers were correct. The controller's policy and comparison remain trusted inputs.
Evidence: factory: intended.good / bad / verifier / environment / run / replay
[Sources]
https://github.com/zozo123/nyc-talk
https://slsa.dev/spec/v1.2/verifying-artifacts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09:05-10:35
These rows are the evidence I would want to see before trusting the demo.
The correct candidate is accepted and its exact bytes are stored. The open-admin candidate is rejected. Worker-written expectations can still fool the deliberately weakened checker, while the independent comparison rejects the same candidate.
For substitution, we use a fresh approval for good bytes and first try bad bytes. That is denied. We then submit the original good bytes with the same approval, and publication succeeds. Only after that do we test replay and get a denial.
The ordering matters. If you consume the nonce first and then try a substitution, the denial could be explained entirely by replay protection. It would not isolate byte binding.
Our audit also found a mutable-object problem in the earlier reference implementation. The appendix contains the reproduction and the limited threat scope. The current gate derives identity from immutable bytes and atomically stores the payload with nonce consumption. The regression suite also checks concurrent publication.
Evidence: factory/transcript + tests/test_gate.py; assertion counts are not vulnerability counts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10:35-11:35
This applies when there are many agents, too. A builder, a reviewer and a repair agent can all share the same mutable workspace. They can therefore agree because they read the same worker-edited expectations.
Different models, temperatures or roles may improve exploration. They do not by themselves establish an independent acceptance policy.
I would let those workers generate candidates and evidence in parallel, then promote one immutable candidate through the controller-owned decision. A reviewer can recommend acceptance. The release credential and the trusted criteria remain outside that worker pool.
We have not measured a multi-agent attack success rate here. This is the trust-boundary implication of the dependency case we just reproduced.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11:35-13:10
Here are the four paired tests I would take back to an agent platform.
Give the worker its normal task credential. Attempt access to another project's fixture, then confirm its own task input still works.
Attempt a write to a protected or cross-job path, then confirm an intended output can still be written. Include the state that will be inherited through snapshots or caches in your review.
Try to change the recipient and payload of a permitted publication request. Confirm those changes create no delivery, confirm the worker cannot use a direct bypass, and then send the legitimate report.
Finally, modify the worker-visible expectations and claim PASS for a bad candidate. The independent acceptance path should reject it. Try substituting different bytes under a fresh approval, then use that same approval with the original good bytes. Publish once and test replay.
For every result, record the enforcing component, the observed side effect and the positive control. That turns a diagram of your security boundaries into a repeatable experiment.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13:10-14:00
The four cases used authority we supplied: a broad credential, a writable shared path, a permitted endpoint and an acceptance dependency the worker could edit.
The Linux isolation checks can succeed while these higher-level decisions are still wrong. Each needs an enforcing component that owns the relevant policy.
Before accepting an agent's work, identify every input that can change the verdict. Freeze the candidate, own the criteria, and release those bytes.
The repository includes the source, transcripts, negative and positive controls, and the exact limitations of the experiment. Thank you.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Use this slide when asked what was actually tested. The recorded mode and exact source hashes are checked before deck generation. Do not promote the local mode into an isolation result. The controller and its storage are trusted in both modes. The loopback fixture is not an Internet-wide egress assessment.
[Sources]
https://github.com/zozo123/nyc-talk
https://github.com/containers/bubblewrap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
This is an audit result about our own reference implementation, not a product exploit. The baseline gate wrote metadata rather than a deployed artifact. The same-process harness exercises an API invariant; worker reachability was not established. That is why the main talk leads with the reproducible dependency-boundary case rather than calling this a sandbox escape.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C
Present the PDF and its recorded observations. Do not log into a cloud provider on stage. Build the deck before travel. For a technical follow-up, run the local factory or the Linux isolated suite and compare the new record with the checked-in evidence. A hash is an integrity identifier, not an independent attestation.
[Sources]
https://github.com/zozo123/nyc-talk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
SLSA is prior work for binding and checking artifact provenance. Anthropic is context that test and reward manipulation is a documented concern; their measured rates do not apply to these deterministic fixtures. Bubblewrap documents that policy depends on its arguments. The event page confirms the date and audience, not this experiment's conclusions.
[Sources]
https://github.com/zozo123/nyc-talk
https://github.com/containers/bubblewrap
https://slsa.dev/spec/v1.2/verifying-artifacts
https://www.anthropic.com/research/emergent-misalignment-reward-hacking
https://zenity.io/resources/events/ai-agent-security-summit-2026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AI AGENT SECURITY SUMMIT / NEW YORK</a:t>
            </a:r>
            <a:endParaRPr lang="en-US" sz="1200" dirty="0"/>
          </a:p>
        </p:txBody>
      </p:sp>
      <p:sp>
        <p:nvSpPr>
          <p:cNvPr id="3" name="Text 1"/>
          <p:cNvSpPr/>
          <p:nvPr/>
        </p:nvSpPr>
        <p:spPr>
          <a:xfrm>
            <a:off x="566928" y="1371600"/>
            <a:ext cx="11018520" cy="2304288"/>
          </a:xfrm>
          <a:prstGeom prst="rect">
            <a:avLst/>
          </a:prstGeom>
          <a:noFill/>
          <a:ln/>
        </p:spPr>
        <p:txBody>
          <a:bodyPr wrap="square" lIns="0" tIns="0" rIns="0" bIns="0" rtlCol="0" anchor="t">
            <a:spAutoFit/>
          </a:bodyPr>
          <a:lstStyle/>
          <a:p>
            <a:pPr algn="l" indent="0" marL="0">
              <a:lnSpc>
                <a:spcPct val="112000"/>
              </a:lnSpc>
              <a:buNone/>
            </a:pPr>
            <a:r>
              <a:rPr lang="en-US" sz="4400" b="1" dirty="0">
                <a:solidFill>
                  <a:srgbClr val="F0F0E8"/>
                </a:solidFill>
                <a:latin typeface="Arial" pitchFamily="34" charset="0"/>
                <a:ea typeface="Arial" pitchFamily="34" charset="-122"/>
                <a:cs typeface="Arial" pitchFamily="34" charset="-120"/>
              </a:rPr>
              <a:t>Your Agent Escaped</a:t>
            </a:r>
            <a:endParaRPr lang="en-US" sz="4400" dirty="0"/>
          </a:p>
          <a:p>
            <a:pPr algn="l" indent="0" marL="0">
              <a:lnSpc>
                <a:spcPct val="112000"/>
              </a:lnSpc>
              <a:buNone/>
            </a:pPr>
            <a:r>
              <a:rPr lang="en-US" sz="4400" b="1" dirty="0">
                <a:solidFill>
                  <a:srgbClr val="F0F0E8"/>
                </a:solidFill>
                <a:latin typeface="Arial" pitchFamily="34" charset="0"/>
                <a:ea typeface="Arial" pitchFamily="34" charset="-122"/>
                <a:cs typeface="Arial" pitchFamily="34" charset="-120"/>
              </a:rPr>
              <a:t>Without Escaping</a:t>
            </a:r>
            <a:endParaRPr lang="en-US" sz="4400" dirty="0"/>
          </a:p>
          <a:p>
            <a:pPr algn="l" indent="0" marL="0">
              <a:lnSpc>
                <a:spcPct val="112000"/>
              </a:lnSpc>
              <a:buNone/>
            </a:pPr>
            <a:r>
              <a:rPr lang="en-US" sz="4400" b="1" dirty="0">
                <a:solidFill>
                  <a:srgbClr val="F0F0E8"/>
                </a:solidFill>
                <a:latin typeface="Arial" pitchFamily="34" charset="0"/>
                <a:ea typeface="Arial" pitchFamily="34" charset="-122"/>
                <a:cs typeface="Arial" pitchFamily="34" charset="-120"/>
              </a:rPr>
              <a:t>the Sandbox</a:t>
            </a:r>
            <a:endParaRPr lang="en-US" sz="4400" dirty="0"/>
          </a:p>
        </p:txBody>
      </p:sp>
      <p:sp>
        <p:nvSpPr>
          <p:cNvPr id="4" name="Shape 2"/>
          <p:cNvSpPr/>
          <p:nvPr/>
        </p:nvSpPr>
        <p:spPr>
          <a:xfrm>
            <a:off x="566928" y="4160520"/>
            <a:ext cx="11018520" cy="0"/>
          </a:xfrm>
          <a:prstGeom prst="line">
            <a:avLst/>
          </a:prstGeom>
          <a:noFill/>
          <a:ln w="9525">
            <a:solidFill>
              <a:srgbClr val="C7FF48"/>
            </a:solidFill>
            <a:prstDash val="solid"/>
          </a:ln>
        </p:spPr>
      </p:sp>
      <p:sp>
        <p:nvSpPr>
          <p:cNvPr id="5" name="Text 3"/>
          <p:cNvSpPr/>
          <p:nvPr/>
        </p:nvSpPr>
        <p:spPr>
          <a:xfrm>
            <a:off x="594360" y="4544568"/>
            <a:ext cx="9692640" cy="1389888"/>
          </a:xfrm>
          <a:prstGeom prst="rect">
            <a:avLst/>
          </a:prstGeom>
          <a:noFill/>
          <a:ln/>
        </p:spPr>
        <p:txBody>
          <a:bodyPr wrap="square" lIns="0" tIns="0" rIns="0" bIns="0" rtlCol="0" anchor="t">
            <a:spAutoFit/>
          </a:bodyPr>
          <a:lstStyle/>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Yossi Eliaz</a:t>
            </a:r>
            <a:endParaRPr lang="en-US" sz="2200" dirty="0"/>
          </a:p>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Principal Engineer / Incredibuild</a:t>
            </a:r>
            <a:endParaRPr lang="en-US" sz="2200" dirty="0"/>
          </a:p>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October 21, 2026</a:t>
            </a:r>
            <a:endParaRPr lang="en-US" sz="2200" dirty="0"/>
          </a:p>
        </p:txBody>
      </p:sp>
      <p:sp>
        <p:nvSpPr>
          <p:cNvPr id="6" name="Text 4"/>
          <p:cNvSpPr/>
          <p:nvPr/>
        </p:nvSpPr>
        <p:spPr>
          <a:xfrm>
            <a:off x="594360" y="6117336"/>
            <a:ext cx="10881360" cy="246888"/>
          </a:xfrm>
          <a:prstGeom prst="rect">
            <a:avLst/>
          </a:prstGeom>
          <a:noFill/>
          <a:ln/>
        </p:spPr>
        <p:txBody>
          <a:bodyPr wrap="square" lIns="0" tIns="0" rIns="0" bIns="0" rtlCol="0" anchor="t">
            <a:spAutoFit/>
          </a:bodyPr>
          <a:lstStyle/>
          <a:p>
            <a:pPr algn="l" indent="0" marL="0">
              <a:lnSpc>
                <a:spcPct val="112000"/>
              </a:lnSpc>
              <a:buNone/>
            </a:pPr>
            <a:r>
              <a:rPr lang="en-US" sz="1150" b="1" dirty="0">
                <a:solidFill>
                  <a:srgbClr val="A7ADB3"/>
                </a:solidFill>
                <a:latin typeface="Arial" pitchFamily="34" charset="0"/>
                <a:ea typeface="Arial" pitchFamily="34" charset="-122"/>
                <a:cs typeface="Arial" pitchFamily="34" charset="-120"/>
              </a:rPr>
              <a:t>REPRODUCIBLE AUTHORITY-BOUNDARY EXPERIMENTS</a:t>
            </a:r>
            <a:endParaRPr lang="en-US" sz="1150" dirty="0"/>
          </a:p>
        </p:txBody>
      </p:sp>
      <p:sp>
        <p:nvSpPr>
          <p:cNvPr id="7" name="Text 5"/>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8" name="Text 6"/>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01 / 12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THE RESULT WE HAVE TO EXPLAIN</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checker passed an open-admin candidate.</a:t>
            </a:r>
            <a:endParaRPr lang="en-US" sz="3200" dirty="0"/>
          </a:p>
        </p:txBody>
      </p:sp>
      <p:sp>
        <p:nvSpPr>
          <p:cNvPr id="4" name="Shape 2"/>
          <p:cNvSpPr/>
          <p:nvPr/>
        </p:nvSpPr>
        <p:spPr>
          <a:xfrm>
            <a:off x="566928" y="1883664"/>
            <a:ext cx="4919472" cy="3621024"/>
          </a:xfrm>
          <a:prstGeom prst="rect">
            <a:avLst/>
          </a:prstGeom>
          <a:solidFill>
            <a:srgbClr val="1A1F25"/>
          </a:solidFill>
          <a:ln w="12700">
            <a:solidFill>
              <a:srgbClr val="1A1F25"/>
            </a:solidFill>
            <a:prstDash val="solid"/>
          </a:ln>
        </p:spPr>
      </p:sp>
      <p:sp>
        <p:nvSpPr>
          <p:cNvPr id="5" name="Text 3"/>
          <p:cNvSpPr/>
          <p:nvPr/>
        </p:nvSpPr>
        <p:spPr>
          <a:xfrm>
            <a:off x="768096" y="2084832"/>
            <a:ext cx="4517136"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CHECKER BYTES</a:t>
            </a:r>
            <a:endParaRPr lang="en-US" sz="1250" dirty="0"/>
          </a:p>
        </p:txBody>
      </p:sp>
      <p:sp>
        <p:nvSpPr>
          <p:cNvPr id="6" name="Text 4"/>
          <p:cNvSpPr/>
          <p:nvPr/>
        </p:nvSpPr>
        <p:spPr>
          <a:xfrm>
            <a:off x="822960" y="2523744"/>
            <a:ext cx="4416552" cy="914400"/>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before  f5d8d3468bbe...</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after   f5d8d3468bbe...</a:t>
            </a:r>
            <a:endParaRPr lang="en-US" sz="2000" dirty="0"/>
          </a:p>
        </p:txBody>
      </p:sp>
      <p:sp>
        <p:nvSpPr>
          <p:cNvPr id="7" name="Text 5"/>
          <p:cNvSpPr/>
          <p:nvPr/>
        </p:nvSpPr>
        <p:spPr>
          <a:xfrm>
            <a:off x="822960" y="4242816"/>
            <a:ext cx="4389120" cy="685800"/>
          </a:xfrm>
          <a:prstGeom prst="rect">
            <a:avLst/>
          </a:prstGeom>
          <a:noFill/>
          <a:ln/>
        </p:spPr>
        <p:txBody>
          <a:bodyPr wrap="square" lIns="0" tIns="0" rIns="0" bIns="0" rtlCol="0" anchor="t">
            <a:spAutoFit/>
          </a:bodyPr>
          <a:lstStyle/>
          <a:p>
            <a:pPr algn="l" indent="0" marL="0">
              <a:lnSpc>
                <a:spcPct val="112000"/>
              </a:lnSpc>
              <a:buNone/>
            </a:pPr>
            <a:r>
              <a:rPr lang="en-US" sz="2400" b="1" dirty="0">
                <a:solidFill>
                  <a:srgbClr val="F0F0E8"/>
                </a:solidFill>
                <a:latin typeface="Arial" pitchFamily="34" charset="0"/>
                <a:ea typeface="Arial" pitchFamily="34" charset="-122"/>
                <a:cs typeface="Arial" pitchFamily="34" charset="-120"/>
              </a:rPr>
              <a:t>The hash stays unchanged.</a:t>
            </a:r>
            <a:endParaRPr lang="en-US" sz="2400" dirty="0"/>
          </a:p>
        </p:txBody>
      </p:sp>
      <p:sp>
        <p:nvSpPr>
          <p:cNvPr id="8" name="Shape 6"/>
          <p:cNvSpPr/>
          <p:nvPr/>
        </p:nvSpPr>
        <p:spPr>
          <a:xfrm>
            <a:off x="5760720" y="1883664"/>
            <a:ext cx="5861304" cy="3621024"/>
          </a:xfrm>
          <a:prstGeom prst="rect">
            <a:avLst/>
          </a:prstGeom>
          <a:solidFill>
            <a:srgbClr val="1A1F25"/>
          </a:solidFill>
          <a:ln w="12700">
            <a:solidFill>
              <a:srgbClr val="1A1F25"/>
            </a:solidFill>
            <a:prstDash val="solid"/>
          </a:ln>
        </p:spPr>
      </p:sp>
      <p:sp>
        <p:nvSpPr>
          <p:cNvPr id="9" name="Text 7"/>
          <p:cNvSpPr/>
          <p:nvPr/>
        </p:nvSpPr>
        <p:spPr>
          <a:xfrm>
            <a:off x="5961888" y="2084832"/>
            <a:ext cx="5458968"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OBSERVED</a:t>
            </a:r>
            <a:endParaRPr lang="en-US" sz="1250" dirty="0"/>
          </a:p>
        </p:txBody>
      </p:sp>
      <p:sp>
        <p:nvSpPr>
          <p:cNvPr id="10" name="Text 8"/>
          <p:cNvSpPr/>
          <p:nvPr/>
        </p:nvSpPr>
        <p:spPr>
          <a:xfrm>
            <a:off x="6025896" y="2432304"/>
            <a:ext cx="2487168" cy="777240"/>
          </a:xfrm>
          <a:prstGeom prst="rect">
            <a:avLst/>
          </a:prstGeom>
          <a:noFill/>
          <a:ln/>
        </p:spPr>
        <p:txBody>
          <a:bodyPr wrap="square" lIns="0" tIns="0" rIns="0" bIns="0" rtlCol="0" anchor="t">
            <a:spAutoFit/>
          </a:bodyPr>
          <a:lstStyle/>
          <a:p>
            <a:pPr algn="l" indent="0" marL="0">
              <a:lnSpc>
                <a:spcPct val="112000"/>
              </a:lnSpc>
              <a:buNone/>
            </a:pPr>
            <a:r>
              <a:rPr lang="en-US" sz="4800" b="1" dirty="0">
                <a:solidFill>
                  <a:srgbClr val="C7FF48"/>
                </a:solidFill>
                <a:latin typeface="Courier New" pitchFamily="34" charset="0"/>
                <a:ea typeface="Courier New" pitchFamily="34" charset="-122"/>
                <a:cs typeface="Courier New" pitchFamily="34" charset="-120"/>
              </a:rPr>
              <a:t>PASS</a:t>
            </a:r>
            <a:endParaRPr lang="en-US" sz="4800" dirty="0"/>
          </a:p>
        </p:txBody>
      </p:sp>
      <p:sp>
        <p:nvSpPr>
          <p:cNvPr id="11" name="Text 9"/>
          <p:cNvSpPr/>
          <p:nvPr/>
        </p:nvSpPr>
        <p:spPr>
          <a:xfrm>
            <a:off x="8796528" y="2734056"/>
            <a:ext cx="2487168" cy="38404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A7ADB3"/>
                </a:solidFill>
                <a:latin typeface="Arial" pitchFamily="34" charset="0"/>
                <a:ea typeface="Arial" pitchFamily="34" charset="-122"/>
                <a:cs typeface="Arial" pitchFamily="34" charset="-120"/>
              </a:rPr>
              <a:t>checker result</a:t>
            </a:r>
            <a:endParaRPr lang="en-US" sz="1800" dirty="0"/>
          </a:p>
        </p:txBody>
      </p:sp>
      <p:sp>
        <p:nvSpPr>
          <p:cNvPr id="12" name="Text 10"/>
          <p:cNvSpPr/>
          <p:nvPr/>
        </p:nvSpPr>
        <p:spPr>
          <a:xfrm>
            <a:off x="6025896" y="3511296"/>
            <a:ext cx="2487168" cy="777240"/>
          </a:xfrm>
          <a:prstGeom prst="rect">
            <a:avLst/>
          </a:prstGeom>
          <a:noFill/>
          <a:ln/>
        </p:spPr>
        <p:txBody>
          <a:bodyPr wrap="square" lIns="0" tIns="0" rIns="0" bIns="0" rtlCol="0" anchor="t">
            <a:spAutoFit/>
          </a:bodyPr>
          <a:lstStyle/>
          <a:p>
            <a:pPr algn="l" indent="0" marL="0">
              <a:lnSpc>
                <a:spcPct val="112000"/>
              </a:lnSpc>
              <a:buNone/>
            </a:pPr>
            <a:r>
              <a:rPr lang="en-US" sz="4800" b="1" dirty="0">
                <a:solidFill>
                  <a:srgbClr val="FF756B"/>
                </a:solidFill>
                <a:latin typeface="Courier New" pitchFamily="34" charset="0"/>
                <a:ea typeface="Courier New" pitchFamily="34" charset="-122"/>
                <a:cs typeface="Courier New" pitchFamily="34" charset="-120"/>
              </a:rPr>
              <a:t>200</a:t>
            </a:r>
            <a:endParaRPr lang="en-US" sz="4800" dirty="0"/>
          </a:p>
        </p:txBody>
      </p:sp>
      <p:sp>
        <p:nvSpPr>
          <p:cNvPr id="13" name="Text 11"/>
          <p:cNvSpPr/>
          <p:nvPr/>
        </p:nvSpPr>
        <p:spPr>
          <a:xfrm>
            <a:off x="8796528" y="3822192"/>
            <a:ext cx="2487168" cy="411480"/>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A7ADB3"/>
                </a:solidFill>
                <a:latin typeface="Arial" pitchFamily="34" charset="0"/>
                <a:ea typeface="Arial" pitchFamily="34" charset="-122"/>
                <a:cs typeface="Arial" pitchFamily="34" charset="-120"/>
              </a:rPr>
              <a:t>candidate result</a:t>
            </a:r>
            <a:endParaRPr lang="en-US" sz="1800" dirty="0"/>
          </a:p>
        </p:txBody>
      </p:sp>
      <p:sp>
        <p:nvSpPr>
          <p:cNvPr id="14" name="Text 12"/>
          <p:cNvSpPr/>
          <p:nvPr/>
        </p:nvSpPr>
        <p:spPr>
          <a:xfrm>
            <a:off x="6035040" y="4773168"/>
            <a:ext cx="5285232" cy="438912"/>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Controller requires 401 for admin:none.</a:t>
            </a:r>
            <a:endParaRPr lang="en-US" sz="1800" dirty="0"/>
          </a:p>
        </p:txBody>
      </p:sp>
      <p:sp>
        <p:nvSpPr>
          <p:cNvPr id="15" name="Shape 13"/>
          <p:cNvSpPr/>
          <p:nvPr/>
        </p:nvSpPr>
        <p:spPr>
          <a:xfrm>
            <a:off x="566928" y="5971032"/>
            <a:ext cx="11045952" cy="0"/>
          </a:xfrm>
          <a:prstGeom prst="line">
            <a:avLst/>
          </a:prstGeom>
          <a:noFill/>
          <a:ln w="9525">
            <a:solidFill>
              <a:srgbClr val="3C434B"/>
            </a:solidFill>
            <a:prstDash val="solid"/>
          </a:ln>
        </p:spPr>
      </p:sp>
      <p:sp>
        <p:nvSpPr>
          <p:cNvPr id="16" name="Text 14"/>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Which bytes were allowed to decide what passing meant?</a:t>
            </a:r>
            <a:endParaRPr lang="en-US" sz="1800" dirty="0"/>
          </a:p>
        </p:txBody>
      </p:sp>
      <p:sp>
        <p:nvSpPr>
          <p:cNvPr id="17" name="Text 15"/>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8" name="Text 16"/>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02 /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THREAT MODEL / EXPLICIT ASSUMPTIONS</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worker has four routes to authority.</a:t>
            </a:r>
            <a:endParaRPr lang="en-US" sz="3200" dirty="0"/>
          </a:p>
        </p:txBody>
      </p:sp>
      <p:sp>
        <p:nvSpPr>
          <p:cNvPr id="4" name="Shape 2"/>
          <p:cNvSpPr/>
          <p:nvPr/>
        </p:nvSpPr>
        <p:spPr>
          <a:xfrm>
            <a:off x="566928" y="1828800"/>
            <a:ext cx="3429000" cy="3566160"/>
          </a:xfrm>
          <a:prstGeom prst="rect">
            <a:avLst/>
          </a:prstGeom>
          <a:solidFill>
            <a:srgbClr val="1A1F25"/>
          </a:solidFill>
          <a:ln w="12700">
            <a:solidFill>
              <a:srgbClr val="1A1F25"/>
            </a:solidFill>
            <a:prstDash val="solid"/>
          </a:ln>
        </p:spPr>
      </p:sp>
      <p:sp>
        <p:nvSpPr>
          <p:cNvPr id="5" name="Text 3"/>
          <p:cNvSpPr/>
          <p:nvPr/>
        </p:nvSpPr>
        <p:spPr>
          <a:xfrm>
            <a:off x="768096" y="2029968"/>
            <a:ext cx="302666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WORKER CONTROLS</a:t>
            </a:r>
            <a:endParaRPr lang="en-US" sz="1250" dirty="0"/>
          </a:p>
        </p:txBody>
      </p:sp>
      <p:sp>
        <p:nvSpPr>
          <p:cNvPr id="6" name="Text 4"/>
          <p:cNvSpPr/>
          <p:nvPr/>
        </p:nvSpPr>
        <p:spPr>
          <a:xfrm>
            <a:off x="813816" y="2560320"/>
            <a:ext cx="2834640" cy="457200"/>
          </a:xfrm>
          <a:prstGeom prst="rect">
            <a:avLst/>
          </a:prstGeom>
          <a:noFill/>
          <a:ln/>
        </p:spPr>
        <p:txBody>
          <a:bodyPr wrap="square" lIns="0" tIns="0" rIns="0" bIns="0" rtlCol="0" anchor="t">
            <a:spAutoFit/>
          </a:bodyPr>
          <a:lstStyle/>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Commands</a:t>
            </a:r>
            <a:endParaRPr lang="en-US" sz="2200" dirty="0"/>
          </a:p>
        </p:txBody>
      </p:sp>
      <p:sp>
        <p:nvSpPr>
          <p:cNvPr id="7" name="Text 5"/>
          <p:cNvSpPr/>
          <p:nvPr/>
        </p:nvSpPr>
        <p:spPr>
          <a:xfrm>
            <a:off x="813816" y="3218688"/>
            <a:ext cx="2834640" cy="457200"/>
          </a:xfrm>
          <a:prstGeom prst="rect">
            <a:avLst/>
          </a:prstGeom>
          <a:noFill/>
          <a:ln/>
        </p:spPr>
        <p:txBody>
          <a:bodyPr wrap="square" lIns="0" tIns="0" rIns="0" bIns="0" rtlCol="0" anchor="t">
            <a:spAutoFit/>
          </a:bodyPr>
          <a:lstStyle/>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Workspace</a:t>
            </a:r>
            <a:endParaRPr lang="en-US" sz="2200" dirty="0"/>
          </a:p>
        </p:txBody>
      </p:sp>
      <p:sp>
        <p:nvSpPr>
          <p:cNvPr id="8" name="Text 6"/>
          <p:cNvSpPr/>
          <p:nvPr/>
        </p:nvSpPr>
        <p:spPr>
          <a:xfrm>
            <a:off x="813816" y="3877056"/>
            <a:ext cx="2834640" cy="457200"/>
          </a:xfrm>
          <a:prstGeom prst="rect">
            <a:avLst/>
          </a:prstGeom>
          <a:noFill/>
          <a:ln/>
        </p:spPr>
        <p:txBody>
          <a:bodyPr wrap="square" lIns="0" tIns="0" rIns="0" bIns="0" rtlCol="0" anchor="t">
            <a:spAutoFit/>
          </a:bodyPr>
          <a:lstStyle/>
          <a:p>
            <a:pPr algn="l" indent="0" marL="0">
              <a:lnSpc>
                <a:spcPct val="112000"/>
              </a:lnSpc>
              <a:buNone/>
            </a:pPr>
            <a:r>
              <a:rPr lang="en-US" sz="2200" dirty="0">
                <a:solidFill>
                  <a:srgbClr val="F0F0E8"/>
                </a:solidFill>
                <a:latin typeface="Arial" pitchFamily="34" charset="0"/>
                <a:ea typeface="Arial" pitchFamily="34" charset="-122"/>
                <a:cs typeface="Arial" pitchFamily="34" charset="-120"/>
              </a:rPr>
              <a:t>Candidate + requests</a:t>
            </a:r>
            <a:endParaRPr lang="en-US" sz="2200" dirty="0"/>
          </a:p>
        </p:txBody>
      </p:sp>
      <p:sp>
        <p:nvSpPr>
          <p:cNvPr id="9" name="Shape 7"/>
          <p:cNvSpPr/>
          <p:nvPr/>
        </p:nvSpPr>
        <p:spPr>
          <a:xfrm>
            <a:off x="7680960" y="1828800"/>
            <a:ext cx="3941064" cy="3566160"/>
          </a:xfrm>
          <a:prstGeom prst="rect">
            <a:avLst/>
          </a:prstGeom>
          <a:solidFill>
            <a:srgbClr val="1A1F25"/>
          </a:solidFill>
          <a:ln w="12700">
            <a:solidFill>
              <a:srgbClr val="1A1F25"/>
            </a:solidFill>
            <a:prstDash val="solid"/>
          </a:ln>
        </p:spPr>
      </p:sp>
      <p:sp>
        <p:nvSpPr>
          <p:cNvPr id="10" name="Text 8"/>
          <p:cNvSpPr/>
          <p:nvPr/>
        </p:nvSpPr>
        <p:spPr>
          <a:xfrm>
            <a:off x="7882128" y="2029968"/>
            <a:ext cx="3538728"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CONTROLLER OWNS</a:t>
            </a:r>
            <a:endParaRPr lang="en-US" sz="1250" dirty="0"/>
          </a:p>
        </p:txBody>
      </p:sp>
      <p:sp>
        <p:nvSpPr>
          <p:cNvPr id="11" name="Text 9"/>
          <p:cNvSpPr/>
          <p:nvPr/>
        </p:nvSpPr>
        <p:spPr>
          <a:xfrm>
            <a:off x="7927848" y="2560320"/>
            <a:ext cx="3429000" cy="512064"/>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Arial" pitchFamily="34" charset="0"/>
                <a:ea typeface="Arial" pitchFamily="34" charset="-122"/>
                <a:cs typeface="Arial" pitchFamily="34" charset="-120"/>
              </a:rPr>
              <a:t>Policy + expected results</a:t>
            </a:r>
            <a:endParaRPr lang="en-US" sz="2000" dirty="0"/>
          </a:p>
        </p:txBody>
      </p:sp>
      <p:sp>
        <p:nvSpPr>
          <p:cNvPr id="12" name="Text 10"/>
          <p:cNvSpPr/>
          <p:nvPr/>
        </p:nvSpPr>
        <p:spPr>
          <a:xfrm>
            <a:off x="7927848" y="3218688"/>
            <a:ext cx="3429000" cy="512064"/>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Arial" pitchFamily="34" charset="0"/>
                <a:ea typeface="Arial" pitchFamily="34" charset="-122"/>
                <a:cs typeface="Arial" pitchFamily="34" charset="-120"/>
              </a:rPr>
              <a:t>Approval key + run identity</a:t>
            </a:r>
            <a:endParaRPr lang="en-US" sz="2000" dirty="0"/>
          </a:p>
        </p:txBody>
      </p:sp>
      <p:sp>
        <p:nvSpPr>
          <p:cNvPr id="13" name="Text 11"/>
          <p:cNvSpPr/>
          <p:nvPr/>
        </p:nvSpPr>
        <p:spPr>
          <a:xfrm>
            <a:off x="7927848" y="3877056"/>
            <a:ext cx="3429000" cy="512064"/>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Arial" pitchFamily="34" charset="0"/>
                <a:ea typeface="Arial" pitchFamily="34" charset="-122"/>
                <a:cs typeface="Arial" pitchFamily="34" charset="-120"/>
              </a:rPr>
              <a:t>Release store</a:t>
            </a:r>
            <a:endParaRPr lang="en-US" sz="2000" dirty="0"/>
          </a:p>
        </p:txBody>
      </p:sp>
      <p:sp>
        <p:nvSpPr>
          <p:cNvPr id="14" name="Shape 12"/>
          <p:cNvSpPr/>
          <p:nvPr/>
        </p:nvSpPr>
        <p:spPr>
          <a:xfrm>
            <a:off x="4187952" y="2432304"/>
            <a:ext cx="3273552" cy="0"/>
          </a:xfrm>
          <a:prstGeom prst="line">
            <a:avLst/>
          </a:prstGeom>
          <a:noFill/>
          <a:ln w="9525">
            <a:solidFill>
              <a:srgbClr val="C7FF48"/>
            </a:solidFill>
            <a:prstDash val="solid"/>
          </a:ln>
        </p:spPr>
      </p:sp>
      <p:sp>
        <p:nvSpPr>
          <p:cNvPr id="15" name="Shape 13"/>
          <p:cNvSpPr/>
          <p:nvPr/>
        </p:nvSpPr>
        <p:spPr>
          <a:xfrm>
            <a:off x="4480560" y="2103120"/>
            <a:ext cx="2697480" cy="502920"/>
          </a:xfrm>
          <a:prstGeom prst="rect">
            <a:avLst/>
          </a:prstGeom>
          <a:solidFill>
            <a:srgbClr val="101214"/>
          </a:solidFill>
          <a:ln w="12700">
            <a:solidFill>
              <a:srgbClr val="101214"/>
            </a:solidFill>
            <a:prstDash val="solid"/>
          </a:ln>
        </p:spPr>
      </p:sp>
      <p:sp>
        <p:nvSpPr>
          <p:cNvPr id="16" name="Text 14"/>
          <p:cNvSpPr/>
          <p:nvPr/>
        </p:nvSpPr>
        <p:spPr>
          <a:xfrm>
            <a:off x="4553712" y="2167128"/>
            <a:ext cx="2551176" cy="365760"/>
          </a:xfrm>
          <a:prstGeom prst="rect">
            <a:avLst/>
          </a:prstGeom>
          <a:noFill/>
          <a:ln/>
        </p:spPr>
        <p:txBody>
          <a:bodyPr wrap="square" lIns="0" tIns="0" rIns="0" bIns="0" rtlCol="0" anchor="t">
            <a:spAutoFit/>
          </a:bodyPr>
          <a:lstStyle/>
          <a:p>
            <a:pPr algn="ctr" indent="0" marL="0">
              <a:lnSpc>
                <a:spcPct val="112000"/>
              </a:lnSpc>
              <a:buNone/>
            </a:pPr>
            <a:r>
              <a:rPr lang="en-US" sz="1800" dirty="0">
                <a:solidFill>
                  <a:srgbClr val="F0F0E8"/>
                </a:solidFill>
                <a:latin typeface="Arial" pitchFamily="34" charset="0"/>
                <a:ea typeface="Arial" pitchFamily="34" charset="-122"/>
                <a:cs typeface="Arial" pitchFamily="34" charset="-120"/>
              </a:rPr>
              <a:t>Credential</a:t>
            </a:r>
            <a:endParaRPr lang="en-US" sz="1800" dirty="0"/>
          </a:p>
        </p:txBody>
      </p:sp>
      <p:sp>
        <p:nvSpPr>
          <p:cNvPr id="17" name="Shape 15"/>
          <p:cNvSpPr/>
          <p:nvPr/>
        </p:nvSpPr>
        <p:spPr>
          <a:xfrm>
            <a:off x="4187952" y="3200400"/>
            <a:ext cx="3273552" cy="0"/>
          </a:xfrm>
          <a:prstGeom prst="line">
            <a:avLst/>
          </a:prstGeom>
          <a:noFill/>
          <a:ln w="9525">
            <a:solidFill>
              <a:srgbClr val="C7FF48"/>
            </a:solidFill>
            <a:prstDash val="solid"/>
          </a:ln>
        </p:spPr>
      </p:sp>
      <p:sp>
        <p:nvSpPr>
          <p:cNvPr id="18" name="Shape 16"/>
          <p:cNvSpPr/>
          <p:nvPr/>
        </p:nvSpPr>
        <p:spPr>
          <a:xfrm>
            <a:off x="4480560" y="2871216"/>
            <a:ext cx="2697480" cy="502920"/>
          </a:xfrm>
          <a:prstGeom prst="rect">
            <a:avLst/>
          </a:prstGeom>
          <a:solidFill>
            <a:srgbClr val="101214"/>
          </a:solidFill>
          <a:ln w="12700">
            <a:solidFill>
              <a:srgbClr val="101214"/>
            </a:solidFill>
            <a:prstDash val="solid"/>
          </a:ln>
        </p:spPr>
      </p:sp>
      <p:sp>
        <p:nvSpPr>
          <p:cNvPr id="19" name="Text 17"/>
          <p:cNvSpPr/>
          <p:nvPr/>
        </p:nvSpPr>
        <p:spPr>
          <a:xfrm>
            <a:off x="4553712" y="2935224"/>
            <a:ext cx="2551176" cy="365760"/>
          </a:xfrm>
          <a:prstGeom prst="rect">
            <a:avLst/>
          </a:prstGeom>
          <a:noFill/>
          <a:ln/>
        </p:spPr>
        <p:txBody>
          <a:bodyPr wrap="square" lIns="0" tIns="0" rIns="0" bIns="0" rtlCol="0" anchor="t">
            <a:spAutoFit/>
          </a:bodyPr>
          <a:lstStyle/>
          <a:p>
            <a:pPr algn="ctr" indent="0" marL="0">
              <a:lnSpc>
                <a:spcPct val="112000"/>
              </a:lnSpc>
              <a:buNone/>
            </a:pPr>
            <a:r>
              <a:rPr lang="en-US" sz="1800" dirty="0">
                <a:solidFill>
                  <a:srgbClr val="F0F0E8"/>
                </a:solidFill>
                <a:latin typeface="Arial" pitchFamily="34" charset="0"/>
                <a:ea typeface="Arial" pitchFamily="34" charset="-122"/>
                <a:cs typeface="Arial" pitchFamily="34" charset="-120"/>
              </a:rPr>
              <a:t>Filesystem</a:t>
            </a:r>
            <a:endParaRPr lang="en-US" sz="1800" dirty="0"/>
          </a:p>
        </p:txBody>
      </p:sp>
      <p:sp>
        <p:nvSpPr>
          <p:cNvPr id="20" name="Shape 18"/>
          <p:cNvSpPr/>
          <p:nvPr/>
        </p:nvSpPr>
        <p:spPr>
          <a:xfrm>
            <a:off x="4187952" y="3968496"/>
            <a:ext cx="3273552" cy="0"/>
          </a:xfrm>
          <a:prstGeom prst="line">
            <a:avLst/>
          </a:prstGeom>
          <a:noFill/>
          <a:ln w="9525">
            <a:solidFill>
              <a:srgbClr val="C7FF48"/>
            </a:solidFill>
            <a:prstDash val="solid"/>
          </a:ln>
        </p:spPr>
      </p:sp>
      <p:sp>
        <p:nvSpPr>
          <p:cNvPr id="21" name="Shape 19"/>
          <p:cNvSpPr/>
          <p:nvPr/>
        </p:nvSpPr>
        <p:spPr>
          <a:xfrm>
            <a:off x="4480560" y="3639312"/>
            <a:ext cx="2697480" cy="502920"/>
          </a:xfrm>
          <a:prstGeom prst="rect">
            <a:avLst/>
          </a:prstGeom>
          <a:solidFill>
            <a:srgbClr val="101214"/>
          </a:solidFill>
          <a:ln w="12700">
            <a:solidFill>
              <a:srgbClr val="101214"/>
            </a:solidFill>
            <a:prstDash val="solid"/>
          </a:ln>
        </p:spPr>
      </p:sp>
      <p:sp>
        <p:nvSpPr>
          <p:cNvPr id="22" name="Text 20"/>
          <p:cNvSpPr/>
          <p:nvPr/>
        </p:nvSpPr>
        <p:spPr>
          <a:xfrm>
            <a:off x="4553712" y="3703320"/>
            <a:ext cx="2551176" cy="365760"/>
          </a:xfrm>
          <a:prstGeom prst="rect">
            <a:avLst/>
          </a:prstGeom>
          <a:noFill/>
          <a:ln/>
        </p:spPr>
        <p:txBody>
          <a:bodyPr wrap="square" lIns="0" tIns="0" rIns="0" bIns="0" rtlCol="0" anchor="t">
            <a:spAutoFit/>
          </a:bodyPr>
          <a:lstStyle/>
          <a:p>
            <a:pPr algn="ctr" indent="0" marL="0">
              <a:lnSpc>
                <a:spcPct val="112000"/>
              </a:lnSpc>
              <a:buNone/>
            </a:pPr>
            <a:r>
              <a:rPr lang="en-US" sz="1800" dirty="0">
                <a:solidFill>
                  <a:srgbClr val="F0F0E8"/>
                </a:solidFill>
                <a:latin typeface="Arial" pitchFamily="34" charset="0"/>
                <a:ea typeface="Arial" pitchFamily="34" charset="-122"/>
                <a:cs typeface="Arial" pitchFamily="34" charset="-120"/>
              </a:rPr>
              <a:t>Allowed service</a:t>
            </a:r>
            <a:endParaRPr lang="en-US" sz="1800" dirty="0"/>
          </a:p>
        </p:txBody>
      </p:sp>
      <p:sp>
        <p:nvSpPr>
          <p:cNvPr id="23" name="Shape 21"/>
          <p:cNvSpPr/>
          <p:nvPr/>
        </p:nvSpPr>
        <p:spPr>
          <a:xfrm>
            <a:off x="4187952" y="4736592"/>
            <a:ext cx="3273552" cy="0"/>
          </a:xfrm>
          <a:prstGeom prst="line">
            <a:avLst/>
          </a:prstGeom>
          <a:noFill/>
          <a:ln w="9525">
            <a:solidFill>
              <a:srgbClr val="C7FF48"/>
            </a:solidFill>
            <a:prstDash val="solid"/>
          </a:ln>
        </p:spPr>
      </p:sp>
      <p:sp>
        <p:nvSpPr>
          <p:cNvPr id="24" name="Shape 22"/>
          <p:cNvSpPr/>
          <p:nvPr/>
        </p:nvSpPr>
        <p:spPr>
          <a:xfrm>
            <a:off x="4480560" y="4407408"/>
            <a:ext cx="2697480" cy="502920"/>
          </a:xfrm>
          <a:prstGeom prst="rect">
            <a:avLst/>
          </a:prstGeom>
          <a:solidFill>
            <a:srgbClr val="101214"/>
          </a:solidFill>
          <a:ln w="12700">
            <a:solidFill>
              <a:srgbClr val="101214"/>
            </a:solidFill>
            <a:prstDash val="solid"/>
          </a:ln>
        </p:spPr>
      </p:sp>
      <p:sp>
        <p:nvSpPr>
          <p:cNvPr id="25" name="Text 23"/>
          <p:cNvSpPr/>
          <p:nvPr/>
        </p:nvSpPr>
        <p:spPr>
          <a:xfrm>
            <a:off x="4553712" y="4471416"/>
            <a:ext cx="2551176" cy="365760"/>
          </a:xfrm>
          <a:prstGeom prst="rect">
            <a:avLst/>
          </a:prstGeom>
          <a:noFill/>
          <a:ln/>
        </p:spPr>
        <p:txBody>
          <a:bodyPr wrap="square" lIns="0" tIns="0" rIns="0" bIns="0" rtlCol="0" anchor="t">
            <a:spAutoFit/>
          </a:bodyPr>
          <a:lstStyle/>
          <a:p>
            <a:pPr algn="ctr" indent="0" marL="0">
              <a:lnSpc>
                <a:spcPct val="112000"/>
              </a:lnSpc>
              <a:buNone/>
            </a:pPr>
            <a:r>
              <a:rPr lang="en-US" sz="1800" dirty="0">
                <a:solidFill>
                  <a:srgbClr val="F0F0E8"/>
                </a:solidFill>
                <a:latin typeface="Arial" pitchFamily="34" charset="0"/>
                <a:ea typeface="Arial" pitchFamily="34" charset="-122"/>
                <a:cs typeface="Arial" pitchFamily="34" charset="-120"/>
              </a:rPr>
              <a:t>Acceptance inputs</a:t>
            </a:r>
            <a:endParaRPr lang="en-US" sz="1800" dirty="0"/>
          </a:p>
        </p:txBody>
      </p:sp>
      <p:sp>
        <p:nvSpPr>
          <p:cNvPr id="26" name="Text 24"/>
          <p:cNvSpPr/>
          <p:nvPr/>
        </p:nvSpPr>
        <p:spPr>
          <a:xfrm>
            <a:off x="640080" y="5605272"/>
            <a:ext cx="10881360" cy="320040"/>
          </a:xfrm>
          <a:prstGeom prst="rect">
            <a:avLst/>
          </a:prstGeom>
          <a:noFill/>
          <a:ln/>
        </p:spPr>
        <p:txBody>
          <a:bodyPr wrap="square" lIns="0" tIns="0" rIns="0" bIns="0" rtlCol="0" anchor="t">
            <a:spAutoFit/>
          </a:bodyPr>
          <a:lstStyle/>
          <a:p>
            <a:pPr algn="l" indent="0" marL="0">
              <a:lnSpc>
                <a:spcPct val="112000"/>
              </a:lnSpc>
              <a:buNone/>
            </a:pPr>
            <a:r>
              <a:rPr lang="en-US" sz="1700" dirty="0">
                <a:solidFill>
                  <a:srgbClr val="A7ADB3"/>
                </a:solidFill>
                <a:latin typeface="Arial" pitchFamily="34" charset="0"/>
                <a:ea typeface="Arial" pitchFamily="34" charset="-122"/>
                <a:cs typeface="Arial" pitchFamily="34" charset="-120"/>
              </a:rPr>
              <a:t>Commands and data may cross. Authority must be checked.</a:t>
            </a:r>
            <a:endParaRPr lang="en-US" sz="1700" dirty="0"/>
          </a:p>
        </p:txBody>
      </p:sp>
      <p:sp>
        <p:nvSpPr>
          <p:cNvPr id="27" name="Shape 25"/>
          <p:cNvSpPr/>
          <p:nvPr/>
        </p:nvSpPr>
        <p:spPr>
          <a:xfrm>
            <a:off x="566928" y="5971032"/>
            <a:ext cx="11045952" cy="0"/>
          </a:xfrm>
          <a:prstGeom prst="line">
            <a:avLst/>
          </a:prstGeom>
          <a:noFill/>
          <a:ln w="9525">
            <a:solidFill>
              <a:srgbClr val="3C434B"/>
            </a:solidFill>
            <a:prstDash val="solid"/>
          </a:ln>
        </p:spPr>
      </p:sp>
      <p:sp>
        <p:nvSpPr>
          <p:cNvPr id="28" name="Text 26"/>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Worker-controlled state must remain visible at every trust boundary.</a:t>
            </a:r>
            <a:endParaRPr lang="en-US" sz="1800" dirty="0"/>
          </a:p>
        </p:txBody>
      </p:sp>
      <p:sp>
        <p:nvSpPr>
          <p:cNvPr id="29" name="Text 27"/>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30" name="Text 28"/>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03 / 12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01 / INHERITED CREDENTIALS</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inherited token authorizes another project.</a:t>
            </a:r>
            <a:endParaRPr lang="en-US" sz="3200" dirty="0"/>
          </a:p>
        </p:txBody>
      </p:sp>
      <p:sp>
        <p:nvSpPr>
          <p:cNvPr id="4" name="Shape 2"/>
          <p:cNvSpPr/>
          <p:nvPr/>
        </p:nvSpPr>
        <p:spPr>
          <a:xfrm>
            <a:off x="566928" y="1883664"/>
            <a:ext cx="5486400" cy="3584448"/>
          </a:xfrm>
          <a:prstGeom prst="rect">
            <a:avLst/>
          </a:prstGeom>
          <a:solidFill>
            <a:srgbClr val="1A1F25"/>
          </a:solidFill>
          <a:ln w="12700">
            <a:solidFill>
              <a:srgbClr val="1A1F25"/>
            </a:solidFill>
            <a:prstDash val="solid"/>
          </a:ln>
        </p:spPr>
      </p:sp>
      <p:sp>
        <p:nvSpPr>
          <p:cNvPr id="5" name="Text 3"/>
          <p:cNvSpPr/>
          <p:nvPr/>
        </p:nvSpPr>
        <p:spPr>
          <a:xfrm>
            <a:off x="768096" y="2084832"/>
            <a:ext cx="508406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RUNNER TOKEN / OBSERVED</a:t>
            </a:r>
            <a:endParaRPr lang="en-US" sz="1250" dirty="0"/>
          </a:p>
        </p:txBody>
      </p:sp>
      <p:sp>
        <p:nvSpPr>
          <p:cNvPr id="6" name="Shape 4"/>
          <p:cNvSpPr/>
          <p:nvPr/>
        </p:nvSpPr>
        <p:spPr>
          <a:xfrm>
            <a:off x="6272784" y="1883664"/>
            <a:ext cx="5349240" cy="3584448"/>
          </a:xfrm>
          <a:prstGeom prst="rect">
            <a:avLst/>
          </a:prstGeom>
          <a:solidFill>
            <a:srgbClr val="1A1F25"/>
          </a:solidFill>
          <a:ln w="12700">
            <a:solidFill>
              <a:srgbClr val="1A1F25"/>
            </a:solidFill>
            <a:prstDash val="solid"/>
          </a:ln>
        </p:spPr>
      </p:sp>
      <p:sp>
        <p:nvSpPr>
          <p:cNvPr id="7" name="Text 5"/>
          <p:cNvSpPr/>
          <p:nvPr/>
        </p:nvSpPr>
        <p:spPr>
          <a:xfrm>
            <a:off x="6473952" y="2084832"/>
            <a:ext cx="494690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TASK TOKEN / OBSERVED</a:t>
            </a:r>
            <a:endParaRPr lang="en-US" sz="1250" dirty="0"/>
          </a:p>
        </p:txBody>
      </p:sp>
      <p:sp>
        <p:nvSpPr>
          <p:cNvPr id="8" name="Text 6"/>
          <p:cNvSpPr/>
          <p:nvPr/>
        </p:nvSpPr>
        <p:spPr>
          <a:xfrm>
            <a:off x="804672" y="2688336"/>
            <a:ext cx="5029200" cy="2340864"/>
          </a:xfrm>
          <a:prstGeom prst="rect">
            <a:avLst/>
          </a:prstGeom>
          <a:noFill/>
          <a:ln/>
        </p:spPr>
        <p:txBody>
          <a:bodyPr wrap="square" lIns="0" tIns="0" rIns="0" bIns="0" rtlCol="0" anchor="t">
            <a:spAutoFit/>
          </a:bodyPr>
          <a:lstStyle/>
          <a:p>
            <a:pPr algn="l" indent="0" marL="0">
              <a:lnSpc>
                <a:spcPct val="112000"/>
              </a:lnSpc>
              <a:buNone/>
            </a:pPr>
            <a:r>
              <a:rPr lang="en-US" sz="2100" dirty="0">
                <a:solidFill>
                  <a:srgbClr val="F0F0E8"/>
                </a:solidFill>
                <a:latin typeface="Courier New" pitchFamily="34" charset="0"/>
                <a:ea typeface="Courier New" pitchFamily="34" charset="-122"/>
                <a:cs typeface="Courier New" pitchFamily="34" charset="-120"/>
              </a:rPr>
              <a:t>GET /projects/other/private</a:t>
            </a:r>
            <a:endParaRPr lang="en-US" sz="2100" dirty="0"/>
          </a:p>
          <a:p>
            <a:pPr algn="l" indent="0" marL="0">
              <a:lnSpc>
                <a:spcPct val="112000"/>
              </a:lnSpc>
              <a:buNone/>
            </a:pPr>
            <a:r>
              <a:rPr lang="en-US" sz="2100" dirty="0">
                <a:solidFill>
                  <a:srgbClr val="F0F0E8"/>
                </a:solidFill>
                <a:latin typeface="Courier New" pitchFamily="34" charset="0"/>
                <a:ea typeface="Courier New" pitchFamily="34" charset="-122"/>
                <a:cs typeface="Courier New" pitchFamily="34" charset="-120"/>
              </a:rPr>
              <a:t>200  SYNTHETIC-PRIVATE-FIXTURE</a:t>
            </a:r>
            <a:endParaRPr lang="en-US" sz="2100" dirty="0"/>
          </a:p>
        </p:txBody>
      </p:sp>
      <p:sp>
        <p:nvSpPr>
          <p:cNvPr id="9" name="Text 7"/>
          <p:cNvSpPr/>
          <p:nvPr/>
        </p:nvSpPr>
        <p:spPr>
          <a:xfrm>
            <a:off x="6510528" y="2633472"/>
            <a:ext cx="4882896" cy="2423160"/>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Other project       403</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Own task input      200</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Expired token       403</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Wrong audience      403</a:t>
            </a:r>
            <a:endParaRPr lang="en-US" sz="2000" dirty="0"/>
          </a:p>
        </p:txBody>
      </p:sp>
      <p:sp>
        <p:nvSpPr>
          <p:cNvPr id="10" name="Shape 8"/>
          <p:cNvSpPr/>
          <p:nvPr/>
        </p:nvSpPr>
        <p:spPr>
          <a:xfrm>
            <a:off x="566928" y="5971032"/>
            <a:ext cx="11045952" cy="0"/>
          </a:xfrm>
          <a:prstGeom prst="line">
            <a:avLst/>
          </a:prstGeom>
          <a:noFill/>
          <a:ln w="9525">
            <a:solidFill>
              <a:srgbClr val="3C434B"/>
            </a:solidFill>
            <a:prstDash val="solid"/>
          </a:ln>
        </p:spPr>
      </p:sp>
      <p:sp>
        <p:nvSpPr>
          <p:cNvPr id="11" name="Text 9"/>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The service enforces task scope, audience and expiry.</a:t>
            </a:r>
            <a:endParaRPr lang="en-US" sz="1800" dirty="0"/>
          </a:p>
        </p:txBody>
      </p:sp>
      <p:sp>
        <p:nvSpPr>
          <p:cNvPr id="12" name="Text 10"/>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3" name="Text 11"/>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04 / 12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02 / DANGEROUS MOUNTS</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writable mount changes the next job.</a:t>
            </a:r>
            <a:endParaRPr lang="en-US" sz="3200" dirty="0"/>
          </a:p>
        </p:txBody>
      </p:sp>
      <p:sp>
        <p:nvSpPr>
          <p:cNvPr id="4" name="Shape 2"/>
          <p:cNvSpPr/>
          <p:nvPr/>
        </p:nvSpPr>
        <p:spPr>
          <a:xfrm>
            <a:off x="566928" y="1883664"/>
            <a:ext cx="5486400" cy="3584448"/>
          </a:xfrm>
          <a:prstGeom prst="rect">
            <a:avLst/>
          </a:prstGeom>
          <a:solidFill>
            <a:srgbClr val="1A1F25"/>
          </a:solidFill>
          <a:ln w="12700">
            <a:solidFill>
              <a:srgbClr val="1A1F25"/>
            </a:solidFill>
            <a:prstDash val="solid"/>
          </a:ln>
        </p:spPr>
      </p:sp>
      <p:sp>
        <p:nvSpPr>
          <p:cNvPr id="5" name="Text 3"/>
          <p:cNvSpPr/>
          <p:nvPr/>
        </p:nvSpPr>
        <p:spPr>
          <a:xfrm>
            <a:off x="768096" y="2084832"/>
            <a:ext cx="508406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PAYLOAD</a:t>
            </a:r>
            <a:endParaRPr lang="en-US" sz="1250" dirty="0"/>
          </a:p>
        </p:txBody>
      </p:sp>
      <p:sp>
        <p:nvSpPr>
          <p:cNvPr id="6" name="Shape 4"/>
          <p:cNvSpPr/>
          <p:nvPr/>
        </p:nvSpPr>
        <p:spPr>
          <a:xfrm>
            <a:off x="6272784" y="1883664"/>
            <a:ext cx="5349240" cy="3584448"/>
          </a:xfrm>
          <a:prstGeom prst="rect">
            <a:avLst/>
          </a:prstGeom>
          <a:solidFill>
            <a:srgbClr val="1A1F25"/>
          </a:solidFill>
          <a:ln w="12700">
            <a:solidFill>
              <a:srgbClr val="1A1F25"/>
            </a:solidFill>
            <a:prstDash val="solid"/>
          </a:ln>
        </p:spPr>
      </p:sp>
      <p:sp>
        <p:nvSpPr>
          <p:cNvPr id="7" name="Text 5"/>
          <p:cNvSpPr/>
          <p:nvPr/>
        </p:nvSpPr>
        <p:spPr>
          <a:xfrm>
            <a:off x="6473952" y="2084832"/>
            <a:ext cx="494690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SAME WRITE / OBSERVED</a:t>
            </a:r>
            <a:endParaRPr lang="en-US" sz="1250" dirty="0"/>
          </a:p>
        </p:txBody>
      </p:sp>
      <p:sp>
        <p:nvSpPr>
          <p:cNvPr id="8" name="Text 6"/>
          <p:cNvSpPr/>
          <p:nvPr/>
        </p:nvSpPr>
        <p:spPr>
          <a:xfrm>
            <a:off x="804672" y="2688336"/>
            <a:ext cx="5029200" cy="2340864"/>
          </a:xfrm>
          <a:prstGeom prst="rect">
            <a:avLst/>
          </a:prstGeom>
          <a:noFill/>
          <a:ln/>
        </p:spPr>
        <p:txBody>
          <a:bodyPr wrap="square" lIns="0" tIns="0" rIns="0" bIns="0" rtlCol="0" anchor="t">
            <a:spAutoFit/>
          </a:bodyPr>
          <a:lstStyle/>
          <a:p>
            <a:pPr algn="l" indent="0" marL="0">
              <a:lnSpc>
                <a:spcPct val="112000"/>
              </a:lnSpc>
              <a:buNone/>
            </a:pPr>
            <a:r>
              <a:rPr lang="en-US" sz="1755" dirty="0">
                <a:solidFill>
                  <a:srgbClr val="F0F0E8"/>
                </a:solidFill>
                <a:latin typeface="Courier New" pitchFamily="34" charset="0"/>
                <a:ea typeface="Courier New" pitchFamily="34" charset="-122"/>
                <a:cs typeface="Courier New" pitchFamily="34" charset="-120"/>
              </a:rPr>
              <a:t>Path("/shared/next-job.json")</a:t>
            </a:r>
            <a:endParaRPr lang="en-US" sz="1755" dirty="0"/>
          </a:p>
          <a:p>
            <a:pPr algn="l" indent="0" marL="0">
              <a:lnSpc>
                <a:spcPct val="112000"/>
              </a:lnSpc>
              <a:buNone/>
            </a:pPr>
            <a:r>
              <a:rPr lang="en-US" sz="1755" dirty="0">
                <a:solidFill>
                  <a:srgbClr val="F0F0E8"/>
                </a:solidFill>
                <a:latin typeface="Courier New" pitchFamily="34" charset="0"/>
                <a:ea typeface="Courier New" pitchFamily="34" charset="-122"/>
                <a:cs typeface="Courier New" pitchFamily="34" charset="-120"/>
              </a:rPr>
              <a:t>  .write_text('{"queue":"attacker"}')</a:t>
            </a:r>
            <a:endParaRPr lang="en-US" sz="1755" dirty="0"/>
          </a:p>
        </p:txBody>
      </p:sp>
      <p:sp>
        <p:nvSpPr>
          <p:cNvPr id="9" name="Text 7"/>
          <p:cNvSpPr/>
          <p:nvPr/>
        </p:nvSpPr>
        <p:spPr>
          <a:xfrm>
            <a:off x="6510528" y="2633472"/>
            <a:ext cx="4882896" cy="2423160"/>
          </a:xfrm>
          <a:prstGeom prst="rect">
            <a:avLst/>
          </a:prstGeom>
          <a:noFill/>
          <a:ln/>
        </p:spPr>
        <p:txBody>
          <a:bodyPr wrap="square" lIns="0" tIns="0" rIns="0" bIns="0" rtlCol="0" anchor="t">
            <a:spAutoFit/>
          </a:bodyPr>
          <a:lstStyle/>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Writable bind   HOST CHANGED</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Read-only bind  WRITE DENIED</a:t>
            </a:r>
            <a:endParaRPr lang="en-US" sz="2000" dirty="0"/>
          </a:p>
          <a:p>
            <a:pPr algn="l" indent="0" marL="0">
              <a:lnSpc>
                <a:spcPct val="112000"/>
              </a:lnSpc>
              <a:buNone/>
            </a:pPr>
            <a:r>
              <a:rPr lang="en-US" sz="2000" dirty="0">
                <a:solidFill>
                  <a:srgbClr val="F0F0E8"/>
                </a:solidFill>
                <a:latin typeface="Courier New" pitchFamily="34" charset="0"/>
                <a:ea typeface="Courier New" pitchFamily="34" charset="-122"/>
                <a:cs typeface="Courier New" pitchFamily="34" charset="-120"/>
              </a:rPr>
              <a:t>Output path     WRITE SUCCEEDS</a:t>
            </a:r>
            <a:endParaRPr lang="en-US" sz="2000" dirty="0"/>
          </a:p>
        </p:txBody>
      </p:sp>
      <p:sp>
        <p:nvSpPr>
          <p:cNvPr id="10" name="Shape 8"/>
          <p:cNvSpPr/>
          <p:nvPr/>
        </p:nvSpPr>
        <p:spPr>
          <a:xfrm>
            <a:off x="566928" y="5971032"/>
            <a:ext cx="11045952" cy="0"/>
          </a:xfrm>
          <a:prstGeom prst="line">
            <a:avLst/>
          </a:prstGeom>
          <a:noFill/>
          <a:ln w="9525">
            <a:solidFill>
              <a:srgbClr val="3C434B"/>
            </a:solidFill>
            <a:prstDash val="solid"/>
          </a:ln>
        </p:spPr>
      </p:sp>
      <p:sp>
        <p:nvSpPr>
          <p:cNvPr id="11" name="Text 9"/>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Read-only inputs and explicit outputs preserve the legitimate job.</a:t>
            </a:r>
            <a:endParaRPr lang="en-US" sz="1800" dirty="0"/>
          </a:p>
        </p:txBody>
      </p:sp>
      <p:sp>
        <p:nvSpPr>
          <p:cNvPr id="12" name="Text 10"/>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3" name="Text 11"/>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05 / 12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03 / EXFILTRATION THROUGH AN ALLOWED ENDPOINT</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allowed service accepts an unintended destination.</a:t>
            </a:r>
            <a:endParaRPr lang="en-US" sz="3200" dirty="0"/>
          </a:p>
        </p:txBody>
      </p:sp>
      <p:sp>
        <p:nvSpPr>
          <p:cNvPr id="4" name="Shape 2"/>
          <p:cNvSpPr/>
          <p:nvPr/>
        </p:nvSpPr>
        <p:spPr>
          <a:xfrm>
            <a:off x="566928" y="1883664"/>
            <a:ext cx="5486400" cy="3584448"/>
          </a:xfrm>
          <a:prstGeom prst="rect">
            <a:avLst/>
          </a:prstGeom>
          <a:solidFill>
            <a:srgbClr val="1A1F25"/>
          </a:solidFill>
          <a:ln w="12700">
            <a:solidFill>
              <a:srgbClr val="1A1F25"/>
            </a:solidFill>
            <a:prstDash val="solid"/>
          </a:ln>
        </p:spPr>
      </p:sp>
      <p:sp>
        <p:nvSpPr>
          <p:cNvPr id="5" name="Text 3"/>
          <p:cNvSpPr/>
          <p:nvPr/>
        </p:nvSpPr>
        <p:spPr>
          <a:xfrm>
            <a:off x="768096" y="2084832"/>
            <a:ext cx="508406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PERMITTED SERVICE / OBSERVED</a:t>
            </a:r>
            <a:endParaRPr lang="en-US" sz="1250" dirty="0"/>
          </a:p>
        </p:txBody>
      </p:sp>
      <p:sp>
        <p:nvSpPr>
          <p:cNvPr id="6" name="Shape 4"/>
          <p:cNvSpPr/>
          <p:nvPr/>
        </p:nvSpPr>
        <p:spPr>
          <a:xfrm>
            <a:off x="6272784" y="1883664"/>
            <a:ext cx="5349240" cy="3584448"/>
          </a:xfrm>
          <a:prstGeom prst="rect">
            <a:avLst/>
          </a:prstGeom>
          <a:solidFill>
            <a:srgbClr val="1A1F25"/>
          </a:solidFill>
          <a:ln w="12700">
            <a:solidFill>
              <a:srgbClr val="1A1F25"/>
            </a:solidFill>
            <a:prstDash val="solid"/>
          </a:ln>
        </p:spPr>
      </p:sp>
      <p:sp>
        <p:nvSpPr>
          <p:cNvPr id="7" name="Text 5"/>
          <p:cNvSpPr/>
          <p:nvPr/>
        </p:nvSpPr>
        <p:spPr>
          <a:xfrm>
            <a:off x="6473952" y="2084832"/>
            <a:ext cx="494690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RESTRICTED OPERATION</a:t>
            </a:r>
            <a:endParaRPr lang="en-US" sz="1250" dirty="0"/>
          </a:p>
        </p:txBody>
      </p:sp>
      <p:sp>
        <p:nvSpPr>
          <p:cNvPr id="8" name="Text 6"/>
          <p:cNvSpPr/>
          <p:nvPr/>
        </p:nvSpPr>
        <p:spPr>
          <a:xfrm>
            <a:off x="804672" y="2688336"/>
            <a:ext cx="5029200" cy="2340864"/>
          </a:xfrm>
          <a:prstGeom prst="rect">
            <a:avLst/>
          </a:prstGeom>
          <a:noFill/>
          <a:ln/>
        </p:spPr>
        <p:txBody>
          <a:bodyPr wrap="square" lIns="0" tIns="0" rIns="0" bIns="0" rtlCol="0" anchor="t">
            <a:spAutoFit/>
          </a:bodyPr>
          <a:lstStyle/>
          <a:p>
            <a:pPr algn="l" indent="0" marL="0">
              <a:lnSpc>
                <a:spcPct val="112000"/>
              </a:lnSpc>
              <a:buNone/>
            </a:pPr>
            <a:r>
              <a:rPr lang="en-US" sz="1803" dirty="0">
                <a:solidFill>
                  <a:srgbClr val="F0F0E8"/>
                </a:solidFill>
                <a:latin typeface="Courier New" pitchFamily="34" charset="0"/>
                <a:ea typeface="Courier New" pitchFamily="34" charset="-122"/>
                <a:cs typeface="Courier New" pitchFamily="34" charset="-120"/>
              </a:rPr>
              <a:t>POST /accounts/other/uploads</a:t>
            </a:r>
            <a:endParaRPr lang="en-US" sz="1803" dirty="0"/>
          </a:p>
          <a:p>
            <a:pPr algn="l" indent="0" marL="0">
              <a:lnSpc>
                <a:spcPct val="112000"/>
              </a:lnSpc>
              <a:buNone/>
            </a:pPr>
            <a:r>
              <a:rPr lang="en-US" sz="1803" dirty="0">
                <a:solidFill>
                  <a:srgbClr val="F0F0E8"/>
                </a:solidFill>
                <a:latin typeface="Courier New" pitchFamily="34" charset="0"/>
                <a:ea typeface="Courier New" pitchFamily="34" charset="-122"/>
                <a:cs typeface="Courier New" pitchFamily="34" charset="-120"/>
              </a:rPr>
              <a:t>{"data":"SYNTHETIC-PRIVATE-FIXTURE"}</a:t>
            </a:r>
            <a:endParaRPr lang="en-US" sz="1803" dirty="0"/>
          </a:p>
          <a:p>
            <a:pPr algn="l" indent="0" marL="0">
              <a:lnSpc>
                <a:spcPct val="112000"/>
              </a:lnSpc>
              <a:buNone/>
            </a:pPr>
            <a:r>
              <a:rPr lang="en-US" sz="1803" dirty="0">
                <a:solidFill>
                  <a:srgbClr val="F0F0E8"/>
                </a:solidFill>
                <a:latin typeface="Courier New" pitchFamily="34" charset="0"/>
                <a:ea typeface="Courier New" pitchFamily="34" charset="-122"/>
                <a:cs typeface="Courier New" pitchFamily="34" charset="-120"/>
              </a:rPr>
              <a:t>201  STORED</a:t>
            </a:r>
            <a:endParaRPr lang="en-US" sz="1803" dirty="0"/>
          </a:p>
        </p:txBody>
      </p:sp>
      <p:sp>
        <p:nvSpPr>
          <p:cNvPr id="9" name="Text 7"/>
          <p:cNvSpPr/>
          <p:nvPr/>
        </p:nvSpPr>
        <p:spPr>
          <a:xfrm>
            <a:off x="6510528" y="2633472"/>
            <a:ext cx="4882896" cy="2423160"/>
          </a:xfrm>
          <a:prstGeom prst="rect">
            <a:avLst/>
          </a:prstGeom>
          <a:noFill/>
          <a:ln/>
        </p:spPr>
        <p:txBody>
          <a:bodyPr wrap="square" lIns="0" tIns="0" rIns="0" bIns="0" rtlCol="0" anchor="t">
            <a:spAutoFit/>
          </a:bodyPr>
          <a:lstStyle/>
          <a:p>
            <a:pPr algn="l" indent="0" marL="0">
              <a:lnSpc>
                <a:spcPct val="112000"/>
              </a:lnSpc>
              <a:buNone/>
            </a:pPr>
            <a:r>
              <a:rPr lang="en-US" sz="1854" dirty="0">
                <a:solidFill>
                  <a:srgbClr val="F0F0E8"/>
                </a:solidFill>
                <a:latin typeface="Courier New" pitchFamily="34" charset="0"/>
                <a:ea typeface="Courier New" pitchFamily="34" charset="-122"/>
                <a:cs typeface="Courier New" pitchFamily="34" charset="-120"/>
              </a:rPr>
              <a:t>publish_report(task="parser-fix")</a:t>
            </a:r>
            <a:endParaRPr lang="en-US" sz="1854" dirty="0"/>
          </a:p>
          <a:p>
            <a:pPr algn="l" indent="0" marL="0">
              <a:lnSpc>
                <a:spcPct val="112000"/>
              </a:lnSpc>
              <a:buNone/>
            </a:pPr>
            <a:r>
              <a:rPr lang="en-US" sz="1854" dirty="0">
                <a:solidFill>
                  <a:srgbClr val="F0F0E8"/>
                </a:solidFill>
                <a:latin typeface="Courier New" pitchFamily="34" charset="0"/>
                <a:ea typeface="Courier New" pitchFamily="34" charset="-122"/>
                <a:cs typeface="Courier New" pitchFamily="34" charset="-120"/>
              </a:rPr>
              <a:t>Extra recipient/body/URL: DENIED</a:t>
            </a:r>
            <a:endParaRPr lang="en-US" sz="1854" dirty="0"/>
          </a:p>
          <a:p>
            <a:pPr algn="l" indent="0" marL="0">
              <a:lnSpc>
                <a:spcPct val="112000"/>
              </a:lnSpc>
              <a:buNone/>
            </a:pPr>
            <a:r>
              <a:rPr lang="en-US" sz="1854" dirty="0">
                <a:solidFill>
                  <a:srgbClr val="F0F0E8"/>
                </a:solidFill>
                <a:latin typeface="Courier New" pitchFamily="34" charset="0"/>
                <a:ea typeface="Courier New" pitchFamily="34" charset="-122"/>
                <a:cs typeface="Courier New" pitchFamily="34" charset="-120"/>
              </a:rPr>
              <a:t>Direct loopback route: UNREACHABLE</a:t>
            </a:r>
            <a:endParaRPr lang="en-US" sz="1854" dirty="0"/>
          </a:p>
          <a:p>
            <a:pPr algn="l" indent="0" marL="0">
              <a:lnSpc>
                <a:spcPct val="112000"/>
              </a:lnSpc>
              <a:buNone/>
            </a:pPr>
            <a:r>
              <a:rPr lang="en-US" sz="1854" dirty="0">
                <a:solidFill>
                  <a:srgbClr val="F0F0E8"/>
                </a:solidFill>
                <a:latin typeface="Courier New" pitchFamily="34" charset="0"/>
                <a:ea typeface="Courier New" pitchFamily="34" charset="-122"/>
                <a:cs typeface="Courier New" pitchFamily="34" charset="-120"/>
              </a:rPr>
              <a:t>Fixed team report: DELIVERED</a:t>
            </a:r>
            <a:endParaRPr lang="en-US" sz="1854" dirty="0"/>
          </a:p>
        </p:txBody>
      </p:sp>
      <p:sp>
        <p:nvSpPr>
          <p:cNvPr id="10" name="Shape 8"/>
          <p:cNvSpPr/>
          <p:nvPr/>
        </p:nvSpPr>
        <p:spPr>
          <a:xfrm>
            <a:off x="566928" y="5971032"/>
            <a:ext cx="11045952" cy="0"/>
          </a:xfrm>
          <a:prstGeom prst="line">
            <a:avLst/>
          </a:prstGeom>
          <a:noFill/>
          <a:ln w="9525">
            <a:solidFill>
              <a:srgbClr val="3C434B"/>
            </a:solidFill>
            <a:prstDash val="solid"/>
          </a:ln>
        </p:spPr>
      </p:sp>
      <p:sp>
        <p:nvSpPr>
          <p:cNvPr id="11" name="Text 9"/>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The broker owns destination and body; the worker cannot bypass it.</a:t>
            </a:r>
            <a:endParaRPr lang="en-US" sz="1800" dirty="0"/>
          </a:p>
        </p:txBody>
      </p:sp>
      <p:sp>
        <p:nvSpPr>
          <p:cNvPr id="12" name="Text 10"/>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3" name="Text 11"/>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06 / 12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04 / VERIFIER TAMPERING</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The worker changed the answers the checker trusted.</a:t>
            </a:r>
            <a:endParaRPr lang="en-US" sz="3200" dirty="0"/>
          </a:p>
        </p:txBody>
      </p:sp>
      <p:sp>
        <p:nvSpPr>
          <p:cNvPr id="4" name="Shape 2"/>
          <p:cNvSpPr/>
          <p:nvPr/>
        </p:nvSpPr>
        <p:spPr>
          <a:xfrm>
            <a:off x="566928" y="1883664"/>
            <a:ext cx="5989320" cy="3584448"/>
          </a:xfrm>
          <a:prstGeom prst="rect">
            <a:avLst/>
          </a:prstGeom>
          <a:solidFill>
            <a:srgbClr val="1A1F25"/>
          </a:solidFill>
          <a:ln w="12700">
            <a:solidFill>
              <a:srgbClr val="1A1F25"/>
            </a:solidFill>
            <a:prstDash val="solid"/>
          </a:ln>
        </p:spPr>
      </p:sp>
      <p:sp>
        <p:nvSpPr>
          <p:cNvPr id="5" name="Text 3"/>
          <p:cNvSpPr/>
          <p:nvPr/>
        </p:nvSpPr>
        <p:spPr>
          <a:xfrm>
            <a:off x="768096" y="2084832"/>
            <a:ext cx="5586984"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UNCHANGED checker.py / EXCERPT</a:t>
            </a:r>
            <a:endParaRPr lang="en-US" sz="1250" dirty="0"/>
          </a:p>
        </p:txBody>
      </p:sp>
      <p:sp>
        <p:nvSpPr>
          <p:cNvPr id="6" name="Shape 4"/>
          <p:cNvSpPr/>
          <p:nvPr/>
        </p:nvSpPr>
        <p:spPr>
          <a:xfrm>
            <a:off x="6766560" y="1883664"/>
            <a:ext cx="4855464" cy="3584448"/>
          </a:xfrm>
          <a:prstGeom prst="rect">
            <a:avLst/>
          </a:prstGeom>
          <a:solidFill>
            <a:srgbClr val="1A1F25"/>
          </a:solidFill>
          <a:ln w="12700">
            <a:solidFill>
              <a:srgbClr val="1A1F25"/>
            </a:solidFill>
            <a:prstDash val="solid"/>
          </a:ln>
        </p:spPr>
      </p:sp>
      <p:sp>
        <p:nvSpPr>
          <p:cNvPr id="7" name="Text 5"/>
          <p:cNvSpPr/>
          <p:nvPr/>
        </p:nvSpPr>
        <p:spPr>
          <a:xfrm>
            <a:off x="6967728" y="2084832"/>
            <a:ext cx="4453128"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WORKER-WRITTEN expected.json</a:t>
            </a:r>
            <a:endParaRPr lang="en-US" sz="1250" dirty="0"/>
          </a:p>
        </p:txBody>
      </p:sp>
      <p:sp>
        <p:nvSpPr>
          <p:cNvPr id="8" name="Text 6"/>
          <p:cNvSpPr/>
          <p:nvPr/>
        </p:nvSpPr>
        <p:spPr>
          <a:xfrm>
            <a:off x="804672" y="2697480"/>
            <a:ext cx="5522976" cy="2423160"/>
          </a:xfrm>
          <a:prstGeom prst="rect">
            <a:avLst/>
          </a:prstGeom>
          <a:noFill/>
          <a:ln/>
        </p:spPr>
        <p:txBody>
          <a:bodyPr wrap="square" lIns="0" tIns="0" rIns="0" bIns="0" rtlCol="0" anchor="t">
            <a:spAutoFit/>
          </a:bodyPr>
          <a:lstStyle/>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expected = json.loads(</a:t>
            </a:r>
            <a:endParaRPr lang="en-US" sz="1739" dirty="0"/>
          </a:p>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    Path("expected.json").read_text())</a:t>
            </a:r>
            <a:endParaRPr lang="en-US" sz="1739" dirty="0"/>
          </a:p>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for case in expected:</a:t>
            </a:r>
            <a:endParaRPr lang="en-US" sz="1739" dirty="0"/>
          </a:p>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    # ... execute candidate ...</a:t>
            </a:r>
            <a:endParaRPr lang="en-US" sz="1739" dirty="0"/>
          </a:p>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    if json.loads(out) != case["output"]:</a:t>
            </a:r>
            <a:endParaRPr lang="en-US" sz="1739" dirty="0"/>
          </a:p>
          <a:p>
            <a:pPr algn="l" indent="0" marL="0">
              <a:lnSpc>
                <a:spcPct val="112000"/>
              </a:lnSpc>
              <a:buNone/>
            </a:pPr>
            <a:r>
              <a:rPr lang="en-US" sz="1739" dirty="0">
                <a:solidFill>
                  <a:srgbClr val="F0F0E8"/>
                </a:solidFill>
                <a:latin typeface="Courier New" pitchFamily="34" charset="0"/>
                <a:ea typeface="Courier New" pitchFamily="34" charset="-122"/>
                <a:cs typeface="Courier New" pitchFamily="34" charset="-120"/>
              </a:rPr>
              <a:t>        ok = False</a:t>
            </a:r>
            <a:endParaRPr lang="en-US" sz="1739" dirty="0"/>
          </a:p>
        </p:txBody>
      </p:sp>
      <p:sp>
        <p:nvSpPr>
          <p:cNvPr id="9" name="Text 7"/>
          <p:cNvSpPr/>
          <p:nvPr/>
        </p:nvSpPr>
        <p:spPr>
          <a:xfrm>
            <a:off x="7004304" y="2679192"/>
            <a:ext cx="4361688" cy="1188720"/>
          </a:xfrm>
          <a:prstGeom prst="rect">
            <a:avLst/>
          </a:prstGeom>
          <a:noFill/>
          <a:ln/>
        </p:spPr>
        <p:txBody>
          <a:bodyPr wrap="square" lIns="0" tIns="0" rIns="0" bIns="0" rtlCol="0" anchor="t">
            <a:spAutoFit/>
          </a:bodyPr>
          <a:lstStyle/>
          <a:p>
            <a:pPr algn="l" indent="0" marL="0">
              <a:lnSpc>
                <a:spcPct val="112000"/>
              </a:lnSpc>
              <a:buNone/>
            </a:pPr>
            <a:r>
              <a:rPr lang="en-US" sz="2100" dirty="0">
                <a:solidFill>
                  <a:srgbClr val="F0F0E8"/>
                </a:solidFill>
                <a:latin typeface="Courier New" pitchFamily="34" charset="0"/>
                <a:ea typeface="Courier New" pitchFamily="34" charset="-122"/>
                <a:cs typeface="Courier New" pitchFamily="34" charset="-120"/>
              </a:rPr>
              <a:t>{"input":"admin:none",</a:t>
            </a:r>
            <a:endParaRPr lang="en-US" sz="2100" dirty="0"/>
          </a:p>
          <a:p>
            <a:pPr algn="l" indent="0" marL="0">
              <a:lnSpc>
                <a:spcPct val="112000"/>
              </a:lnSpc>
              <a:buNone/>
            </a:pPr>
            <a:r>
              <a:rPr lang="en-US" sz="2100" dirty="0">
                <a:solidFill>
                  <a:srgbClr val="F0F0E8"/>
                </a:solidFill>
                <a:latin typeface="Courier New" pitchFamily="34" charset="0"/>
                <a:ea typeface="Courier New" pitchFamily="34" charset="-122"/>
                <a:cs typeface="Courier New" pitchFamily="34" charset="-120"/>
              </a:rPr>
              <a:t> "output":200}</a:t>
            </a:r>
            <a:endParaRPr lang="en-US" sz="2100" dirty="0"/>
          </a:p>
        </p:txBody>
      </p:sp>
      <p:sp>
        <p:nvSpPr>
          <p:cNvPr id="10" name="Text 8"/>
          <p:cNvSpPr/>
          <p:nvPr/>
        </p:nvSpPr>
        <p:spPr>
          <a:xfrm>
            <a:off x="7004304" y="3968496"/>
            <a:ext cx="4361688" cy="822960"/>
          </a:xfrm>
          <a:prstGeom prst="rect">
            <a:avLst/>
          </a:prstGeom>
          <a:noFill/>
          <a:ln/>
        </p:spPr>
        <p:txBody>
          <a:bodyPr wrap="square" lIns="0" tIns="0" rIns="0" bIns="0" rtlCol="0" anchor="t">
            <a:spAutoFit/>
          </a:bodyPr>
          <a:lstStyle/>
          <a:p>
            <a:pPr algn="l" indent="0" marL="0">
              <a:lnSpc>
                <a:spcPct val="112000"/>
              </a:lnSpc>
              <a:buNone/>
            </a:pPr>
            <a:r>
              <a:rPr lang="en-US" sz="4500" b="1" dirty="0">
                <a:solidFill>
                  <a:srgbClr val="C7FF48"/>
                </a:solidFill>
                <a:latin typeface="Courier New" pitchFamily="34" charset="0"/>
                <a:ea typeface="Courier New" pitchFamily="34" charset="-122"/>
                <a:cs typeface="Courier New" pitchFamily="34" charset="-120"/>
              </a:rPr>
              <a:t>PASS</a:t>
            </a:r>
            <a:endParaRPr lang="en-US" sz="4500" dirty="0"/>
          </a:p>
        </p:txBody>
      </p:sp>
      <p:sp>
        <p:nvSpPr>
          <p:cNvPr id="11" name="Text 9"/>
          <p:cNvSpPr/>
          <p:nvPr/>
        </p:nvSpPr>
        <p:spPr>
          <a:xfrm>
            <a:off x="7013448" y="4937760"/>
            <a:ext cx="4242816" cy="365760"/>
          </a:xfrm>
          <a:prstGeom prst="rect">
            <a:avLst/>
          </a:prstGeom>
          <a:noFill/>
          <a:ln/>
        </p:spPr>
        <p:txBody>
          <a:bodyPr wrap="square" lIns="0" tIns="0" rIns="0" bIns="0" rtlCol="0" anchor="t">
            <a:spAutoFit/>
          </a:bodyPr>
          <a:lstStyle/>
          <a:p>
            <a:pPr algn="l" indent="0" marL="0">
              <a:lnSpc>
                <a:spcPct val="112000"/>
              </a:lnSpc>
              <a:buNone/>
            </a:pPr>
            <a:r>
              <a:rPr lang="en-US" sz="1700" b="1" dirty="0">
                <a:solidFill>
                  <a:srgbClr val="FF756B"/>
                </a:solidFill>
                <a:latin typeface="Arial" pitchFamily="34" charset="0"/>
                <a:ea typeface="Arial" pitchFamily="34" charset="-122"/>
                <a:cs typeface="Arial" pitchFamily="34" charset="-120"/>
              </a:rPr>
              <a:t>Independent policy: REJECT</a:t>
            </a:r>
            <a:endParaRPr lang="en-US" sz="1700" dirty="0"/>
          </a:p>
        </p:txBody>
      </p:sp>
      <p:sp>
        <p:nvSpPr>
          <p:cNvPr id="12" name="Shape 10"/>
          <p:cNvSpPr/>
          <p:nvPr/>
        </p:nvSpPr>
        <p:spPr>
          <a:xfrm>
            <a:off x="566928" y="5971032"/>
            <a:ext cx="11045952" cy="0"/>
          </a:xfrm>
          <a:prstGeom prst="line">
            <a:avLst/>
          </a:prstGeom>
          <a:noFill/>
          <a:ln w="9525">
            <a:solidFill>
              <a:srgbClr val="3C434B"/>
            </a:solidFill>
            <a:prstDash val="solid"/>
          </a:ln>
        </p:spPr>
      </p:sp>
      <p:sp>
        <p:nvSpPr>
          <p:cNvPr id="13" name="Text 11"/>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The acceptance boundary includes every input that can change the verdict.</a:t>
            </a:r>
            <a:endParaRPr lang="en-US" sz="1800" dirty="0"/>
          </a:p>
        </p:txBody>
      </p:sp>
      <p:sp>
        <p:nvSpPr>
          <p:cNvPr id="14" name="Text 12"/>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5" name="Text 13"/>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07 / 12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THE REFERENCE ACCEPTANCE PATH</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Bind the decision to the bytes that are released.</a:t>
            </a:r>
            <a:endParaRPr lang="en-US" sz="3200" dirty="0"/>
          </a:p>
        </p:txBody>
      </p:sp>
      <p:sp>
        <p:nvSpPr>
          <p:cNvPr id="4" name="Text 2"/>
          <p:cNvSpPr/>
          <p:nvPr/>
        </p:nvSpPr>
        <p:spPr>
          <a:xfrm>
            <a:off x="658368" y="1965960"/>
            <a:ext cx="10972800" cy="365760"/>
          </a:xfrm>
          <a:prstGeom prst="rect">
            <a:avLst/>
          </a:prstGeom>
          <a:noFill/>
          <a:ln/>
        </p:spPr>
        <p:txBody>
          <a:bodyPr wrap="square" lIns="0" tIns="0" rIns="0" bIns="0" rtlCol="0" anchor="t">
            <a:spAutoFit/>
          </a:bodyPr>
          <a:lstStyle/>
          <a:p>
            <a:pPr algn="l" indent="0" marL="0">
              <a:lnSpc>
                <a:spcPct val="112000"/>
              </a:lnSpc>
              <a:buNone/>
            </a:pPr>
            <a:r>
              <a:rPr lang="en-US" sz="1300" b="1" dirty="0">
                <a:solidFill>
                  <a:srgbClr val="C7FF48"/>
                </a:solidFill>
                <a:latin typeface="Arial" pitchFamily="34" charset="0"/>
                <a:ea typeface="Arial" pitchFamily="34" charset="-122"/>
                <a:cs typeface="Arial" pitchFamily="34" charset="-120"/>
              </a:rPr>
              <a:t>TRUSTED CONTROLLER / WORKER CANNOT CHANGE THE CRITERIA</a:t>
            </a:r>
            <a:endParaRPr lang="en-US" sz="1300" dirty="0"/>
          </a:p>
        </p:txBody>
      </p:sp>
      <p:sp>
        <p:nvSpPr>
          <p:cNvPr id="5" name="Shape 3"/>
          <p:cNvSpPr/>
          <p:nvPr/>
        </p:nvSpPr>
        <p:spPr>
          <a:xfrm>
            <a:off x="576072" y="2715768"/>
            <a:ext cx="1984248" cy="1143000"/>
          </a:xfrm>
          <a:prstGeom prst="rect">
            <a:avLst/>
          </a:prstGeom>
          <a:solidFill>
            <a:srgbClr val="1A1F25"/>
          </a:solidFill>
          <a:ln w="8890">
            <a:solidFill>
              <a:srgbClr val="3C434B"/>
            </a:solidFill>
            <a:prstDash val="solid"/>
          </a:ln>
        </p:spPr>
      </p:sp>
      <p:sp>
        <p:nvSpPr>
          <p:cNvPr id="6" name="Text 4"/>
          <p:cNvSpPr/>
          <p:nvPr/>
        </p:nvSpPr>
        <p:spPr>
          <a:xfrm>
            <a:off x="722376" y="2852928"/>
            <a:ext cx="914400" cy="24688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01</a:t>
            </a:r>
            <a:endParaRPr lang="en-US" sz="1200" dirty="0"/>
          </a:p>
        </p:txBody>
      </p:sp>
      <p:sp>
        <p:nvSpPr>
          <p:cNvPr id="7" name="Text 5"/>
          <p:cNvSpPr/>
          <p:nvPr/>
        </p:nvSpPr>
        <p:spPr>
          <a:xfrm>
            <a:off x="722376" y="3182112"/>
            <a:ext cx="1746504" cy="621792"/>
          </a:xfrm>
          <a:prstGeom prst="rect">
            <a:avLst/>
          </a:prstGeom>
          <a:noFill/>
          <a:ln/>
        </p:spPr>
        <p:txBody>
          <a:bodyPr wrap="square" lIns="0" tIns="0" rIns="0" bIns="0" rtlCol="0" anchor="t">
            <a:spAutoFit/>
          </a:bodyPr>
          <a:lstStyle/>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Freeze</a:t>
            </a:r>
            <a:endParaRPr lang="en-US" sz="2000" dirty="0"/>
          </a:p>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bytes</a:t>
            </a:r>
            <a:endParaRPr lang="en-US" sz="2000" dirty="0"/>
          </a:p>
        </p:txBody>
      </p:sp>
      <p:sp>
        <p:nvSpPr>
          <p:cNvPr id="8" name="Text 6"/>
          <p:cNvSpPr/>
          <p:nvPr/>
        </p:nvSpPr>
        <p:spPr>
          <a:xfrm>
            <a:off x="2578608" y="3072384"/>
            <a:ext cx="246888" cy="365760"/>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C7FF48"/>
                </a:solidFill>
                <a:latin typeface="Courier New" pitchFamily="34" charset="0"/>
                <a:ea typeface="Courier New" pitchFamily="34" charset="-122"/>
                <a:cs typeface="Courier New" pitchFamily="34" charset="-120"/>
              </a:rPr>
              <a:t>&gt;</a:t>
            </a:r>
            <a:endParaRPr lang="en-US" sz="1800" dirty="0"/>
          </a:p>
        </p:txBody>
      </p:sp>
      <p:sp>
        <p:nvSpPr>
          <p:cNvPr id="9" name="Shape 7"/>
          <p:cNvSpPr/>
          <p:nvPr/>
        </p:nvSpPr>
        <p:spPr>
          <a:xfrm>
            <a:off x="2825496" y="2715768"/>
            <a:ext cx="1984248" cy="1143000"/>
          </a:xfrm>
          <a:prstGeom prst="rect">
            <a:avLst/>
          </a:prstGeom>
          <a:solidFill>
            <a:srgbClr val="1A1F25"/>
          </a:solidFill>
          <a:ln w="8890">
            <a:solidFill>
              <a:srgbClr val="3C434B"/>
            </a:solidFill>
            <a:prstDash val="solid"/>
          </a:ln>
        </p:spPr>
      </p:sp>
      <p:sp>
        <p:nvSpPr>
          <p:cNvPr id="10" name="Text 8"/>
          <p:cNvSpPr/>
          <p:nvPr/>
        </p:nvSpPr>
        <p:spPr>
          <a:xfrm>
            <a:off x="2971800" y="2852928"/>
            <a:ext cx="914400" cy="24688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02</a:t>
            </a:r>
            <a:endParaRPr lang="en-US" sz="1200" dirty="0"/>
          </a:p>
        </p:txBody>
      </p:sp>
      <p:sp>
        <p:nvSpPr>
          <p:cNvPr id="11" name="Text 9"/>
          <p:cNvSpPr/>
          <p:nvPr/>
        </p:nvSpPr>
        <p:spPr>
          <a:xfrm>
            <a:off x="2971800" y="3182112"/>
            <a:ext cx="1746504" cy="621792"/>
          </a:xfrm>
          <a:prstGeom prst="rect">
            <a:avLst/>
          </a:prstGeom>
          <a:noFill/>
          <a:ln/>
        </p:spPr>
        <p:txBody>
          <a:bodyPr wrap="square" lIns="0" tIns="0" rIns="0" bIns="0" rtlCol="0" anchor="t">
            <a:spAutoFit/>
          </a:bodyPr>
          <a:lstStyle/>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Run</a:t>
            </a:r>
            <a:endParaRPr lang="en-US" sz="2000" dirty="0"/>
          </a:p>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candidate</a:t>
            </a:r>
            <a:endParaRPr lang="en-US" sz="2000" dirty="0"/>
          </a:p>
        </p:txBody>
      </p:sp>
      <p:sp>
        <p:nvSpPr>
          <p:cNvPr id="12" name="Text 10"/>
          <p:cNvSpPr/>
          <p:nvPr/>
        </p:nvSpPr>
        <p:spPr>
          <a:xfrm>
            <a:off x="4828032" y="3072384"/>
            <a:ext cx="246888" cy="365760"/>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C7FF48"/>
                </a:solidFill>
                <a:latin typeface="Courier New" pitchFamily="34" charset="0"/>
                <a:ea typeface="Courier New" pitchFamily="34" charset="-122"/>
                <a:cs typeface="Courier New" pitchFamily="34" charset="-120"/>
              </a:rPr>
              <a:t>&gt;</a:t>
            </a:r>
            <a:endParaRPr lang="en-US" sz="1800" dirty="0"/>
          </a:p>
        </p:txBody>
      </p:sp>
      <p:sp>
        <p:nvSpPr>
          <p:cNvPr id="13" name="Shape 11"/>
          <p:cNvSpPr/>
          <p:nvPr/>
        </p:nvSpPr>
        <p:spPr>
          <a:xfrm>
            <a:off x="5074920" y="2715768"/>
            <a:ext cx="1984248" cy="1143000"/>
          </a:xfrm>
          <a:prstGeom prst="rect">
            <a:avLst/>
          </a:prstGeom>
          <a:solidFill>
            <a:srgbClr val="1A1F25"/>
          </a:solidFill>
          <a:ln w="8890">
            <a:solidFill>
              <a:srgbClr val="3C434B"/>
            </a:solidFill>
            <a:prstDash val="solid"/>
          </a:ln>
        </p:spPr>
      </p:sp>
      <p:sp>
        <p:nvSpPr>
          <p:cNvPr id="14" name="Text 12"/>
          <p:cNvSpPr/>
          <p:nvPr/>
        </p:nvSpPr>
        <p:spPr>
          <a:xfrm>
            <a:off x="5221224" y="2852928"/>
            <a:ext cx="914400" cy="24688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03</a:t>
            </a:r>
            <a:endParaRPr lang="en-US" sz="1200" dirty="0"/>
          </a:p>
        </p:txBody>
      </p:sp>
      <p:sp>
        <p:nvSpPr>
          <p:cNvPr id="15" name="Text 13"/>
          <p:cNvSpPr/>
          <p:nvPr/>
        </p:nvSpPr>
        <p:spPr>
          <a:xfrm>
            <a:off x="5221224" y="3182112"/>
            <a:ext cx="1746504" cy="621792"/>
          </a:xfrm>
          <a:prstGeom prst="rect">
            <a:avLst/>
          </a:prstGeom>
          <a:noFill/>
          <a:ln/>
        </p:spPr>
        <p:txBody>
          <a:bodyPr wrap="square" lIns="0" tIns="0" rIns="0" bIns="0" rtlCol="0" anchor="t">
            <a:spAutoFit/>
          </a:bodyPr>
          <a:lstStyle/>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Compare</a:t>
            </a:r>
            <a:endParaRPr lang="en-US" sz="2000" dirty="0"/>
          </a:p>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policy</a:t>
            </a:r>
            <a:endParaRPr lang="en-US" sz="2000" dirty="0"/>
          </a:p>
        </p:txBody>
      </p:sp>
      <p:sp>
        <p:nvSpPr>
          <p:cNvPr id="16" name="Text 14"/>
          <p:cNvSpPr/>
          <p:nvPr/>
        </p:nvSpPr>
        <p:spPr>
          <a:xfrm>
            <a:off x="7077456" y="3072384"/>
            <a:ext cx="246888" cy="365760"/>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C7FF48"/>
                </a:solidFill>
                <a:latin typeface="Courier New" pitchFamily="34" charset="0"/>
                <a:ea typeface="Courier New" pitchFamily="34" charset="-122"/>
                <a:cs typeface="Courier New" pitchFamily="34" charset="-120"/>
              </a:rPr>
              <a:t>&gt;</a:t>
            </a:r>
            <a:endParaRPr lang="en-US" sz="1800" dirty="0"/>
          </a:p>
        </p:txBody>
      </p:sp>
      <p:sp>
        <p:nvSpPr>
          <p:cNvPr id="17" name="Shape 15"/>
          <p:cNvSpPr/>
          <p:nvPr/>
        </p:nvSpPr>
        <p:spPr>
          <a:xfrm>
            <a:off x="7324344" y="2715768"/>
            <a:ext cx="1984248" cy="1143000"/>
          </a:xfrm>
          <a:prstGeom prst="rect">
            <a:avLst/>
          </a:prstGeom>
          <a:solidFill>
            <a:srgbClr val="1A1F25"/>
          </a:solidFill>
          <a:ln w="8890">
            <a:solidFill>
              <a:srgbClr val="3C434B"/>
            </a:solidFill>
            <a:prstDash val="solid"/>
          </a:ln>
        </p:spPr>
      </p:sp>
      <p:sp>
        <p:nvSpPr>
          <p:cNvPr id="18" name="Text 16"/>
          <p:cNvSpPr/>
          <p:nvPr/>
        </p:nvSpPr>
        <p:spPr>
          <a:xfrm>
            <a:off x="7470648" y="2852928"/>
            <a:ext cx="914400" cy="24688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04</a:t>
            </a:r>
            <a:endParaRPr lang="en-US" sz="1200" dirty="0"/>
          </a:p>
        </p:txBody>
      </p:sp>
      <p:sp>
        <p:nvSpPr>
          <p:cNvPr id="19" name="Text 17"/>
          <p:cNvSpPr/>
          <p:nvPr/>
        </p:nvSpPr>
        <p:spPr>
          <a:xfrm>
            <a:off x="7470648" y="3182112"/>
            <a:ext cx="1746504" cy="621792"/>
          </a:xfrm>
          <a:prstGeom prst="rect">
            <a:avLst/>
          </a:prstGeom>
          <a:noFill/>
          <a:ln/>
        </p:spPr>
        <p:txBody>
          <a:bodyPr wrap="square" lIns="0" tIns="0" rIns="0" bIns="0" rtlCol="0" anchor="t">
            <a:spAutoFit/>
          </a:bodyPr>
          <a:lstStyle/>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Issue</a:t>
            </a:r>
            <a:endParaRPr lang="en-US" sz="2000" dirty="0"/>
          </a:p>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receipt</a:t>
            </a:r>
            <a:endParaRPr lang="en-US" sz="2000" dirty="0"/>
          </a:p>
        </p:txBody>
      </p:sp>
      <p:sp>
        <p:nvSpPr>
          <p:cNvPr id="20" name="Text 18"/>
          <p:cNvSpPr/>
          <p:nvPr/>
        </p:nvSpPr>
        <p:spPr>
          <a:xfrm>
            <a:off x="9326880" y="3072384"/>
            <a:ext cx="246888" cy="365760"/>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C7FF48"/>
                </a:solidFill>
                <a:latin typeface="Courier New" pitchFamily="34" charset="0"/>
                <a:ea typeface="Courier New" pitchFamily="34" charset="-122"/>
                <a:cs typeface="Courier New" pitchFamily="34" charset="-120"/>
              </a:rPr>
              <a:t>&gt;</a:t>
            </a:r>
            <a:endParaRPr lang="en-US" sz="1800" dirty="0"/>
          </a:p>
        </p:txBody>
      </p:sp>
      <p:sp>
        <p:nvSpPr>
          <p:cNvPr id="21" name="Shape 19"/>
          <p:cNvSpPr/>
          <p:nvPr/>
        </p:nvSpPr>
        <p:spPr>
          <a:xfrm>
            <a:off x="9573768" y="2715768"/>
            <a:ext cx="1984248" cy="1143000"/>
          </a:xfrm>
          <a:prstGeom prst="rect">
            <a:avLst/>
          </a:prstGeom>
          <a:solidFill>
            <a:srgbClr val="1A1F25"/>
          </a:solidFill>
          <a:ln w="8890">
            <a:solidFill>
              <a:srgbClr val="3C434B"/>
            </a:solidFill>
            <a:prstDash val="solid"/>
          </a:ln>
        </p:spPr>
      </p:sp>
      <p:sp>
        <p:nvSpPr>
          <p:cNvPr id="22" name="Text 20"/>
          <p:cNvSpPr/>
          <p:nvPr/>
        </p:nvSpPr>
        <p:spPr>
          <a:xfrm>
            <a:off x="9720072" y="2852928"/>
            <a:ext cx="914400" cy="24688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05</a:t>
            </a:r>
            <a:endParaRPr lang="en-US" sz="1200" dirty="0"/>
          </a:p>
        </p:txBody>
      </p:sp>
      <p:sp>
        <p:nvSpPr>
          <p:cNvPr id="23" name="Text 21"/>
          <p:cNvSpPr/>
          <p:nvPr/>
        </p:nvSpPr>
        <p:spPr>
          <a:xfrm>
            <a:off x="9720072" y="3182112"/>
            <a:ext cx="1746504" cy="621792"/>
          </a:xfrm>
          <a:prstGeom prst="rect">
            <a:avLst/>
          </a:prstGeom>
          <a:noFill/>
          <a:ln/>
        </p:spPr>
        <p:txBody>
          <a:bodyPr wrap="square" lIns="0" tIns="0" rIns="0" bIns="0" rtlCol="0" anchor="t">
            <a:spAutoFit/>
          </a:bodyPr>
          <a:lstStyle/>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Store same</a:t>
            </a:r>
            <a:endParaRPr lang="en-US" sz="2000" dirty="0"/>
          </a:p>
          <a:p>
            <a:pPr algn="l" indent="0" marL="0">
              <a:lnSpc>
                <a:spcPct val="112000"/>
              </a:lnSpc>
              <a:buNone/>
            </a:pPr>
            <a:r>
              <a:rPr lang="en-US" sz="2000" b="1" dirty="0">
                <a:solidFill>
                  <a:srgbClr val="F0F0E8"/>
                </a:solidFill>
                <a:latin typeface="Arial" pitchFamily="34" charset="0"/>
                <a:ea typeface="Arial" pitchFamily="34" charset="-122"/>
                <a:cs typeface="Arial" pitchFamily="34" charset="-120"/>
              </a:rPr>
              <a:t>bytes</a:t>
            </a:r>
            <a:endParaRPr lang="en-US" sz="2000" dirty="0"/>
          </a:p>
        </p:txBody>
      </p:sp>
      <p:sp>
        <p:nvSpPr>
          <p:cNvPr id="24" name="Shape 22"/>
          <p:cNvSpPr/>
          <p:nvPr/>
        </p:nvSpPr>
        <p:spPr>
          <a:xfrm>
            <a:off x="576072" y="4361688"/>
            <a:ext cx="11036808" cy="1143000"/>
          </a:xfrm>
          <a:prstGeom prst="rect">
            <a:avLst/>
          </a:prstGeom>
          <a:solidFill>
            <a:srgbClr val="1A1F25"/>
          </a:solidFill>
          <a:ln w="12700">
            <a:solidFill>
              <a:srgbClr val="1A1F25"/>
            </a:solidFill>
            <a:prstDash val="solid"/>
          </a:ln>
        </p:spPr>
      </p:sp>
      <p:sp>
        <p:nvSpPr>
          <p:cNvPr id="25" name="Text 23"/>
          <p:cNvSpPr/>
          <p:nvPr/>
        </p:nvSpPr>
        <p:spPr>
          <a:xfrm>
            <a:off x="777240" y="4562856"/>
            <a:ext cx="10634472"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RECEIPT BINDS</a:t>
            </a:r>
            <a:endParaRPr lang="en-US" sz="1250" dirty="0"/>
          </a:p>
        </p:txBody>
      </p:sp>
      <p:sp>
        <p:nvSpPr>
          <p:cNvPr id="26" name="Text 24"/>
          <p:cNvSpPr/>
          <p:nvPr/>
        </p:nvSpPr>
        <p:spPr>
          <a:xfrm>
            <a:off x="822960" y="4910328"/>
            <a:ext cx="10506456" cy="338328"/>
          </a:xfrm>
          <a:prstGeom prst="rect">
            <a:avLst/>
          </a:prstGeom>
          <a:noFill/>
          <a:ln/>
        </p:spPr>
        <p:txBody>
          <a:bodyPr wrap="square" lIns="0" tIns="0" rIns="0" bIns="0" rtlCol="0" anchor="t">
            <a:spAutoFit/>
          </a:bodyPr>
          <a:lstStyle/>
          <a:p>
            <a:pPr algn="l" indent="0" marL="0">
              <a:lnSpc>
                <a:spcPct val="112000"/>
              </a:lnSpc>
              <a:buNone/>
            </a:pPr>
            <a:r>
              <a:rPr lang="en-US" sz="1700" dirty="0">
                <a:solidFill>
                  <a:srgbClr val="F0F0E8"/>
                </a:solidFill>
                <a:latin typeface="Courier New" pitchFamily="34" charset="0"/>
                <a:ea typeface="Courier New" pitchFamily="34" charset="-122"/>
                <a:cs typeface="Courier New" pitchFamily="34" charset="-120"/>
              </a:rPr>
              <a:t>artifact / task / run / policy / verifier / environment / expiry / nonce</a:t>
            </a:r>
            <a:endParaRPr lang="en-US" sz="1700" dirty="0"/>
          </a:p>
        </p:txBody>
      </p:sp>
      <p:sp>
        <p:nvSpPr>
          <p:cNvPr id="27" name="Shape 25"/>
          <p:cNvSpPr/>
          <p:nvPr/>
        </p:nvSpPr>
        <p:spPr>
          <a:xfrm>
            <a:off x="566928" y="5971032"/>
            <a:ext cx="11045952" cy="0"/>
          </a:xfrm>
          <a:prstGeom prst="line">
            <a:avLst/>
          </a:prstGeom>
          <a:noFill/>
          <a:ln w="9525">
            <a:solidFill>
              <a:srgbClr val="3C434B"/>
            </a:solidFill>
            <a:prstDash val="solid"/>
          </a:ln>
        </p:spPr>
      </p:sp>
      <p:sp>
        <p:nvSpPr>
          <p:cNvPr id="28" name="Text 26"/>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Publication checks the actual payload, the decision context and nonce freshness.</a:t>
            </a:r>
            <a:endParaRPr lang="en-US" sz="1800" dirty="0"/>
          </a:p>
        </p:txBody>
      </p:sp>
      <p:sp>
        <p:nvSpPr>
          <p:cNvPr id="29" name="Text 27"/>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30" name="Text 28"/>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08 / 12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RECORDED REFERENCE RESULTS</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Every denial needs its matching positive control.</a:t>
            </a:r>
            <a:endParaRPr lang="en-US" sz="3200" dirty="0"/>
          </a:p>
        </p:txBody>
      </p:sp>
      <p:sp>
        <p:nvSpPr>
          <p:cNvPr id="4" name="Shape 2"/>
          <p:cNvSpPr/>
          <p:nvPr/>
        </p:nvSpPr>
        <p:spPr>
          <a:xfrm>
            <a:off x="566928" y="1883664"/>
            <a:ext cx="11055096" cy="388620"/>
          </a:xfrm>
          <a:prstGeom prst="rect">
            <a:avLst/>
          </a:prstGeom>
          <a:solidFill>
            <a:srgbClr val="2D363F"/>
          </a:solidFill>
          <a:ln w="12700">
            <a:solidFill>
              <a:srgbClr val="2D363F"/>
            </a:solidFill>
            <a:prstDash val="solid"/>
          </a:ln>
        </p:spPr>
      </p:sp>
      <p:sp>
        <p:nvSpPr>
          <p:cNvPr id="5" name="Text 3"/>
          <p:cNvSpPr/>
          <p:nvPr/>
        </p:nvSpPr>
        <p:spPr>
          <a:xfrm>
            <a:off x="713232" y="1965960"/>
            <a:ext cx="5151821" cy="29260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Candidate / request</a:t>
            </a:r>
            <a:endParaRPr lang="en-US" sz="1350" dirty="0"/>
          </a:p>
        </p:txBody>
      </p:sp>
      <p:sp>
        <p:nvSpPr>
          <p:cNvPr id="6" name="Text 4"/>
          <p:cNvSpPr/>
          <p:nvPr/>
        </p:nvSpPr>
        <p:spPr>
          <a:xfrm>
            <a:off x="6130229" y="1965960"/>
            <a:ext cx="2056394" cy="29260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Weak checker</a:t>
            </a:r>
            <a:endParaRPr lang="en-US" sz="1350" dirty="0"/>
          </a:p>
        </p:txBody>
      </p:sp>
      <p:sp>
        <p:nvSpPr>
          <p:cNvPr id="7" name="Text 5"/>
          <p:cNvSpPr/>
          <p:nvPr/>
        </p:nvSpPr>
        <p:spPr>
          <a:xfrm>
            <a:off x="8451799" y="1965960"/>
            <a:ext cx="3051353" cy="29260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Independent gate</a:t>
            </a:r>
            <a:endParaRPr lang="en-US" sz="1350" dirty="0"/>
          </a:p>
        </p:txBody>
      </p:sp>
      <p:sp>
        <p:nvSpPr>
          <p:cNvPr id="8" name="Shape 6"/>
          <p:cNvSpPr/>
          <p:nvPr/>
        </p:nvSpPr>
        <p:spPr>
          <a:xfrm>
            <a:off x="566928" y="2304288"/>
            <a:ext cx="11055096" cy="388620"/>
          </a:xfrm>
          <a:prstGeom prst="rect">
            <a:avLst/>
          </a:prstGeom>
          <a:solidFill>
            <a:srgbClr val="1A1F25"/>
          </a:solidFill>
          <a:ln w="12700">
            <a:solidFill>
              <a:srgbClr val="1A1F25"/>
            </a:solidFill>
            <a:prstDash val="solid"/>
          </a:ln>
        </p:spPr>
      </p:sp>
      <p:sp>
        <p:nvSpPr>
          <p:cNvPr id="9" name="Text 7"/>
          <p:cNvSpPr/>
          <p:nvPr/>
        </p:nvSpPr>
        <p:spPr>
          <a:xfrm>
            <a:off x="713232" y="2386584"/>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Correct candidate</a:t>
            </a:r>
            <a:endParaRPr lang="en-US" sz="1800" dirty="0"/>
          </a:p>
        </p:txBody>
      </p:sp>
      <p:sp>
        <p:nvSpPr>
          <p:cNvPr id="10" name="Text 8"/>
          <p:cNvSpPr/>
          <p:nvPr/>
        </p:nvSpPr>
        <p:spPr>
          <a:xfrm>
            <a:off x="6130229" y="2386584"/>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a:t>
            </a:r>
            <a:endParaRPr lang="en-US" sz="1800" dirty="0"/>
          </a:p>
        </p:txBody>
      </p:sp>
      <p:sp>
        <p:nvSpPr>
          <p:cNvPr id="11" name="Text 9"/>
          <p:cNvSpPr/>
          <p:nvPr/>
        </p:nvSpPr>
        <p:spPr>
          <a:xfrm>
            <a:off x="8451799" y="2386584"/>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PUBLISHED</a:t>
            </a:r>
            <a:endParaRPr lang="en-US" sz="1800" dirty="0"/>
          </a:p>
        </p:txBody>
      </p:sp>
      <p:sp>
        <p:nvSpPr>
          <p:cNvPr id="12" name="Shape 10"/>
          <p:cNvSpPr/>
          <p:nvPr/>
        </p:nvSpPr>
        <p:spPr>
          <a:xfrm>
            <a:off x="566928" y="2724912"/>
            <a:ext cx="11055096" cy="388620"/>
          </a:xfrm>
          <a:prstGeom prst="rect">
            <a:avLst/>
          </a:prstGeom>
          <a:solidFill>
            <a:srgbClr val="15191D"/>
          </a:solidFill>
          <a:ln w="12700">
            <a:solidFill>
              <a:srgbClr val="15191D"/>
            </a:solidFill>
            <a:prstDash val="solid"/>
          </a:ln>
        </p:spPr>
      </p:sp>
      <p:sp>
        <p:nvSpPr>
          <p:cNvPr id="13" name="Text 11"/>
          <p:cNvSpPr/>
          <p:nvPr/>
        </p:nvSpPr>
        <p:spPr>
          <a:xfrm>
            <a:off x="713232" y="2807208"/>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Open-admin candidate</a:t>
            </a:r>
            <a:endParaRPr lang="en-US" sz="1800" dirty="0"/>
          </a:p>
        </p:txBody>
      </p:sp>
      <p:sp>
        <p:nvSpPr>
          <p:cNvPr id="14" name="Text 12"/>
          <p:cNvSpPr/>
          <p:nvPr/>
        </p:nvSpPr>
        <p:spPr>
          <a:xfrm>
            <a:off x="6130229" y="2807208"/>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a:t>
            </a:r>
            <a:endParaRPr lang="en-US" sz="1800" dirty="0"/>
          </a:p>
        </p:txBody>
      </p:sp>
      <p:sp>
        <p:nvSpPr>
          <p:cNvPr id="15" name="Text 13"/>
          <p:cNvSpPr/>
          <p:nvPr/>
        </p:nvSpPr>
        <p:spPr>
          <a:xfrm>
            <a:off x="8451799" y="2807208"/>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REJECTED</a:t>
            </a:r>
            <a:endParaRPr lang="en-US" sz="1800" dirty="0"/>
          </a:p>
        </p:txBody>
      </p:sp>
      <p:sp>
        <p:nvSpPr>
          <p:cNvPr id="16" name="Shape 14"/>
          <p:cNvSpPr/>
          <p:nvPr/>
        </p:nvSpPr>
        <p:spPr>
          <a:xfrm>
            <a:off x="566928" y="3145536"/>
            <a:ext cx="11055096" cy="388620"/>
          </a:xfrm>
          <a:prstGeom prst="rect">
            <a:avLst/>
          </a:prstGeom>
          <a:solidFill>
            <a:srgbClr val="1A1F25"/>
          </a:solidFill>
          <a:ln w="12700">
            <a:solidFill>
              <a:srgbClr val="1A1F25"/>
            </a:solidFill>
            <a:prstDash val="solid"/>
          </a:ln>
        </p:spPr>
      </p:sp>
      <p:sp>
        <p:nvSpPr>
          <p:cNvPr id="17" name="Text 15"/>
          <p:cNvSpPr/>
          <p:nvPr/>
        </p:nvSpPr>
        <p:spPr>
          <a:xfrm>
            <a:off x="713232" y="3227832"/>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Worker-edited expectations</a:t>
            </a:r>
            <a:endParaRPr lang="en-US" sz="1800" dirty="0"/>
          </a:p>
        </p:txBody>
      </p:sp>
      <p:sp>
        <p:nvSpPr>
          <p:cNvPr id="18" name="Text 16"/>
          <p:cNvSpPr/>
          <p:nvPr/>
        </p:nvSpPr>
        <p:spPr>
          <a:xfrm>
            <a:off x="6130229" y="3227832"/>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PASS</a:t>
            </a:r>
            <a:endParaRPr lang="en-US" sz="1800" dirty="0"/>
          </a:p>
        </p:txBody>
      </p:sp>
      <p:sp>
        <p:nvSpPr>
          <p:cNvPr id="19" name="Text 17"/>
          <p:cNvSpPr/>
          <p:nvPr/>
        </p:nvSpPr>
        <p:spPr>
          <a:xfrm>
            <a:off x="8451799" y="3227832"/>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REJECTED</a:t>
            </a:r>
            <a:endParaRPr lang="en-US" sz="1800" dirty="0"/>
          </a:p>
        </p:txBody>
      </p:sp>
      <p:sp>
        <p:nvSpPr>
          <p:cNvPr id="20" name="Shape 18"/>
          <p:cNvSpPr/>
          <p:nvPr/>
        </p:nvSpPr>
        <p:spPr>
          <a:xfrm>
            <a:off x="566928" y="3566160"/>
            <a:ext cx="11055096" cy="388620"/>
          </a:xfrm>
          <a:prstGeom prst="rect">
            <a:avLst/>
          </a:prstGeom>
          <a:solidFill>
            <a:srgbClr val="15191D"/>
          </a:solidFill>
          <a:ln w="12700">
            <a:solidFill>
              <a:srgbClr val="15191D"/>
            </a:solidFill>
            <a:prstDash val="solid"/>
          </a:ln>
        </p:spPr>
      </p:sp>
      <p:sp>
        <p:nvSpPr>
          <p:cNvPr id="21" name="Text 19"/>
          <p:cNvSpPr/>
          <p:nvPr/>
        </p:nvSpPr>
        <p:spPr>
          <a:xfrm>
            <a:off x="713232" y="3648456"/>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Fresh good receipt + bad bytes</a:t>
            </a:r>
            <a:endParaRPr lang="en-US" sz="1800" dirty="0"/>
          </a:p>
        </p:txBody>
      </p:sp>
      <p:sp>
        <p:nvSpPr>
          <p:cNvPr id="22" name="Text 20"/>
          <p:cNvSpPr/>
          <p:nvPr/>
        </p:nvSpPr>
        <p:spPr>
          <a:xfrm>
            <a:off x="6130229" y="3648456"/>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a:t>
            </a:r>
            <a:endParaRPr lang="en-US" sz="1800" dirty="0"/>
          </a:p>
        </p:txBody>
      </p:sp>
      <p:sp>
        <p:nvSpPr>
          <p:cNvPr id="23" name="Text 21"/>
          <p:cNvSpPr/>
          <p:nvPr/>
        </p:nvSpPr>
        <p:spPr>
          <a:xfrm>
            <a:off x="8451799" y="3648456"/>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DENIED</a:t>
            </a:r>
            <a:endParaRPr lang="en-US" sz="1800" dirty="0"/>
          </a:p>
        </p:txBody>
      </p:sp>
      <p:sp>
        <p:nvSpPr>
          <p:cNvPr id="24" name="Shape 22"/>
          <p:cNvSpPr/>
          <p:nvPr/>
        </p:nvSpPr>
        <p:spPr>
          <a:xfrm>
            <a:off x="566928" y="3986784"/>
            <a:ext cx="11055096" cy="388620"/>
          </a:xfrm>
          <a:prstGeom prst="rect">
            <a:avLst/>
          </a:prstGeom>
          <a:solidFill>
            <a:srgbClr val="1A1F25"/>
          </a:solidFill>
          <a:ln w="12700">
            <a:solidFill>
              <a:srgbClr val="1A1F25"/>
            </a:solidFill>
            <a:prstDash val="solid"/>
          </a:ln>
        </p:spPr>
      </p:sp>
      <p:sp>
        <p:nvSpPr>
          <p:cNvPr id="25" name="Text 23"/>
          <p:cNvSpPr/>
          <p:nvPr/>
        </p:nvSpPr>
        <p:spPr>
          <a:xfrm>
            <a:off x="713232" y="4069080"/>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Same receipt + good bytes</a:t>
            </a:r>
            <a:endParaRPr lang="en-US" sz="1800" dirty="0"/>
          </a:p>
        </p:txBody>
      </p:sp>
      <p:sp>
        <p:nvSpPr>
          <p:cNvPr id="26" name="Text 24"/>
          <p:cNvSpPr/>
          <p:nvPr/>
        </p:nvSpPr>
        <p:spPr>
          <a:xfrm>
            <a:off x="6130229" y="4069080"/>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a:t>
            </a:r>
            <a:endParaRPr lang="en-US" sz="1800" dirty="0"/>
          </a:p>
        </p:txBody>
      </p:sp>
      <p:sp>
        <p:nvSpPr>
          <p:cNvPr id="27" name="Text 25"/>
          <p:cNvSpPr/>
          <p:nvPr/>
        </p:nvSpPr>
        <p:spPr>
          <a:xfrm>
            <a:off x="8451799" y="4069080"/>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PUBLISHED</a:t>
            </a:r>
            <a:endParaRPr lang="en-US" sz="1800" dirty="0"/>
          </a:p>
        </p:txBody>
      </p:sp>
      <p:sp>
        <p:nvSpPr>
          <p:cNvPr id="28" name="Shape 26"/>
          <p:cNvSpPr/>
          <p:nvPr/>
        </p:nvSpPr>
        <p:spPr>
          <a:xfrm>
            <a:off x="566928" y="4407408"/>
            <a:ext cx="11055096" cy="388620"/>
          </a:xfrm>
          <a:prstGeom prst="rect">
            <a:avLst/>
          </a:prstGeom>
          <a:solidFill>
            <a:srgbClr val="15191D"/>
          </a:solidFill>
          <a:ln w="12700">
            <a:solidFill>
              <a:srgbClr val="15191D"/>
            </a:solidFill>
            <a:prstDash val="solid"/>
          </a:ln>
        </p:spPr>
      </p:sp>
      <p:sp>
        <p:nvSpPr>
          <p:cNvPr id="29" name="Text 27"/>
          <p:cNvSpPr/>
          <p:nvPr/>
        </p:nvSpPr>
        <p:spPr>
          <a:xfrm>
            <a:off x="713232" y="4489704"/>
            <a:ext cx="5151821" cy="29260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Replay after publication</a:t>
            </a:r>
            <a:endParaRPr lang="en-US" sz="1800" dirty="0"/>
          </a:p>
        </p:txBody>
      </p:sp>
      <p:sp>
        <p:nvSpPr>
          <p:cNvPr id="30" name="Text 28"/>
          <p:cNvSpPr/>
          <p:nvPr/>
        </p:nvSpPr>
        <p:spPr>
          <a:xfrm>
            <a:off x="6130229" y="4489704"/>
            <a:ext cx="2056394"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a:t>
            </a:r>
            <a:endParaRPr lang="en-US" sz="1800" dirty="0"/>
          </a:p>
        </p:txBody>
      </p:sp>
      <p:sp>
        <p:nvSpPr>
          <p:cNvPr id="31" name="Text 29"/>
          <p:cNvSpPr/>
          <p:nvPr/>
        </p:nvSpPr>
        <p:spPr>
          <a:xfrm>
            <a:off x="8451799" y="4489704"/>
            <a:ext cx="3051353" cy="29260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DENIED</a:t>
            </a:r>
            <a:endParaRPr lang="en-US" sz="1800" dirty="0"/>
          </a:p>
        </p:txBody>
      </p:sp>
      <p:sp>
        <p:nvSpPr>
          <p:cNvPr id="32" name="Text 30"/>
          <p:cNvSpPr/>
          <p:nvPr/>
        </p:nvSpPr>
        <p:spPr>
          <a:xfrm>
            <a:off x="704088" y="5257800"/>
            <a:ext cx="10698480" cy="438912"/>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C7FF48"/>
                </a:solidFill>
                <a:latin typeface="Courier New" pitchFamily="34" charset="0"/>
                <a:ea typeface="Courier New" pitchFamily="34" charset="-122"/>
                <a:cs typeface="Courier New" pitchFamily="34" charset="-120"/>
              </a:rPr>
              <a:t>Fresh receipt -&gt; bad bytes DENIED -&gt; original good bytes PUBLISHED</a:t>
            </a:r>
            <a:endParaRPr lang="en-US" sz="1800" dirty="0"/>
          </a:p>
        </p:txBody>
      </p:sp>
      <p:sp>
        <p:nvSpPr>
          <p:cNvPr id="33" name="Shape 31"/>
          <p:cNvSpPr/>
          <p:nvPr/>
        </p:nvSpPr>
        <p:spPr>
          <a:xfrm>
            <a:off x="566928" y="5971032"/>
            <a:ext cx="11045952" cy="0"/>
          </a:xfrm>
          <a:prstGeom prst="line">
            <a:avLst/>
          </a:prstGeom>
          <a:noFill/>
          <a:ln w="9525">
            <a:solidFill>
              <a:srgbClr val="3C434B"/>
            </a:solidFill>
            <a:prstDash val="solid"/>
          </a:ln>
        </p:spPr>
      </p:sp>
      <p:sp>
        <p:nvSpPr>
          <p:cNvPr id="34" name="Text 32"/>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A failed exploit attempt is informative only when the intended path still works.</a:t>
            </a:r>
            <a:endParaRPr lang="en-US" sz="1800" dirty="0"/>
          </a:p>
        </p:txBody>
      </p:sp>
      <p:sp>
        <p:nvSpPr>
          <p:cNvPr id="35" name="Text 33"/>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36" name="Text 34"/>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09 / 12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MULTI-AGENT DESIGN IMPLICATION / NOT AN ATTACK-RATE CLAIM</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A second reviewer can inherit the same bad criteria.</a:t>
            </a:r>
            <a:endParaRPr lang="en-US" sz="3200" dirty="0"/>
          </a:p>
        </p:txBody>
      </p:sp>
      <p:sp>
        <p:nvSpPr>
          <p:cNvPr id="4" name="Shape 2"/>
          <p:cNvSpPr/>
          <p:nvPr/>
        </p:nvSpPr>
        <p:spPr>
          <a:xfrm>
            <a:off x="576072" y="2075688"/>
            <a:ext cx="2029968" cy="713232"/>
          </a:xfrm>
          <a:prstGeom prst="rect">
            <a:avLst/>
          </a:prstGeom>
          <a:solidFill>
            <a:srgbClr val="1A1F25"/>
          </a:solidFill>
          <a:ln w="12700">
            <a:solidFill>
              <a:srgbClr val="1A1F25"/>
            </a:solidFill>
            <a:prstDash val="solid"/>
          </a:ln>
        </p:spPr>
      </p:sp>
      <p:sp>
        <p:nvSpPr>
          <p:cNvPr id="5" name="Text 3"/>
          <p:cNvSpPr/>
          <p:nvPr/>
        </p:nvSpPr>
        <p:spPr>
          <a:xfrm>
            <a:off x="704088" y="2295144"/>
            <a:ext cx="1773936" cy="329184"/>
          </a:xfrm>
          <a:prstGeom prst="rect">
            <a:avLst/>
          </a:prstGeom>
          <a:noFill/>
          <a:ln/>
        </p:spPr>
        <p:txBody>
          <a:bodyPr wrap="square" lIns="0" tIns="0" rIns="0" bIns="0" rtlCol="0" anchor="t">
            <a:spAutoFit/>
          </a:bodyPr>
          <a:lstStyle/>
          <a:p>
            <a:pPr algn="ctr" indent="0" marL="0">
              <a:lnSpc>
                <a:spcPct val="112000"/>
              </a:lnSpc>
              <a:buNone/>
            </a:pPr>
            <a:r>
              <a:rPr lang="en-US" sz="1800" b="1" dirty="0">
                <a:solidFill>
                  <a:srgbClr val="F0F0E8"/>
                </a:solidFill>
                <a:latin typeface="Arial" pitchFamily="34" charset="0"/>
                <a:ea typeface="Arial" pitchFamily="34" charset="-122"/>
                <a:cs typeface="Arial" pitchFamily="34" charset="-120"/>
              </a:rPr>
              <a:t>Builder</a:t>
            </a:r>
            <a:endParaRPr lang="en-US" sz="1800" dirty="0"/>
          </a:p>
        </p:txBody>
      </p:sp>
      <p:sp>
        <p:nvSpPr>
          <p:cNvPr id="6" name="Shape 4"/>
          <p:cNvSpPr/>
          <p:nvPr/>
        </p:nvSpPr>
        <p:spPr>
          <a:xfrm>
            <a:off x="2852928" y="2075688"/>
            <a:ext cx="2029968" cy="713232"/>
          </a:xfrm>
          <a:prstGeom prst="rect">
            <a:avLst/>
          </a:prstGeom>
          <a:solidFill>
            <a:srgbClr val="1A1F25"/>
          </a:solidFill>
          <a:ln w="12700">
            <a:solidFill>
              <a:srgbClr val="1A1F25"/>
            </a:solidFill>
            <a:prstDash val="solid"/>
          </a:ln>
        </p:spPr>
      </p:sp>
      <p:sp>
        <p:nvSpPr>
          <p:cNvPr id="7" name="Text 5"/>
          <p:cNvSpPr/>
          <p:nvPr/>
        </p:nvSpPr>
        <p:spPr>
          <a:xfrm>
            <a:off x="2980944" y="2295144"/>
            <a:ext cx="1773936" cy="329184"/>
          </a:xfrm>
          <a:prstGeom prst="rect">
            <a:avLst/>
          </a:prstGeom>
          <a:noFill/>
          <a:ln/>
        </p:spPr>
        <p:txBody>
          <a:bodyPr wrap="square" lIns="0" tIns="0" rIns="0" bIns="0" rtlCol="0" anchor="t">
            <a:spAutoFit/>
          </a:bodyPr>
          <a:lstStyle/>
          <a:p>
            <a:pPr algn="ctr" indent="0" marL="0">
              <a:lnSpc>
                <a:spcPct val="112000"/>
              </a:lnSpc>
              <a:buNone/>
            </a:pPr>
            <a:r>
              <a:rPr lang="en-US" sz="1800" b="1" dirty="0">
                <a:solidFill>
                  <a:srgbClr val="F0F0E8"/>
                </a:solidFill>
                <a:latin typeface="Arial" pitchFamily="34" charset="0"/>
                <a:ea typeface="Arial" pitchFamily="34" charset="-122"/>
                <a:cs typeface="Arial" pitchFamily="34" charset="-120"/>
              </a:rPr>
              <a:t>Reviewer</a:t>
            </a:r>
            <a:endParaRPr lang="en-US" sz="1800" dirty="0"/>
          </a:p>
        </p:txBody>
      </p:sp>
      <p:sp>
        <p:nvSpPr>
          <p:cNvPr id="8" name="Shape 6"/>
          <p:cNvSpPr/>
          <p:nvPr/>
        </p:nvSpPr>
        <p:spPr>
          <a:xfrm>
            <a:off x="5129784" y="2075688"/>
            <a:ext cx="2029968" cy="713232"/>
          </a:xfrm>
          <a:prstGeom prst="rect">
            <a:avLst/>
          </a:prstGeom>
          <a:solidFill>
            <a:srgbClr val="1A1F25"/>
          </a:solidFill>
          <a:ln w="12700">
            <a:solidFill>
              <a:srgbClr val="1A1F25"/>
            </a:solidFill>
            <a:prstDash val="solid"/>
          </a:ln>
        </p:spPr>
      </p:sp>
      <p:sp>
        <p:nvSpPr>
          <p:cNvPr id="9" name="Text 7"/>
          <p:cNvSpPr/>
          <p:nvPr/>
        </p:nvSpPr>
        <p:spPr>
          <a:xfrm>
            <a:off x="5257800" y="2295144"/>
            <a:ext cx="1773936" cy="329184"/>
          </a:xfrm>
          <a:prstGeom prst="rect">
            <a:avLst/>
          </a:prstGeom>
          <a:noFill/>
          <a:ln/>
        </p:spPr>
        <p:txBody>
          <a:bodyPr wrap="square" lIns="0" tIns="0" rIns="0" bIns="0" rtlCol="0" anchor="t">
            <a:spAutoFit/>
          </a:bodyPr>
          <a:lstStyle/>
          <a:p>
            <a:pPr algn="ctr" indent="0" marL="0">
              <a:lnSpc>
                <a:spcPct val="112000"/>
              </a:lnSpc>
              <a:buNone/>
            </a:pPr>
            <a:r>
              <a:rPr lang="en-US" sz="1800" b="1" dirty="0">
                <a:solidFill>
                  <a:srgbClr val="F0F0E8"/>
                </a:solidFill>
                <a:latin typeface="Arial" pitchFamily="34" charset="0"/>
                <a:ea typeface="Arial" pitchFamily="34" charset="-122"/>
                <a:cs typeface="Arial" pitchFamily="34" charset="-120"/>
              </a:rPr>
              <a:t>Repair agent</a:t>
            </a:r>
            <a:endParaRPr lang="en-US" sz="1800" dirty="0"/>
          </a:p>
        </p:txBody>
      </p:sp>
      <p:sp>
        <p:nvSpPr>
          <p:cNvPr id="10" name="Shape 8"/>
          <p:cNvSpPr/>
          <p:nvPr/>
        </p:nvSpPr>
        <p:spPr>
          <a:xfrm>
            <a:off x="576072" y="3163824"/>
            <a:ext cx="6583680" cy="932688"/>
          </a:xfrm>
          <a:prstGeom prst="rect">
            <a:avLst/>
          </a:prstGeom>
          <a:solidFill>
            <a:srgbClr val="2D363F"/>
          </a:solidFill>
          <a:ln w="12700">
            <a:solidFill>
              <a:srgbClr val="2D363F"/>
            </a:solidFill>
            <a:prstDash val="solid"/>
          </a:ln>
        </p:spPr>
      </p:sp>
      <p:sp>
        <p:nvSpPr>
          <p:cNvPr id="11" name="Text 9"/>
          <p:cNvSpPr/>
          <p:nvPr/>
        </p:nvSpPr>
        <p:spPr>
          <a:xfrm>
            <a:off x="822960" y="3474720"/>
            <a:ext cx="6089904" cy="347472"/>
          </a:xfrm>
          <a:prstGeom prst="rect">
            <a:avLst/>
          </a:prstGeom>
          <a:noFill/>
          <a:ln/>
        </p:spPr>
        <p:txBody>
          <a:bodyPr wrap="square" lIns="0" tIns="0" rIns="0" bIns="0" rtlCol="0" anchor="t">
            <a:spAutoFit/>
          </a:bodyPr>
          <a:lstStyle/>
          <a:p>
            <a:pPr algn="ctr" indent="0" marL="0">
              <a:lnSpc>
                <a:spcPct val="112000"/>
              </a:lnSpc>
              <a:buNone/>
            </a:pPr>
            <a:r>
              <a:rPr lang="en-US" sz="2000" b="1" dirty="0">
                <a:solidFill>
                  <a:srgbClr val="FF756B"/>
                </a:solidFill>
                <a:latin typeface="Arial" pitchFamily="34" charset="0"/>
                <a:ea typeface="Arial" pitchFamily="34" charset="-122"/>
                <a:cs typeface="Arial" pitchFamily="34" charset="-120"/>
              </a:rPr>
              <a:t>Shared workspace / expected.json</a:t>
            </a:r>
            <a:endParaRPr lang="en-US" sz="2000" dirty="0"/>
          </a:p>
        </p:txBody>
      </p:sp>
      <p:sp>
        <p:nvSpPr>
          <p:cNvPr id="12" name="Text 10"/>
          <p:cNvSpPr/>
          <p:nvPr/>
        </p:nvSpPr>
        <p:spPr>
          <a:xfrm>
            <a:off x="896112" y="4663440"/>
            <a:ext cx="5943600" cy="365760"/>
          </a:xfrm>
          <a:prstGeom prst="rect">
            <a:avLst/>
          </a:prstGeom>
          <a:noFill/>
          <a:ln/>
        </p:spPr>
        <p:txBody>
          <a:bodyPr wrap="square" lIns="0" tIns="0" rIns="0" bIns="0" rtlCol="0" anchor="t">
            <a:spAutoFit/>
          </a:bodyPr>
          <a:lstStyle/>
          <a:p>
            <a:pPr algn="ctr" indent="0" marL="0">
              <a:lnSpc>
                <a:spcPct val="112000"/>
              </a:lnSpc>
              <a:buNone/>
            </a:pPr>
            <a:r>
              <a:rPr lang="en-US" sz="2100" dirty="0">
                <a:solidFill>
                  <a:srgbClr val="A7ADB3"/>
                </a:solidFill>
                <a:latin typeface="Arial" pitchFamily="34" charset="0"/>
                <a:ea typeface="Arial" pitchFamily="34" charset="-122"/>
                <a:cs typeface="Arial" pitchFamily="34" charset="-120"/>
              </a:rPr>
              <a:t>Candidates + reviewer reports</a:t>
            </a:r>
            <a:endParaRPr lang="en-US" sz="2100" dirty="0"/>
          </a:p>
        </p:txBody>
      </p:sp>
      <p:sp>
        <p:nvSpPr>
          <p:cNvPr id="13" name="Text 11"/>
          <p:cNvSpPr/>
          <p:nvPr/>
        </p:nvSpPr>
        <p:spPr>
          <a:xfrm>
            <a:off x="7452360" y="3209544"/>
            <a:ext cx="393192" cy="59436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C7FF48"/>
                </a:solidFill>
                <a:latin typeface="Arial" pitchFamily="34" charset="0"/>
                <a:ea typeface="Arial" pitchFamily="34" charset="-122"/>
                <a:cs typeface="Arial" pitchFamily="34" charset="-120"/>
              </a:rPr>
              <a:t>&gt;</a:t>
            </a:r>
            <a:endParaRPr lang="en-US" sz="3200" dirty="0"/>
          </a:p>
        </p:txBody>
      </p:sp>
      <p:sp>
        <p:nvSpPr>
          <p:cNvPr id="14" name="Shape 12"/>
          <p:cNvSpPr/>
          <p:nvPr/>
        </p:nvSpPr>
        <p:spPr>
          <a:xfrm>
            <a:off x="8247888" y="2075688"/>
            <a:ext cx="3364992" cy="3017520"/>
          </a:xfrm>
          <a:prstGeom prst="rect">
            <a:avLst/>
          </a:prstGeom>
          <a:solidFill>
            <a:srgbClr val="1A1F25"/>
          </a:solidFill>
          <a:ln w="12700">
            <a:solidFill>
              <a:srgbClr val="1A1F25"/>
            </a:solidFill>
            <a:prstDash val="solid"/>
          </a:ln>
        </p:spPr>
      </p:sp>
      <p:sp>
        <p:nvSpPr>
          <p:cNvPr id="15" name="Text 13"/>
          <p:cNvSpPr/>
          <p:nvPr/>
        </p:nvSpPr>
        <p:spPr>
          <a:xfrm>
            <a:off x="8449056" y="2276856"/>
            <a:ext cx="2962656" cy="274320"/>
          </a:xfrm>
          <a:prstGeom prst="rect">
            <a:avLst/>
          </a:prstGeom>
          <a:noFill/>
          <a:ln/>
        </p:spPr>
        <p:txBody>
          <a:bodyPr wrap="square" lIns="0" tIns="0" rIns="0" bIns="0" rtlCol="0" anchor="t">
            <a:spAutoFit/>
          </a:bodyPr>
          <a:lstStyle/>
          <a:p>
            <a:pPr algn="l" indent="0" marL="0">
              <a:lnSpc>
                <a:spcPct val="112000"/>
              </a:lnSpc>
              <a:buNone/>
            </a:pPr>
            <a:r>
              <a:rPr lang="en-US" sz="1250" b="1" dirty="0">
                <a:solidFill>
                  <a:srgbClr val="C7FF48"/>
                </a:solidFill>
                <a:latin typeface="Arial" pitchFamily="34" charset="0"/>
                <a:ea typeface="Arial" pitchFamily="34" charset="-122"/>
                <a:cs typeface="Arial" pitchFamily="34" charset="-120"/>
              </a:rPr>
              <a:t>RELEASE AUTHORITY</a:t>
            </a:r>
            <a:endParaRPr lang="en-US" sz="1250" dirty="0"/>
          </a:p>
        </p:txBody>
      </p:sp>
      <p:sp>
        <p:nvSpPr>
          <p:cNvPr id="16" name="Text 14"/>
          <p:cNvSpPr/>
          <p:nvPr/>
        </p:nvSpPr>
        <p:spPr>
          <a:xfrm>
            <a:off x="8485632" y="3063240"/>
            <a:ext cx="2880360" cy="1481328"/>
          </a:xfrm>
          <a:prstGeom prst="rect">
            <a:avLst/>
          </a:prstGeom>
          <a:noFill/>
          <a:ln/>
        </p:spPr>
        <p:txBody>
          <a:bodyPr wrap="square" lIns="0" tIns="0" rIns="0" bIns="0" rtlCol="0" anchor="t">
            <a:spAutoFit/>
          </a:bodyPr>
          <a:lstStyle/>
          <a:p>
            <a:pPr algn="l" indent="0" marL="0">
              <a:lnSpc>
                <a:spcPct val="112000"/>
              </a:lnSpc>
              <a:buNone/>
            </a:pPr>
            <a:r>
              <a:rPr lang="en-US" sz="2200" b="1" dirty="0">
                <a:solidFill>
                  <a:srgbClr val="F0F0E8"/>
                </a:solidFill>
                <a:latin typeface="Arial" pitchFamily="34" charset="0"/>
                <a:ea typeface="Arial" pitchFamily="34" charset="-122"/>
                <a:cs typeface="Arial" pitchFamily="34" charset="-120"/>
              </a:rPr>
              <a:t>Trusted criteria</a:t>
            </a:r>
            <a:endParaRPr lang="en-US" sz="2200" dirty="0"/>
          </a:p>
          <a:p>
            <a:pPr algn="l" indent="0" marL="0">
              <a:lnSpc>
                <a:spcPct val="112000"/>
              </a:lnSpc>
              <a:buNone/>
            </a:pPr>
            <a:r>
              <a:rPr lang="en-US" sz="2200" b="1" dirty="0">
                <a:solidFill>
                  <a:srgbClr val="F0F0E8"/>
                </a:solidFill>
                <a:latin typeface="Arial" pitchFamily="34" charset="0"/>
                <a:ea typeface="Arial" pitchFamily="34" charset="-122"/>
                <a:cs typeface="Arial" pitchFamily="34" charset="-120"/>
              </a:rPr>
              <a:t>Exact-artifact</a:t>
            </a:r>
            <a:endParaRPr lang="en-US" sz="2200" dirty="0"/>
          </a:p>
          <a:p>
            <a:pPr algn="l" indent="0" marL="0">
              <a:lnSpc>
                <a:spcPct val="112000"/>
              </a:lnSpc>
              <a:buNone/>
            </a:pPr>
            <a:r>
              <a:rPr lang="en-US" sz="2200" b="1" dirty="0">
                <a:solidFill>
                  <a:srgbClr val="F0F0E8"/>
                </a:solidFill>
                <a:latin typeface="Arial" pitchFamily="34" charset="0"/>
                <a:ea typeface="Arial" pitchFamily="34" charset="-122"/>
                <a:cs typeface="Arial" pitchFamily="34" charset="-120"/>
              </a:rPr>
              <a:t>release gate</a:t>
            </a:r>
            <a:endParaRPr lang="en-US" sz="2200" dirty="0"/>
          </a:p>
        </p:txBody>
      </p:sp>
      <p:sp>
        <p:nvSpPr>
          <p:cNvPr id="17" name="Shape 15"/>
          <p:cNvSpPr/>
          <p:nvPr/>
        </p:nvSpPr>
        <p:spPr>
          <a:xfrm>
            <a:off x="566928" y="5971032"/>
            <a:ext cx="11045952" cy="0"/>
          </a:xfrm>
          <a:prstGeom prst="line">
            <a:avLst/>
          </a:prstGeom>
          <a:noFill/>
          <a:ln w="9525">
            <a:solidFill>
              <a:srgbClr val="3C434B"/>
            </a:solidFill>
            <a:prstDash val="solid"/>
          </a:ln>
        </p:spPr>
      </p:sp>
      <p:sp>
        <p:nvSpPr>
          <p:cNvPr id="18" name="Text 16"/>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Treat reviewer output as evidence; keep release authority outside the worker pool.</a:t>
            </a:r>
            <a:endParaRPr lang="en-US" sz="1800" dirty="0"/>
          </a:p>
        </p:txBody>
      </p:sp>
      <p:sp>
        <p:nvSpPr>
          <p:cNvPr id="19" name="Text 17"/>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20" name="Text 18"/>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10 / 12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TAKE THESE TESTS HOME</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Run four paired tests against your deployment.</a:t>
            </a:r>
            <a:endParaRPr lang="en-US" sz="3200" dirty="0"/>
          </a:p>
        </p:txBody>
      </p:sp>
      <p:sp>
        <p:nvSpPr>
          <p:cNvPr id="4" name="Shape 2"/>
          <p:cNvSpPr/>
          <p:nvPr/>
        </p:nvSpPr>
        <p:spPr>
          <a:xfrm>
            <a:off x="566928" y="1947672"/>
            <a:ext cx="11055096" cy="571500"/>
          </a:xfrm>
          <a:prstGeom prst="rect">
            <a:avLst/>
          </a:prstGeom>
          <a:solidFill>
            <a:srgbClr val="2D363F"/>
          </a:solidFill>
          <a:ln w="12700">
            <a:solidFill>
              <a:srgbClr val="2D363F"/>
            </a:solidFill>
            <a:prstDash val="solid"/>
          </a:ln>
        </p:spPr>
      </p:sp>
      <p:sp>
        <p:nvSpPr>
          <p:cNvPr id="5" name="Text 3"/>
          <p:cNvSpPr/>
          <p:nvPr/>
        </p:nvSpPr>
        <p:spPr>
          <a:xfrm>
            <a:off x="713232" y="2029968"/>
            <a:ext cx="1724741" cy="47548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Boundary</a:t>
            </a:r>
            <a:endParaRPr lang="en-US" sz="1350" dirty="0"/>
          </a:p>
        </p:txBody>
      </p:sp>
      <p:sp>
        <p:nvSpPr>
          <p:cNvPr id="6" name="Text 4"/>
          <p:cNvSpPr/>
          <p:nvPr/>
        </p:nvSpPr>
        <p:spPr>
          <a:xfrm>
            <a:off x="2703149" y="2029968"/>
            <a:ext cx="4709617" cy="47548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Attempt that must fail</a:t>
            </a:r>
            <a:endParaRPr lang="en-US" sz="1350" dirty="0"/>
          </a:p>
        </p:txBody>
      </p:sp>
      <p:sp>
        <p:nvSpPr>
          <p:cNvPr id="7" name="Text 5"/>
          <p:cNvSpPr/>
          <p:nvPr/>
        </p:nvSpPr>
        <p:spPr>
          <a:xfrm>
            <a:off x="7677942" y="2029968"/>
            <a:ext cx="3825210" cy="475488"/>
          </a:xfrm>
          <a:prstGeom prst="rect">
            <a:avLst/>
          </a:prstGeom>
          <a:noFill/>
          <a:ln/>
        </p:spPr>
        <p:txBody>
          <a:bodyPr wrap="square" lIns="0" tIns="0" rIns="0" bIns="0" rtlCol="0" anchor="t">
            <a:spAutoFit/>
          </a:bodyPr>
          <a:lstStyle/>
          <a:p>
            <a:pPr algn="l" indent="0" marL="0">
              <a:lnSpc>
                <a:spcPct val="112000"/>
              </a:lnSpc>
              <a:buNone/>
            </a:pPr>
            <a:r>
              <a:rPr lang="en-US" sz="1350" b="1" dirty="0">
                <a:solidFill>
                  <a:srgbClr val="C7FF48"/>
                </a:solidFill>
                <a:latin typeface="Arial" pitchFamily="34" charset="0"/>
                <a:ea typeface="Arial" pitchFamily="34" charset="-122"/>
                <a:cs typeface="Arial" pitchFamily="34" charset="-120"/>
              </a:rPr>
              <a:t>Positive control</a:t>
            </a:r>
            <a:endParaRPr lang="en-US" sz="1350" dirty="0"/>
          </a:p>
        </p:txBody>
      </p:sp>
      <p:sp>
        <p:nvSpPr>
          <p:cNvPr id="8" name="Shape 6"/>
          <p:cNvSpPr/>
          <p:nvPr/>
        </p:nvSpPr>
        <p:spPr>
          <a:xfrm>
            <a:off x="566928" y="2551176"/>
            <a:ext cx="11055096" cy="571500"/>
          </a:xfrm>
          <a:prstGeom prst="rect">
            <a:avLst/>
          </a:prstGeom>
          <a:solidFill>
            <a:srgbClr val="1A1F25"/>
          </a:solidFill>
          <a:ln w="12700">
            <a:solidFill>
              <a:srgbClr val="1A1F25"/>
            </a:solidFill>
            <a:prstDash val="solid"/>
          </a:ln>
        </p:spPr>
      </p:sp>
      <p:sp>
        <p:nvSpPr>
          <p:cNvPr id="9" name="Text 7"/>
          <p:cNvSpPr/>
          <p:nvPr/>
        </p:nvSpPr>
        <p:spPr>
          <a:xfrm>
            <a:off x="713232" y="2633472"/>
            <a:ext cx="1724741" cy="47548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Credential</a:t>
            </a:r>
            <a:endParaRPr lang="en-US" sz="1800" dirty="0"/>
          </a:p>
        </p:txBody>
      </p:sp>
      <p:sp>
        <p:nvSpPr>
          <p:cNvPr id="10" name="Text 8"/>
          <p:cNvSpPr/>
          <p:nvPr/>
        </p:nvSpPr>
        <p:spPr>
          <a:xfrm>
            <a:off x="2703149" y="2633472"/>
            <a:ext cx="4709617"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Other-project access</a:t>
            </a:r>
            <a:endParaRPr lang="en-US" sz="1800" dirty="0"/>
          </a:p>
        </p:txBody>
      </p:sp>
      <p:sp>
        <p:nvSpPr>
          <p:cNvPr id="11" name="Text 9"/>
          <p:cNvSpPr/>
          <p:nvPr/>
        </p:nvSpPr>
        <p:spPr>
          <a:xfrm>
            <a:off x="7677942" y="2633472"/>
            <a:ext cx="3825210"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Own input works</a:t>
            </a:r>
            <a:endParaRPr lang="en-US" sz="1800" dirty="0"/>
          </a:p>
        </p:txBody>
      </p:sp>
      <p:sp>
        <p:nvSpPr>
          <p:cNvPr id="12" name="Shape 10"/>
          <p:cNvSpPr/>
          <p:nvPr/>
        </p:nvSpPr>
        <p:spPr>
          <a:xfrm>
            <a:off x="566928" y="3154680"/>
            <a:ext cx="11055096" cy="571500"/>
          </a:xfrm>
          <a:prstGeom prst="rect">
            <a:avLst/>
          </a:prstGeom>
          <a:solidFill>
            <a:srgbClr val="15191D"/>
          </a:solidFill>
          <a:ln w="12700">
            <a:solidFill>
              <a:srgbClr val="15191D"/>
            </a:solidFill>
            <a:prstDash val="solid"/>
          </a:ln>
        </p:spPr>
      </p:sp>
      <p:sp>
        <p:nvSpPr>
          <p:cNvPr id="13" name="Text 11"/>
          <p:cNvSpPr/>
          <p:nvPr/>
        </p:nvSpPr>
        <p:spPr>
          <a:xfrm>
            <a:off x="713232" y="3236976"/>
            <a:ext cx="1724741" cy="47548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Filesystem</a:t>
            </a:r>
            <a:endParaRPr lang="en-US" sz="1800" dirty="0"/>
          </a:p>
        </p:txBody>
      </p:sp>
      <p:sp>
        <p:nvSpPr>
          <p:cNvPr id="14" name="Text 12"/>
          <p:cNvSpPr/>
          <p:nvPr/>
        </p:nvSpPr>
        <p:spPr>
          <a:xfrm>
            <a:off x="2703149" y="3236976"/>
            <a:ext cx="4709617"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Protected / cross-job write</a:t>
            </a:r>
            <a:endParaRPr lang="en-US" sz="1800" dirty="0"/>
          </a:p>
        </p:txBody>
      </p:sp>
      <p:sp>
        <p:nvSpPr>
          <p:cNvPr id="15" name="Text 13"/>
          <p:cNvSpPr/>
          <p:nvPr/>
        </p:nvSpPr>
        <p:spPr>
          <a:xfrm>
            <a:off x="7677942" y="3236976"/>
            <a:ext cx="3825210"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Output write works</a:t>
            </a:r>
            <a:endParaRPr lang="en-US" sz="1800" dirty="0"/>
          </a:p>
        </p:txBody>
      </p:sp>
      <p:sp>
        <p:nvSpPr>
          <p:cNvPr id="16" name="Shape 14"/>
          <p:cNvSpPr/>
          <p:nvPr/>
        </p:nvSpPr>
        <p:spPr>
          <a:xfrm>
            <a:off x="566928" y="3758184"/>
            <a:ext cx="11055096" cy="571500"/>
          </a:xfrm>
          <a:prstGeom prst="rect">
            <a:avLst/>
          </a:prstGeom>
          <a:solidFill>
            <a:srgbClr val="1A1F25"/>
          </a:solidFill>
          <a:ln w="12700">
            <a:solidFill>
              <a:srgbClr val="1A1F25"/>
            </a:solidFill>
            <a:prstDash val="solid"/>
          </a:ln>
        </p:spPr>
      </p:sp>
      <p:sp>
        <p:nvSpPr>
          <p:cNvPr id="17" name="Text 15"/>
          <p:cNvSpPr/>
          <p:nvPr/>
        </p:nvSpPr>
        <p:spPr>
          <a:xfrm>
            <a:off x="713232" y="3840480"/>
            <a:ext cx="1724741" cy="47548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Outbound</a:t>
            </a:r>
            <a:endParaRPr lang="en-US" sz="1800" dirty="0"/>
          </a:p>
        </p:txBody>
      </p:sp>
      <p:sp>
        <p:nvSpPr>
          <p:cNvPr id="18" name="Text 16"/>
          <p:cNvSpPr/>
          <p:nvPr/>
        </p:nvSpPr>
        <p:spPr>
          <a:xfrm>
            <a:off x="2703149" y="3840480"/>
            <a:ext cx="4709617"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Changed recipient + payload</a:t>
            </a:r>
            <a:endParaRPr lang="en-US" sz="1800" dirty="0"/>
          </a:p>
        </p:txBody>
      </p:sp>
      <p:sp>
        <p:nvSpPr>
          <p:cNvPr id="19" name="Text 17"/>
          <p:cNvSpPr/>
          <p:nvPr/>
        </p:nvSpPr>
        <p:spPr>
          <a:xfrm>
            <a:off x="7677942" y="3840480"/>
            <a:ext cx="3825210"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Fixed report arrives</a:t>
            </a:r>
            <a:endParaRPr lang="en-US" sz="1800" dirty="0"/>
          </a:p>
        </p:txBody>
      </p:sp>
      <p:sp>
        <p:nvSpPr>
          <p:cNvPr id="20" name="Shape 18"/>
          <p:cNvSpPr/>
          <p:nvPr/>
        </p:nvSpPr>
        <p:spPr>
          <a:xfrm>
            <a:off x="566928" y="4361688"/>
            <a:ext cx="11055096" cy="571500"/>
          </a:xfrm>
          <a:prstGeom prst="rect">
            <a:avLst/>
          </a:prstGeom>
          <a:solidFill>
            <a:srgbClr val="15191D"/>
          </a:solidFill>
          <a:ln w="12700">
            <a:solidFill>
              <a:srgbClr val="15191D"/>
            </a:solidFill>
            <a:prstDash val="solid"/>
          </a:ln>
        </p:spPr>
      </p:sp>
      <p:sp>
        <p:nvSpPr>
          <p:cNvPr id="21" name="Text 19"/>
          <p:cNvSpPr/>
          <p:nvPr/>
        </p:nvSpPr>
        <p:spPr>
          <a:xfrm>
            <a:off x="713232" y="4443984"/>
            <a:ext cx="1724741" cy="475488"/>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F0F0E8"/>
                </a:solidFill>
                <a:latin typeface="Arial" pitchFamily="34" charset="0"/>
                <a:ea typeface="Arial" pitchFamily="34" charset="-122"/>
                <a:cs typeface="Arial" pitchFamily="34" charset="-120"/>
              </a:rPr>
              <a:t>Acceptance</a:t>
            </a:r>
            <a:endParaRPr lang="en-US" sz="1800" dirty="0"/>
          </a:p>
        </p:txBody>
      </p:sp>
      <p:sp>
        <p:nvSpPr>
          <p:cNvPr id="22" name="Text 20"/>
          <p:cNvSpPr/>
          <p:nvPr/>
        </p:nvSpPr>
        <p:spPr>
          <a:xfrm>
            <a:off x="2703149" y="4443984"/>
            <a:ext cx="4709617"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Poisoned criteria / byte swap</a:t>
            </a:r>
            <a:endParaRPr lang="en-US" sz="1800" dirty="0"/>
          </a:p>
        </p:txBody>
      </p:sp>
      <p:sp>
        <p:nvSpPr>
          <p:cNvPr id="23" name="Text 21"/>
          <p:cNvSpPr/>
          <p:nvPr/>
        </p:nvSpPr>
        <p:spPr>
          <a:xfrm>
            <a:off x="7677942" y="4443984"/>
            <a:ext cx="3825210" cy="475488"/>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F0F0E8"/>
                </a:solidFill>
                <a:latin typeface="Arial" pitchFamily="34" charset="0"/>
                <a:ea typeface="Arial" pitchFamily="34" charset="-122"/>
                <a:cs typeface="Arial" pitchFamily="34" charset="-120"/>
              </a:rPr>
              <a:t>Good bytes release once</a:t>
            </a:r>
            <a:endParaRPr lang="en-US" sz="1800" dirty="0"/>
          </a:p>
        </p:txBody>
      </p:sp>
      <p:sp>
        <p:nvSpPr>
          <p:cNvPr id="24" name="Shape 22"/>
          <p:cNvSpPr/>
          <p:nvPr/>
        </p:nvSpPr>
        <p:spPr>
          <a:xfrm>
            <a:off x="566928" y="5971032"/>
            <a:ext cx="11045952" cy="0"/>
          </a:xfrm>
          <a:prstGeom prst="line">
            <a:avLst/>
          </a:prstGeom>
          <a:noFill/>
          <a:ln w="9525">
            <a:solidFill>
              <a:srgbClr val="3C434B"/>
            </a:solidFill>
            <a:prstDash val="solid"/>
          </a:ln>
        </p:spPr>
      </p:sp>
      <p:sp>
        <p:nvSpPr>
          <p:cNvPr id="25" name="Text 23"/>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Record the denied side effect and the legitimate operation that still succeeds.</a:t>
            </a:r>
            <a:endParaRPr lang="en-US" sz="1800" dirty="0"/>
          </a:p>
        </p:txBody>
      </p:sp>
      <p:sp>
        <p:nvSpPr>
          <p:cNvPr id="26" name="Text 24"/>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27" name="Text 25"/>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11 / 12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THE QUESTION TO ASK BEFORE RELEASE</a:t>
            </a:r>
            <a:endParaRPr lang="en-US" sz="1200" dirty="0"/>
          </a:p>
        </p:txBody>
      </p:sp>
      <p:sp>
        <p:nvSpPr>
          <p:cNvPr id="3" name="Text 1"/>
          <p:cNvSpPr/>
          <p:nvPr/>
        </p:nvSpPr>
        <p:spPr>
          <a:xfrm>
            <a:off x="566928" y="1444752"/>
            <a:ext cx="11064240" cy="2496312"/>
          </a:xfrm>
          <a:prstGeom prst="rect">
            <a:avLst/>
          </a:prstGeom>
          <a:noFill/>
          <a:ln/>
        </p:spPr>
        <p:txBody>
          <a:bodyPr wrap="square" lIns="0" tIns="0" rIns="0" bIns="0" rtlCol="0" anchor="t">
            <a:spAutoFit/>
          </a:bodyPr>
          <a:lstStyle/>
          <a:p>
            <a:pPr algn="l" indent="0" marL="0">
              <a:lnSpc>
                <a:spcPct val="112000"/>
              </a:lnSpc>
              <a:buNone/>
            </a:pPr>
            <a:r>
              <a:rPr lang="en-US" sz="3600" b="1" dirty="0">
                <a:solidFill>
                  <a:srgbClr val="F0F0E8"/>
                </a:solidFill>
                <a:latin typeface="Arial" pitchFamily="34" charset="0"/>
                <a:ea typeface="Arial" pitchFamily="34" charset="-122"/>
                <a:cs typeface="Arial" pitchFamily="34" charset="-120"/>
              </a:rPr>
              <a:t>Before accepting an agent's work,</a:t>
            </a:r>
            <a:endParaRPr lang="en-US" sz="3600" dirty="0"/>
          </a:p>
          <a:p>
            <a:pPr algn="l" indent="0" marL="0">
              <a:lnSpc>
                <a:spcPct val="112000"/>
              </a:lnSpc>
              <a:buNone/>
            </a:pPr>
            <a:r>
              <a:rPr lang="en-US" sz="3600" b="1" dirty="0">
                <a:solidFill>
                  <a:srgbClr val="F0F0E8"/>
                </a:solidFill>
                <a:latin typeface="Arial" pitchFamily="34" charset="0"/>
                <a:ea typeface="Arial" pitchFamily="34" charset="-122"/>
                <a:cs typeface="Arial" pitchFamily="34" charset="-120"/>
              </a:rPr>
              <a:t>identify every input that</a:t>
            </a:r>
            <a:endParaRPr lang="en-US" sz="3600" dirty="0"/>
          </a:p>
          <a:p>
            <a:pPr algn="l" indent="0" marL="0">
              <a:lnSpc>
                <a:spcPct val="112000"/>
              </a:lnSpc>
              <a:buNone/>
            </a:pPr>
            <a:r>
              <a:rPr lang="en-US" sz="3600" b="1" dirty="0">
                <a:solidFill>
                  <a:srgbClr val="F0F0E8"/>
                </a:solidFill>
                <a:latin typeface="Arial" pitchFamily="34" charset="0"/>
                <a:ea typeface="Arial" pitchFamily="34" charset="-122"/>
                <a:cs typeface="Arial" pitchFamily="34" charset="-120"/>
              </a:rPr>
              <a:t>can change the verdict.</a:t>
            </a:r>
            <a:endParaRPr lang="en-US" sz="3600" dirty="0"/>
          </a:p>
        </p:txBody>
      </p:sp>
      <p:sp>
        <p:nvSpPr>
          <p:cNvPr id="4" name="Shape 2"/>
          <p:cNvSpPr/>
          <p:nvPr/>
        </p:nvSpPr>
        <p:spPr>
          <a:xfrm>
            <a:off x="566928" y="4498848"/>
            <a:ext cx="11064240" cy="0"/>
          </a:xfrm>
          <a:prstGeom prst="line">
            <a:avLst/>
          </a:prstGeom>
          <a:noFill/>
          <a:ln w="9525">
            <a:solidFill>
              <a:srgbClr val="C7FF48"/>
            </a:solidFill>
            <a:prstDash val="solid"/>
          </a:ln>
        </p:spPr>
      </p:sp>
      <p:sp>
        <p:nvSpPr>
          <p:cNvPr id="5" name="Text 3"/>
          <p:cNvSpPr/>
          <p:nvPr/>
        </p:nvSpPr>
        <p:spPr>
          <a:xfrm>
            <a:off x="594360" y="4956048"/>
            <a:ext cx="10927080" cy="521208"/>
          </a:xfrm>
          <a:prstGeom prst="rect">
            <a:avLst/>
          </a:prstGeom>
          <a:noFill/>
          <a:ln/>
        </p:spPr>
        <p:txBody>
          <a:bodyPr wrap="square" lIns="0" tIns="0" rIns="0" bIns="0" rtlCol="0" anchor="t">
            <a:spAutoFit/>
          </a:bodyPr>
          <a:lstStyle/>
          <a:p>
            <a:pPr algn="l" indent="0" marL="0">
              <a:lnSpc>
                <a:spcPct val="112000"/>
              </a:lnSpc>
              <a:buNone/>
            </a:pPr>
            <a:r>
              <a:rPr lang="en-US" sz="2800" b="1" dirty="0">
                <a:solidFill>
                  <a:srgbClr val="C7FF48"/>
                </a:solidFill>
                <a:latin typeface="Courier New" pitchFamily="34" charset="0"/>
                <a:ea typeface="Courier New" pitchFamily="34" charset="-122"/>
                <a:cs typeface="Courier New" pitchFamily="34" charset="-120"/>
              </a:rPr>
              <a:t>github.com/zozo123/nyc-talk</a:t>
            </a:r>
            <a:endParaRPr lang="en-US" sz="2800" dirty="0"/>
          </a:p>
        </p:txBody>
      </p:sp>
      <p:sp>
        <p:nvSpPr>
          <p:cNvPr id="6" name="Text 4"/>
          <p:cNvSpPr/>
          <p:nvPr/>
        </p:nvSpPr>
        <p:spPr>
          <a:xfrm>
            <a:off x="612648" y="5614416"/>
            <a:ext cx="10881360" cy="393192"/>
          </a:xfrm>
          <a:prstGeom prst="rect">
            <a:avLst/>
          </a:prstGeom>
          <a:noFill/>
          <a:ln/>
        </p:spPr>
        <p:txBody>
          <a:bodyPr wrap="square" lIns="0" tIns="0" rIns="0" bIns="0" rtlCol="0" anchor="t">
            <a:spAutoFit/>
          </a:bodyPr>
          <a:lstStyle/>
          <a:p>
            <a:pPr algn="l" indent="0" marL="0">
              <a:lnSpc>
                <a:spcPct val="112000"/>
              </a:lnSpc>
              <a:buNone/>
            </a:pPr>
            <a:r>
              <a:rPr lang="en-US" sz="1800" dirty="0">
                <a:solidFill>
                  <a:srgbClr val="A7ADB3"/>
                </a:solidFill>
                <a:latin typeface="Arial" pitchFamily="34" charset="0"/>
                <a:ea typeface="Arial" pitchFamily="34" charset="-122"/>
                <a:cs typeface="Arial" pitchFamily="34" charset="-120"/>
              </a:rPr>
              <a:t>Source / recorded evidence / reproduction / limitations</a:t>
            </a:r>
            <a:endParaRPr lang="en-US" sz="1800" dirty="0"/>
          </a:p>
        </p:txBody>
      </p:sp>
      <p:sp>
        <p:nvSpPr>
          <p:cNvPr id="7" name="Shape 5"/>
          <p:cNvSpPr/>
          <p:nvPr/>
        </p:nvSpPr>
        <p:spPr>
          <a:xfrm>
            <a:off x="566928" y="5971032"/>
            <a:ext cx="11045952" cy="0"/>
          </a:xfrm>
          <a:prstGeom prst="line">
            <a:avLst/>
          </a:prstGeom>
          <a:noFill/>
          <a:ln w="9525">
            <a:solidFill>
              <a:srgbClr val="3C434B"/>
            </a:solidFill>
            <a:prstDash val="solid"/>
          </a:ln>
        </p:spPr>
      </p:sp>
      <p:sp>
        <p:nvSpPr>
          <p:cNvPr id="8" name="Text 6"/>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Freeze the candidate. Own the criteria. Release those bytes.</a:t>
            </a:r>
            <a:endParaRPr lang="en-US" sz="1800" dirty="0"/>
          </a:p>
        </p:txBody>
      </p:sp>
      <p:sp>
        <p:nvSpPr>
          <p:cNvPr id="9" name="Text 7"/>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YOSSI ELIAZ / OCT 21, 2026</a:t>
            </a:r>
            <a:endParaRPr lang="en-US" sz="850" dirty="0"/>
          </a:p>
        </p:txBody>
      </p:sp>
      <p:sp>
        <p:nvSpPr>
          <p:cNvPr id="10" name="Text 8"/>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12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SCOPE / DO NOT OVERCLAIM</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What these experiments establish</a:t>
            </a:r>
            <a:endParaRPr lang="en-US" sz="3200" dirty="0"/>
          </a:p>
        </p:txBody>
      </p:sp>
      <p:sp>
        <p:nvSpPr>
          <p:cNvPr id="4" name="Text 2"/>
          <p:cNvSpPr/>
          <p:nvPr/>
        </p:nvSpPr>
        <p:spPr>
          <a:xfrm>
            <a:off x="621792" y="196596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01</a:t>
            </a:r>
            <a:endParaRPr lang="en-US" sz="1200" dirty="0"/>
          </a:p>
        </p:txBody>
      </p:sp>
      <p:sp>
        <p:nvSpPr>
          <p:cNvPr id="5" name="Text 3"/>
          <p:cNvSpPr/>
          <p:nvPr/>
        </p:nvSpPr>
        <p:spPr>
          <a:xfrm>
            <a:off x="1133856" y="193395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Real Linux user, PID, IPC, UTS and network namespace / bind-mount experiments.</a:t>
            </a:r>
            <a:endParaRPr lang="en-US" sz="1750" dirty="0"/>
          </a:p>
        </p:txBody>
      </p:sp>
      <p:sp>
        <p:nvSpPr>
          <p:cNvPr id="6" name="Text 4"/>
          <p:cNvSpPr/>
          <p:nvPr/>
        </p:nvSpPr>
        <p:spPr>
          <a:xfrm>
            <a:off x="621792" y="2532888"/>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02</a:t>
            </a:r>
            <a:endParaRPr lang="en-US" sz="1200" dirty="0"/>
          </a:p>
        </p:txBody>
      </p:sp>
      <p:sp>
        <p:nvSpPr>
          <p:cNvPr id="7" name="Text 5"/>
          <p:cNvSpPr/>
          <p:nvPr/>
        </p:nvSpPr>
        <p:spPr>
          <a:xfrm>
            <a:off x="1133856" y="2500884"/>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Loopback HTTP fixture for credential and outbound-request cases.</a:t>
            </a:r>
            <a:endParaRPr lang="en-US" sz="1750" dirty="0"/>
          </a:p>
        </p:txBody>
      </p:sp>
      <p:sp>
        <p:nvSpPr>
          <p:cNvPr id="8" name="Text 6"/>
          <p:cNvSpPr/>
          <p:nvPr/>
        </p:nvSpPr>
        <p:spPr>
          <a:xfrm>
            <a:off x="621792" y="3099816"/>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03</a:t>
            </a:r>
            <a:endParaRPr lang="en-US" sz="1200" dirty="0"/>
          </a:p>
        </p:txBody>
      </p:sp>
      <p:sp>
        <p:nvSpPr>
          <p:cNvPr id="9" name="Text 7"/>
          <p:cNvSpPr/>
          <p:nvPr/>
        </p:nvSpPr>
        <p:spPr>
          <a:xfrm>
            <a:off x="1133856" y="3067812"/>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Admin case: deterministic status-code model, not a deployed HTTP service.</a:t>
            </a:r>
            <a:endParaRPr lang="en-US" sz="1750" dirty="0"/>
          </a:p>
        </p:txBody>
      </p:sp>
      <p:sp>
        <p:nvSpPr>
          <p:cNvPr id="10" name="Text 8"/>
          <p:cNvSpPr/>
          <p:nvPr/>
        </p:nvSpPr>
        <p:spPr>
          <a:xfrm>
            <a:off x="621792" y="3666744"/>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04</a:t>
            </a:r>
            <a:endParaRPr lang="en-US" sz="1200" dirty="0"/>
          </a:p>
        </p:txBody>
      </p:sp>
      <p:sp>
        <p:nvSpPr>
          <p:cNvPr id="11" name="Text 9"/>
          <p:cNvSpPr/>
          <p:nvPr/>
        </p:nvSpPr>
        <p:spPr>
          <a:xfrm>
            <a:off x="1133856" y="3634740"/>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Local factory execution is not a sandbox. Isolated execution uses bubblewrap.</a:t>
            </a:r>
            <a:endParaRPr lang="en-US" sz="1750" dirty="0"/>
          </a:p>
        </p:txBody>
      </p:sp>
      <p:sp>
        <p:nvSpPr>
          <p:cNvPr id="12" name="Text 10"/>
          <p:cNvSpPr/>
          <p:nvPr/>
        </p:nvSpPr>
        <p:spPr>
          <a:xfrm>
            <a:off x="621792" y="4233672"/>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05</a:t>
            </a:r>
            <a:endParaRPr lang="en-US" sz="1200" dirty="0"/>
          </a:p>
        </p:txBody>
      </p:sp>
      <p:sp>
        <p:nvSpPr>
          <p:cNvPr id="13" name="Text 11"/>
          <p:cNvSpPr/>
          <p:nvPr/>
        </p:nvSpPr>
        <p:spPr>
          <a:xfrm>
            <a:off x="1133856" y="4201668"/>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Finite policies and known fixtures; no model attack-success rate or vendor zero-day.</a:t>
            </a:r>
            <a:endParaRPr lang="en-US" sz="1750" dirty="0"/>
          </a:p>
        </p:txBody>
      </p:sp>
      <p:sp>
        <p:nvSpPr>
          <p:cNvPr id="14" name="Text 12"/>
          <p:cNvSpPr/>
          <p:nvPr/>
        </p:nvSpPr>
        <p:spPr>
          <a:xfrm>
            <a:off x="621792" y="480060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06</a:t>
            </a:r>
            <a:endParaRPr lang="en-US" sz="1200" dirty="0"/>
          </a:p>
        </p:txBody>
      </p:sp>
      <p:sp>
        <p:nvSpPr>
          <p:cNvPr id="15" name="Text 13"/>
          <p:cNvSpPr/>
          <p:nvPr/>
        </p:nvSpPr>
        <p:spPr>
          <a:xfrm>
            <a:off x="1133856" y="476859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Trusted controller, key, policy, store and host kernel; no general noninterference claim.</a:t>
            </a:r>
            <a:endParaRPr lang="en-US" sz="1750" dirty="0"/>
          </a:p>
        </p:txBody>
      </p:sp>
      <p:sp>
        <p:nvSpPr>
          <p:cNvPr id="16" name="Shape 14"/>
          <p:cNvSpPr/>
          <p:nvPr/>
        </p:nvSpPr>
        <p:spPr>
          <a:xfrm>
            <a:off x="566928" y="5971032"/>
            <a:ext cx="11045952" cy="0"/>
          </a:xfrm>
          <a:prstGeom prst="line">
            <a:avLst/>
          </a:prstGeom>
          <a:noFill/>
          <a:ln w="9525">
            <a:solidFill>
              <a:srgbClr val="3C434B"/>
            </a:solidFill>
            <a:prstDash val="solid"/>
          </a:ln>
        </p:spPr>
      </p:sp>
      <p:sp>
        <p:nvSpPr>
          <p:cNvPr id="17" name="Text 15"/>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Known mechanisms, explicit configurations and reproducible observations.</a:t>
            </a:r>
            <a:endParaRPr lang="en-US" sz="1800" dirty="0"/>
          </a:p>
        </p:txBody>
      </p:sp>
      <p:sp>
        <p:nvSpPr>
          <p:cNvPr id="18" name="Text 16"/>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APPENDIX / NOT IN THE 14-MINUTE DELIVERY</a:t>
            </a:r>
            <a:endParaRPr lang="en-US" sz="850" dirty="0"/>
          </a:p>
        </p:txBody>
      </p:sp>
      <p:sp>
        <p:nvSpPr>
          <p:cNvPr id="19" name="Text 17"/>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A1 / A4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REFERENCE-IMPLEMENTATION AUDIT / LIMITED THREAT SCOPE</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We found a defect in our own earlier gate.</a:t>
            </a:r>
            <a:endParaRPr lang="en-US" sz="3200" dirty="0"/>
          </a:p>
        </p:txBody>
      </p:sp>
      <p:sp>
        <p:nvSpPr>
          <p:cNvPr id="4" name="Text 2"/>
          <p:cNvSpPr/>
          <p:nvPr/>
        </p:nvSpPr>
        <p:spPr>
          <a:xfrm>
            <a:off x="621792" y="196596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01</a:t>
            </a:r>
            <a:endParaRPr lang="en-US" sz="1200" dirty="0"/>
          </a:p>
        </p:txBody>
      </p:sp>
      <p:sp>
        <p:nvSpPr>
          <p:cNvPr id="5" name="Text 3"/>
          <p:cNvSpPr/>
          <p:nvPr/>
        </p:nvSpPr>
        <p:spPr>
          <a:xfrm>
            <a:off x="1133856" y="193395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Baseline source: 4b06c519cff2ffcc69a8471f4f861a03f08f93a0.</a:t>
            </a:r>
            <a:endParaRPr lang="en-US" sz="1750" dirty="0"/>
          </a:p>
        </p:txBody>
      </p:sp>
      <p:sp>
        <p:nvSpPr>
          <p:cNvPr id="6" name="Text 4"/>
          <p:cNvSpPr/>
          <p:nvPr/>
        </p:nvSpPr>
        <p:spPr>
          <a:xfrm>
            <a:off x="621792" y="2532888"/>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02</a:t>
            </a:r>
            <a:endParaRPr lang="en-US" sz="1200" dirty="0"/>
          </a:p>
        </p:txBody>
      </p:sp>
      <p:sp>
        <p:nvSpPr>
          <p:cNvPr id="7" name="Text 5"/>
          <p:cNvSpPr/>
          <p:nvPr/>
        </p:nvSpPr>
        <p:spPr>
          <a:xfrm>
            <a:off x="1133856" y="2500884"/>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An exported mutable file map could change payload bytes without changing its stored digest.</a:t>
            </a:r>
            <a:endParaRPr lang="en-US" sz="1750" dirty="0"/>
          </a:p>
        </p:txBody>
      </p:sp>
      <p:sp>
        <p:nvSpPr>
          <p:cNvPr id="8" name="Text 6"/>
          <p:cNvSpPr/>
          <p:nvPr/>
        </p:nvSpPr>
        <p:spPr>
          <a:xfrm>
            <a:off x="621792" y="3099816"/>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03</a:t>
            </a:r>
            <a:endParaRPr lang="en-US" sz="1200" dirty="0"/>
          </a:p>
        </p:txBody>
      </p:sp>
      <p:sp>
        <p:nvSpPr>
          <p:cNvPr id="9" name="Text 7"/>
          <p:cNvSpPr/>
          <p:nvPr/>
        </p:nvSpPr>
        <p:spPr>
          <a:xfrm>
            <a:off x="1133856" y="3067812"/>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A direct in-process harness then observed PUBLISHED under the old digest.</a:t>
            </a:r>
            <a:endParaRPr lang="en-US" sz="1750" dirty="0"/>
          </a:p>
        </p:txBody>
      </p:sp>
      <p:sp>
        <p:nvSpPr>
          <p:cNvPr id="10" name="Text 8"/>
          <p:cNvSpPr/>
          <p:nvPr/>
        </p:nvSpPr>
        <p:spPr>
          <a:xfrm>
            <a:off x="621792" y="3666744"/>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04</a:t>
            </a:r>
            <a:endParaRPr lang="en-US" sz="1200" dirty="0"/>
          </a:p>
        </p:txBody>
      </p:sp>
      <p:sp>
        <p:nvSpPr>
          <p:cNvPr id="11" name="Text 9"/>
          <p:cNvSpPr/>
          <p:nvPr/>
        </p:nvSpPr>
        <p:spPr>
          <a:xfrm>
            <a:off x="1133856" y="3634740"/>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This did not establish that a sandboxed worker could mutate controller memory.</a:t>
            </a:r>
            <a:endParaRPr lang="en-US" sz="1750" dirty="0"/>
          </a:p>
        </p:txBody>
      </p:sp>
      <p:sp>
        <p:nvSpPr>
          <p:cNvPr id="12" name="Text 10"/>
          <p:cNvSpPr/>
          <p:nvPr/>
        </p:nvSpPr>
        <p:spPr>
          <a:xfrm>
            <a:off x="621792" y="4233672"/>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05</a:t>
            </a:r>
            <a:endParaRPr lang="en-US" sz="1200" dirty="0"/>
          </a:p>
        </p:txBody>
      </p:sp>
      <p:sp>
        <p:nvSpPr>
          <p:cNvPr id="13" name="Text 11"/>
          <p:cNvSpPr/>
          <p:nvPr/>
        </p:nvSpPr>
        <p:spPr>
          <a:xfrm>
            <a:off x="1133856" y="4201668"/>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Fix: immutable payload, derived identity, actual payload storage, atomic nonce consumption.</a:t>
            </a:r>
            <a:endParaRPr lang="en-US" sz="1750" dirty="0"/>
          </a:p>
        </p:txBody>
      </p:sp>
      <p:sp>
        <p:nvSpPr>
          <p:cNvPr id="14" name="Text 12"/>
          <p:cNvSpPr/>
          <p:nvPr/>
        </p:nvSpPr>
        <p:spPr>
          <a:xfrm>
            <a:off x="621792" y="480060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06</a:t>
            </a:r>
            <a:endParaRPr lang="en-US" sz="1200" dirty="0"/>
          </a:p>
        </p:txBody>
      </p:sp>
      <p:sp>
        <p:nvSpPr>
          <p:cNvPr id="15" name="Text 13"/>
          <p:cNvSpPr/>
          <p:nvPr/>
        </p:nvSpPr>
        <p:spPr>
          <a:xfrm>
            <a:off x="1133856" y="476859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Test repair: attempt substitution before nonce consumption, then publish the original bytes.</a:t>
            </a:r>
            <a:endParaRPr lang="en-US" sz="1750" dirty="0"/>
          </a:p>
        </p:txBody>
      </p:sp>
      <p:sp>
        <p:nvSpPr>
          <p:cNvPr id="16" name="Shape 14"/>
          <p:cNvSpPr/>
          <p:nvPr/>
        </p:nvSpPr>
        <p:spPr>
          <a:xfrm>
            <a:off x="566928" y="5971032"/>
            <a:ext cx="11045952" cy="0"/>
          </a:xfrm>
          <a:prstGeom prst="line">
            <a:avLst/>
          </a:prstGeom>
          <a:noFill/>
          <a:ln w="9525">
            <a:solidFill>
              <a:srgbClr val="3C434B"/>
            </a:solidFill>
            <a:prstDash val="solid"/>
          </a:ln>
        </p:spPr>
      </p:sp>
      <p:sp>
        <p:nvSpPr>
          <p:cNvPr id="17" name="Text 15"/>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The claim is an API-invariant defect and a repaired experiment, not a vendor exploit.</a:t>
            </a:r>
            <a:endParaRPr lang="en-US" sz="1800" dirty="0"/>
          </a:p>
        </p:txBody>
      </p:sp>
      <p:sp>
        <p:nvSpPr>
          <p:cNvPr id="18" name="Text 16"/>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APPENDIX / NOT IN THE 14-MINUTE DELIVERY</a:t>
            </a:r>
            <a:endParaRPr lang="en-US" sz="850" dirty="0"/>
          </a:p>
        </p:txBody>
      </p:sp>
      <p:sp>
        <p:nvSpPr>
          <p:cNvPr id="19" name="Text 17"/>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A2 / A4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OFFLINE DELIVERY / ONLINE REPRODUCTION</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Reproduce without a live stage dependency.</a:t>
            </a:r>
            <a:endParaRPr lang="en-US" sz="3200" dirty="0"/>
          </a:p>
        </p:txBody>
      </p:sp>
      <p:sp>
        <p:nvSpPr>
          <p:cNvPr id="4" name="Text 2"/>
          <p:cNvSpPr/>
          <p:nvPr/>
        </p:nvSpPr>
        <p:spPr>
          <a:xfrm>
            <a:off x="621792" y="196596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01</a:t>
            </a:r>
            <a:endParaRPr lang="en-US" sz="1200" dirty="0"/>
          </a:p>
        </p:txBody>
      </p:sp>
      <p:sp>
        <p:nvSpPr>
          <p:cNvPr id="5" name="Text 3"/>
          <p:cNvSpPr/>
          <p:nvPr/>
        </p:nvSpPr>
        <p:spPr>
          <a:xfrm>
            <a:off x="1133856" y="193395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make test       # gate regression tests; no cloud</a:t>
            </a:r>
            <a:endParaRPr lang="en-US" sz="1750" dirty="0"/>
          </a:p>
        </p:txBody>
      </p:sp>
      <p:sp>
        <p:nvSpPr>
          <p:cNvPr id="6" name="Text 4"/>
          <p:cNvSpPr/>
          <p:nvPr/>
        </p:nvSpPr>
        <p:spPr>
          <a:xfrm>
            <a:off x="621792" y="2532888"/>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02</a:t>
            </a:r>
            <a:endParaRPr lang="en-US" sz="1200" dirty="0"/>
          </a:p>
        </p:txBody>
      </p:sp>
      <p:sp>
        <p:nvSpPr>
          <p:cNvPr id="7" name="Text 5"/>
          <p:cNvSpPr/>
          <p:nvPr/>
        </p:nvSpPr>
        <p:spPr>
          <a:xfrm>
            <a:off x="1133856" y="2500884"/>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make factory    # local committed-fixture logic; no OS containment claim</a:t>
            </a:r>
            <a:endParaRPr lang="en-US" sz="1750" dirty="0"/>
          </a:p>
        </p:txBody>
      </p:sp>
      <p:sp>
        <p:nvSpPr>
          <p:cNvPr id="8" name="Text 6"/>
          <p:cNvSpPr/>
          <p:nvPr/>
        </p:nvSpPr>
        <p:spPr>
          <a:xfrm>
            <a:off x="621792" y="3099816"/>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03</a:t>
            </a:r>
            <a:endParaRPr lang="en-US" sz="1200" dirty="0"/>
          </a:p>
        </p:txBody>
      </p:sp>
      <p:sp>
        <p:nvSpPr>
          <p:cNvPr id="9" name="Text 7"/>
          <p:cNvSpPr/>
          <p:nvPr/>
        </p:nvSpPr>
        <p:spPr>
          <a:xfrm>
            <a:off x="1133856" y="3067812"/>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make isolated   # Linux + bubblewrap; records both experiment suites</a:t>
            </a:r>
            <a:endParaRPr lang="en-US" sz="1750" dirty="0"/>
          </a:p>
        </p:txBody>
      </p:sp>
      <p:sp>
        <p:nvSpPr>
          <p:cNvPr id="10" name="Text 8"/>
          <p:cNvSpPr/>
          <p:nvPr/>
        </p:nvSpPr>
        <p:spPr>
          <a:xfrm>
            <a:off x="621792" y="3666744"/>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04</a:t>
            </a:r>
            <a:endParaRPr lang="en-US" sz="1200" dirty="0"/>
          </a:p>
        </p:txBody>
      </p:sp>
      <p:sp>
        <p:nvSpPr>
          <p:cNvPr id="11" name="Text 9"/>
          <p:cNvSpPr/>
          <p:nvPr/>
        </p:nvSpPr>
        <p:spPr>
          <a:xfrm>
            <a:off x="1133856" y="3634740"/>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make deck       # verify evidence hashes, compile Beamer PDF</a:t>
            </a:r>
            <a:endParaRPr lang="en-US" sz="1750" dirty="0"/>
          </a:p>
        </p:txBody>
      </p:sp>
      <p:sp>
        <p:nvSpPr>
          <p:cNvPr id="12" name="Text 10"/>
          <p:cNvSpPr/>
          <p:nvPr/>
        </p:nvSpPr>
        <p:spPr>
          <a:xfrm>
            <a:off x="621792" y="4233672"/>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05</a:t>
            </a:r>
            <a:endParaRPr lang="en-US" sz="1200" dirty="0"/>
          </a:p>
        </p:txBody>
      </p:sp>
      <p:sp>
        <p:nvSpPr>
          <p:cNvPr id="13" name="Text 11"/>
          <p:cNvSpPr/>
          <p:nvPr/>
        </p:nvSpPr>
        <p:spPr>
          <a:xfrm>
            <a:off x="1133856" y="4201668"/>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make pptx       # editable PowerPoint mirror from the same slide content</a:t>
            </a:r>
            <a:endParaRPr lang="en-US" sz="1750" dirty="0"/>
          </a:p>
        </p:txBody>
      </p:sp>
      <p:sp>
        <p:nvSpPr>
          <p:cNvPr id="14" name="Text 12"/>
          <p:cNvSpPr/>
          <p:nvPr/>
        </p:nvSpPr>
        <p:spPr>
          <a:xfrm>
            <a:off x="621792" y="480060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06</a:t>
            </a:r>
            <a:endParaRPr lang="en-US" sz="1200" dirty="0"/>
          </a:p>
        </p:txBody>
      </p:sp>
      <p:sp>
        <p:nvSpPr>
          <p:cNvPr id="15" name="Text 13"/>
          <p:cNvSpPr/>
          <p:nvPr/>
        </p:nvSpPr>
        <p:spPr>
          <a:xfrm>
            <a:off x="1133856" y="476859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Courier New" pitchFamily="34" charset="0"/>
                <a:ea typeface="Courier New" pitchFamily="34" charset="-122"/>
                <a:cs typeface="Courier New" pitchFamily="34" charset="-120"/>
              </a:rPr>
              <a:t>Stage uses the frozen PDF. Optional recorded replay never substitutes for a new execution.</a:t>
            </a:r>
            <a:endParaRPr lang="en-US" sz="1750" dirty="0"/>
          </a:p>
        </p:txBody>
      </p:sp>
      <p:sp>
        <p:nvSpPr>
          <p:cNvPr id="16" name="Shape 14"/>
          <p:cNvSpPr/>
          <p:nvPr/>
        </p:nvSpPr>
        <p:spPr>
          <a:xfrm>
            <a:off x="566928" y="5971032"/>
            <a:ext cx="11045952" cy="0"/>
          </a:xfrm>
          <a:prstGeom prst="line">
            <a:avLst/>
          </a:prstGeom>
          <a:noFill/>
          <a:ln w="9525">
            <a:solidFill>
              <a:srgbClr val="3C434B"/>
            </a:solidFill>
            <a:prstDash val="solid"/>
          </a:ln>
        </p:spPr>
      </p:sp>
      <p:sp>
        <p:nvSpPr>
          <p:cNvPr id="17" name="Text 15"/>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No secrets, live model, Wi-Fi or cloud quota is required to deliver the talk.</a:t>
            </a:r>
            <a:endParaRPr lang="en-US" sz="1800" dirty="0"/>
          </a:p>
        </p:txBody>
      </p:sp>
      <p:sp>
        <p:nvSpPr>
          <p:cNvPr id="18" name="Text 16"/>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APPENDIX / NOT IN THE 14-MINUTE DELIVERY</a:t>
            </a:r>
            <a:endParaRPr lang="en-US" sz="850" dirty="0"/>
          </a:p>
        </p:txBody>
      </p:sp>
      <p:sp>
        <p:nvSpPr>
          <p:cNvPr id="19" name="Text 17"/>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A3 / A4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214"/>
        </a:solidFill>
      </p:bgPr>
    </p:bg>
    <p:spTree>
      <p:nvGrpSpPr>
        <p:cNvPr id="1" name=""/>
        <p:cNvGrpSpPr/>
        <p:nvPr/>
      </p:nvGrpSpPr>
      <p:grpSpPr>
        <a:xfrm>
          <a:off x="0" y="0"/>
          <a:ext cx="0" cy="0"/>
          <a:chOff x="0" y="0"/>
          <a:chExt cx="0" cy="0"/>
        </a:xfrm>
      </p:grpSpPr>
      <p:sp>
        <p:nvSpPr>
          <p:cNvPr id="2" name="Text 0"/>
          <p:cNvSpPr/>
          <p:nvPr/>
        </p:nvSpPr>
        <p:spPr>
          <a:xfrm>
            <a:off x="566928" y="338328"/>
            <a:ext cx="11018520" cy="292608"/>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Arial" pitchFamily="34" charset="0"/>
                <a:ea typeface="Arial" pitchFamily="34" charset="-122"/>
                <a:cs typeface="Arial" pitchFamily="34" charset="-120"/>
              </a:rPr>
              <a:t>PRIMARY SOURCES / NO NOVELTY CLAIM FOR KNOWN MECHANISMS</a:t>
            </a:r>
            <a:endParaRPr lang="en-US" sz="1200" dirty="0"/>
          </a:p>
        </p:txBody>
      </p:sp>
      <p:sp>
        <p:nvSpPr>
          <p:cNvPr id="3" name="Text 1"/>
          <p:cNvSpPr/>
          <p:nvPr/>
        </p:nvSpPr>
        <p:spPr>
          <a:xfrm>
            <a:off x="566928" y="832104"/>
            <a:ext cx="10972800" cy="914400"/>
          </a:xfrm>
          <a:prstGeom prst="rect">
            <a:avLst/>
          </a:prstGeom>
          <a:noFill/>
          <a:ln/>
        </p:spPr>
        <p:txBody>
          <a:bodyPr wrap="square" lIns="0" tIns="0" rIns="0" bIns="0" rtlCol="0" anchor="t">
            <a:spAutoFit/>
          </a:bodyPr>
          <a:lstStyle/>
          <a:p>
            <a:pPr algn="l" indent="0" marL="0">
              <a:lnSpc>
                <a:spcPct val="112000"/>
              </a:lnSpc>
              <a:buNone/>
            </a:pPr>
            <a:r>
              <a:rPr lang="en-US" sz="3200" b="1" dirty="0">
                <a:solidFill>
                  <a:srgbClr val="F0F0E8"/>
                </a:solidFill>
                <a:latin typeface="Arial" pitchFamily="34" charset="0"/>
                <a:ea typeface="Arial" pitchFamily="34" charset="-122"/>
                <a:cs typeface="Arial" pitchFamily="34" charset="-120"/>
              </a:rPr>
              <a:t>Sources and prior work</a:t>
            </a:r>
            <a:endParaRPr lang="en-US" sz="3200" dirty="0"/>
          </a:p>
        </p:txBody>
      </p:sp>
      <p:sp>
        <p:nvSpPr>
          <p:cNvPr id="4" name="Text 2"/>
          <p:cNvSpPr/>
          <p:nvPr/>
        </p:nvSpPr>
        <p:spPr>
          <a:xfrm>
            <a:off x="621792" y="1965960"/>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01</a:t>
            </a:r>
            <a:endParaRPr lang="en-US" sz="1200" dirty="0"/>
          </a:p>
        </p:txBody>
      </p:sp>
      <p:sp>
        <p:nvSpPr>
          <p:cNvPr id="5" name="Text 3"/>
          <p:cNvSpPr/>
          <p:nvPr/>
        </p:nvSpPr>
        <p:spPr>
          <a:xfrm>
            <a:off x="1133856" y="1933956"/>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Experiment code and evidence: github.com/zozo123/nyc-talk</a:t>
            </a:r>
            <a:endParaRPr lang="en-US" sz="1750" dirty="0"/>
          </a:p>
        </p:txBody>
      </p:sp>
      <p:sp>
        <p:nvSpPr>
          <p:cNvPr id="6" name="Text 4"/>
          <p:cNvSpPr/>
          <p:nvPr/>
        </p:nvSpPr>
        <p:spPr>
          <a:xfrm>
            <a:off x="621792" y="2532888"/>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02</a:t>
            </a:r>
            <a:endParaRPr lang="en-US" sz="1200" dirty="0"/>
          </a:p>
        </p:txBody>
      </p:sp>
      <p:sp>
        <p:nvSpPr>
          <p:cNvPr id="7" name="Text 5"/>
          <p:cNvSpPr/>
          <p:nvPr/>
        </p:nvSpPr>
        <p:spPr>
          <a:xfrm>
            <a:off x="1133856" y="2500884"/>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Bubblewrap security model: github.com/containers/bubblewrap</a:t>
            </a:r>
            <a:endParaRPr lang="en-US" sz="1750" dirty="0"/>
          </a:p>
        </p:txBody>
      </p:sp>
      <p:sp>
        <p:nvSpPr>
          <p:cNvPr id="8" name="Text 6"/>
          <p:cNvSpPr/>
          <p:nvPr/>
        </p:nvSpPr>
        <p:spPr>
          <a:xfrm>
            <a:off x="621792" y="3099816"/>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03</a:t>
            </a:r>
            <a:endParaRPr lang="en-US" sz="1200" dirty="0"/>
          </a:p>
        </p:txBody>
      </p:sp>
      <p:sp>
        <p:nvSpPr>
          <p:cNvPr id="9" name="Text 7"/>
          <p:cNvSpPr/>
          <p:nvPr/>
        </p:nvSpPr>
        <p:spPr>
          <a:xfrm>
            <a:off x="1133856" y="3067812"/>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SLSA v1.2: verifying provenance against the actual artifact and expected policy.</a:t>
            </a:r>
            <a:endParaRPr lang="en-US" sz="1750" dirty="0"/>
          </a:p>
        </p:txBody>
      </p:sp>
      <p:sp>
        <p:nvSpPr>
          <p:cNvPr id="10" name="Text 8"/>
          <p:cNvSpPr/>
          <p:nvPr/>
        </p:nvSpPr>
        <p:spPr>
          <a:xfrm>
            <a:off x="621792" y="3666744"/>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04</a:t>
            </a:r>
            <a:endParaRPr lang="en-US" sz="1200" dirty="0"/>
          </a:p>
        </p:txBody>
      </p:sp>
      <p:sp>
        <p:nvSpPr>
          <p:cNvPr id="11" name="Text 9"/>
          <p:cNvSpPr/>
          <p:nvPr/>
        </p:nvSpPr>
        <p:spPr>
          <a:xfrm>
            <a:off x="1133856" y="3634740"/>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Anthropic, Nov 21, 2025: reward hacking in deliberately vulnerable coding training settings.</a:t>
            </a:r>
            <a:endParaRPr lang="en-US" sz="1750" dirty="0"/>
          </a:p>
        </p:txBody>
      </p:sp>
      <p:sp>
        <p:nvSpPr>
          <p:cNvPr id="12" name="Text 10"/>
          <p:cNvSpPr/>
          <p:nvPr/>
        </p:nvSpPr>
        <p:spPr>
          <a:xfrm>
            <a:off x="621792" y="4233672"/>
            <a:ext cx="448056" cy="320040"/>
          </a:xfrm>
          <a:prstGeom prst="rect">
            <a:avLst/>
          </a:prstGeom>
          <a:noFill/>
          <a:ln/>
        </p:spPr>
        <p:txBody>
          <a:bodyPr wrap="square" lIns="0" tIns="0" rIns="0" bIns="0" rtlCol="0" anchor="t">
            <a:spAutoFit/>
          </a:bodyPr>
          <a:lstStyle/>
          <a:p>
            <a:pPr algn="l" indent="0" marL="0">
              <a:lnSpc>
                <a:spcPct val="112000"/>
              </a:lnSpc>
              <a:buNone/>
            </a:pPr>
            <a:r>
              <a:rPr lang="en-US" sz="1200" b="1" dirty="0">
                <a:solidFill>
                  <a:srgbClr val="C7FF48"/>
                </a:solidFill>
                <a:latin typeface="Courier New" pitchFamily="34" charset="0"/>
                <a:ea typeface="Courier New" pitchFamily="34" charset="-122"/>
                <a:cs typeface="Courier New" pitchFamily="34" charset="-120"/>
              </a:rPr>
              <a:t>05</a:t>
            </a:r>
            <a:endParaRPr lang="en-US" sz="1200" dirty="0"/>
          </a:p>
        </p:txBody>
      </p:sp>
      <p:sp>
        <p:nvSpPr>
          <p:cNvPr id="13" name="Text 11"/>
          <p:cNvSpPr/>
          <p:nvPr/>
        </p:nvSpPr>
        <p:spPr>
          <a:xfrm>
            <a:off x="1133856" y="4201668"/>
            <a:ext cx="10204704" cy="484632"/>
          </a:xfrm>
          <a:prstGeom prst="rect">
            <a:avLst/>
          </a:prstGeom>
          <a:noFill/>
          <a:ln/>
        </p:spPr>
        <p:txBody>
          <a:bodyPr wrap="square" lIns="0" tIns="0" rIns="0" bIns="0" rtlCol="0" anchor="t">
            <a:spAutoFit/>
          </a:bodyPr>
          <a:lstStyle/>
          <a:p>
            <a:pPr algn="l" indent="0" marL="0">
              <a:lnSpc>
                <a:spcPct val="112000"/>
              </a:lnSpc>
              <a:buNone/>
            </a:pPr>
            <a:r>
              <a:rPr lang="en-US" sz="1750" dirty="0">
                <a:solidFill>
                  <a:srgbClr val="F0F0E8"/>
                </a:solidFill>
                <a:latin typeface="Arial" pitchFamily="34" charset="0"/>
                <a:ea typeface="Arial" pitchFamily="34" charset="-122"/>
                <a:cs typeface="Arial" pitchFamily="34" charset="-120"/>
              </a:rPr>
              <a:t>Event: Zenity AI Agent Security Summit, New York, October 21, 2026.</a:t>
            </a:r>
            <a:endParaRPr lang="en-US" sz="1750" dirty="0"/>
          </a:p>
        </p:txBody>
      </p:sp>
      <p:sp>
        <p:nvSpPr>
          <p:cNvPr id="14" name="Shape 12"/>
          <p:cNvSpPr/>
          <p:nvPr/>
        </p:nvSpPr>
        <p:spPr>
          <a:xfrm>
            <a:off x="566928" y="5971032"/>
            <a:ext cx="11045952" cy="0"/>
          </a:xfrm>
          <a:prstGeom prst="line">
            <a:avLst/>
          </a:prstGeom>
          <a:noFill/>
          <a:ln w="9525">
            <a:solidFill>
              <a:srgbClr val="3C434B"/>
            </a:solidFill>
            <a:prstDash val="solid"/>
          </a:ln>
        </p:spPr>
      </p:sp>
      <p:sp>
        <p:nvSpPr>
          <p:cNvPr id="15" name="Text 13"/>
          <p:cNvSpPr/>
          <p:nvPr/>
        </p:nvSpPr>
        <p:spPr>
          <a:xfrm>
            <a:off x="585216" y="6144768"/>
            <a:ext cx="11009376" cy="420624"/>
          </a:xfrm>
          <a:prstGeom prst="rect">
            <a:avLst/>
          </a:prstGeom>
          <a:noFill/>
          <a:ln/>
        </p:spPr>
        <p:txBody>
          <a:bodyPr wrap="square" lIns="0" tIns="0" rIns="0" bIns="0" rtlCol="0" anchor="t">
            <a:spAutoFit/>
          </a:bodyPr>
          <a:lstStyle/>
          <a:p>
            <a:pPr algn="l" indent="0" marL="0">
              <a:lnSpc>
                <a:spcPct val="112000"/>
              </a:lnSpc>
              <a:buNone/>
            </a:pPr>
            <a:r>
              <a:rPr lang="en-US" sz="1800" b="1" dirty="0">
                <a:solidFill>
                  <a:srgbClr val="C7FF48"/>
                </a:solidFill>
                <a:latin typeface="Arial" pitchFamily="34" charset="0"/>
                <a:ea typeface="Arial" pitchFamily="34" charset="-122"/>
                <a:cs typeface="Arial" pitchFamily="34" charset="-120"/>
              </a:rPr>
              <a:t>This contribution is the paired, replayable boundary test and its acceptance design.</a:t>
            </a:r>
            <a:endParaRPr lang="en-US" sz="1800" dirty="0"/>
          </a:p>
        </p:txBody>
      </p:sp>
      <p:sp>
        <p:nvSpPr>
          <p:cNvPr id="16" name="Text 14"/>
          <p:cNvSpPr/>
          <p:nvPr/>
        </p:nvSpPr>
        <p:spPr>
          <a:xfrm>
            <a:off x="585216" y="6620256"/>
            <a:ext cx="9144000" cy="164592"/>
          </a:xfrm>
          <a:prstGeom prst="rect">
            <a:avLst/>
          </a:prstGeom>
          <a:noFill/>
          <a:ln/>
        </p:spPr>
        <p:txBody>
          <a:bodyPr wrap="square" lIns="0" tIns="0" rIns="0" bIns="0" rtlCol="0" anchor="t">
            <a:spAutoFit/>
          </a:bodyPr>
          <a:lstStyle/>
          <a:p>
            <a:pPr algn="l" indent="0" marL="0">
              <a:lnSpc>
                <a:spcPct val="112000"/>
              </a:lnSpc>
              <a:buNone/>
            </a:pPr>
            <a:r>
              <a:rPr lang="en-US" sz="850" dirty="0">
                <a:solidFill>
                  <a:srgbClr val="A7ADB3"/>
                </a:solidFill>
                <a:latin typeface="Arial" pitchFamily="34" charset="0"/>
                <a:ea typeface="Arial" pitchFamily="34" charset="-122"/>
                <a:cs typeface="Arial" pitchFamily="34" charset="-120"/>
              </a:rPr>
              <a:t>APPENDIX / NOT IN THE 14-MINUTE DELIVERY</a:t>
            </a:r>
            <a:endParaRPr lang="en-US" sz="850" dirty="0"/>
          </a:p>
        </p:txBody>
      </p:sp>
      <p:sp>
        <p:nvSpPr>
          <p:cNvPr id="17" name="Text 15"/>
          <p:cNvSpPr/>
          <p:nvPr/>
        </p:nvSpPr>
        <p:spPr>
          <a:xfrm>
            <a:off x="10789920" y="6583680"/>
            <a:ext cx="822960" cy="210312"/>
          </a:xfrm>
          <a:prstGeom prst="rect">
            <a:avLst/>
          </a:prstGeom>
          <a:noFill/>
          <a:ln/>
        </p:spPr>
        <p:txBody>
          <a:bodyPr wrap="square" lIns="0" tIns="0" rIns="0" bIns="0" rtlCol="0" anchor="t">
            <a:spAutoFit/>
          </a:bodyPr>
          <a:lstStyle/>
          <a:p>
            <a:pPr algn="r" indent="0" marL="0">
              <a:lnSpc>
                <a:spcPct val="112000"/>
              </a:lnSpc>
              <a:buNone/>
            </a:pPr>
            <a:r>
              <a:rPr lang="en-US" sz="1000" dirty="0">
                <a:solidFill>
                  <a:srgbClr val="A7ADB3"/>
                </a:solidFill>
                <a:latin typeface="Courier New" pitchFamily="34" charset="0"/>
                <a:ea typeface="Courier New" pitchFamily="34" charset="-122"/>
                <a:cs typeface="Courier New" pitchFamily="34" charset="-120"/>
              </a:rPr>
              <a:t>A4 / A4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Incredibuild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Agent Escaped Without Escaping the Sandbox</dc:title>
  <dc:subject>Reproducible agent authority-boundary experiments</dc:subject>
  <dc:creator>Yossi Eliaz</dc:creator>
  <cp:lastModifiedBy>Yossi Eliaz</cp:lastModifiedBy>
  <cp:revision>1</cp:revision>
  <dcterms:created xsi:type="dcterms:W3CDTF">2026-09-20T11:29:06Z</dcterms:created>
  <dcterms:modified xsi:type="dcterms:W3CDTF">2026-09-20T11:29:06Z</dcterms:modified>
</cp:coreProperties>
</file>