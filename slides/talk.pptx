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00:00-00:35
Start on the title. Do not introduce the company or sell a product.
You ask a coding agent to fix authorization. Its checker reports PASS. The checker file has exactly the same hash as before. The unauthenticated admin case still returns two hundred.
I am Yossi Eliaz. I will show how that happens, alongside three other failures that use capabilities we deliberately give a worker. Every demonstration uses synthetic fixtures. The worker scripts are deterministic, so we can inspect the mechanism without debating what a model intended.
[Sources]
https://zenity.io/resources/events/ai-agent-security-summit-2026
https://github.com/zozo123/nyc-talk/tree/main/factory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00:35-01:25
Point to the boundary. State assumptions before showing attacks.
Here is the threat model. Treat the worker as an arbitrary task program. It can edit its code and writable files, invoke its tools, and ask for its output to be published. We trust the controller and the operating-system boundary. We do not give the worker the controller's key or storage.
In the isolated runs, Linux user, PID, and mount namespaces really are different. Network access is disabled where the experiment requires it. The question is what authority remains through the interfaces we intentionally leave open.
I will use four concrete interfaces: a credential, a shared mount, an upload operation, and the inputs to a checker. For each fix, the legitimate task must still work.
[Sources]
https://github.com/zozo123/nyc-talk/blob/main/lab/run.py
https://github.com/zozo123/nyc-talk/blob/main/research/INVARIANTS.md
https://github.com/containers/bubblewrap#sandbox-security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01:25-02:35
Read 200, then 403, then the legitimate 200. The tokens are public fixtures.
The task needs one input. We start the worker with a synthetic runner token inherited through its environment. That token is broader than the task. The worker asks the service for another project's private fixture. The service returns two hundred and the fixture bytes.
The process has not escaped. The service has accepted a credential we placed inside it.
Now use the task token. The same request returns four-oh-three. The authorized task input still returns two hundred. The service also rejects an expired token and a token for the wrong audience.
The important control is enforced scope. A short expiry reduces the exposure window, but a broad token can still do damage before it expires. Project only the grant this task needs, and validate that grant at the resource. These token strings and the private data on this slide are fixtures, not live credentials.
[Sources]
https://github.com/zozo123/nyc-talk/blob/main/lab/run.py
https://github.com/zozo123/nyc-talk/blob/main/evidence/results.json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02:35-03:40
Do not call this a filesystem escape. The write follows the mount policy.
The second interface is a shared directory. In the first configuration it is writable. The worker performs an ordinary file write, and the next-job fixture on the host changes. The mount is doing exactly what we configured it to do.
We repeat the same operation with a read-only bind. The write is denied and the host fixture remains unchanged. A separate output mount still accepts the legitimate patch.
That positive control matters. We did not fix the system by making the agent unable to work.
For a system that forks snapshots or reuses workspaces, ask which writable state crosses into the next task. That is an architectural implication of sharing those bytes; we did not measure a snapshot attack here. In this experiment, the demonstrated boundary is the bind mount.
[Sources]
https://github.com/zozo123/nyc-talk/blob/main/lab/run.py
https://github.com/zozo123/nyc-talk/blob/main/evidence/results.json
https://github.com/containers/bubblewrap#sandbox-security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03:40-05:00
Explain that the service permits both account paths by design. This is a capability mistake.
Here the task needs to publish a completion report. Our synthetic upload service supports a team report path and another account's upload path. Both live on the same service. The worker sends the private fixture to the other path. The service returns created, and we inspect its receiving-side delivery record to confirm the bytes arrived.
A hostname decision cannot express which account should receive which data. This fixture models that distinction; it is not a test of an enterprise firewall or a SaaS vendor.
In the corrected configuration the worker has no direct route to the service. It can request one operation from a broker. The broker constructs the destination and a fixed body itself. Recipient, payload, and URL overrides are rejected. The legitimate report still arrives.
Both parts matter: the broker must constrain the operation, and the worker must not bypass it. This deliberately narrow reporting interface does not prove that every free-form output channel is free of exfiltration.
[Sources]
https://github.com/zozo123/nyc-talk/blob/main/lab/run.py
https://github.com/zozo123/nyc-talk/blob/main/evidence/results.json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05:00-06:25
Pause after "Its answer key is not." This is the central reveal.
Now the fourth interface: the meaning of done. The policy says the unauthenticated admin case must return four-oh-one. The candidate is an intentionally broken handler that always returns two hundred. It is a small status-code model, invoked as a Python program, not a deployed web server.
We put the checker on a read-only mount. With the honest answer key, it reports FAIL. The worker attempts to overwrite the checker and the operating system denies the write.
But the checker reads expected dot json from the workspace. The worker changes that file to expect two hundred. The checker now reports PASS. Its SHA-256 is unchanged. The broken handler's bytes are unchanged too.
The failure is in what the checker trusts. Hashing its source does not bind the specification it loads. A separate machine would not repair this dependency if we copied the same worker-controlled answer key into it. The isolation experiment is recorded; the second-machine statement is the consequence of that dependency, not a separate measured trial.
[Sources]
https://github.com/zozo123/nyc-talk/blob/main/factory/isolated.py
https://github.com/zozo123/nyc-talk/blob/main/factory/core.py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06:25-08:00
Walk one row at a time. PASS here means the weak checker was fooled, not that the app is safe.
This comparison is the evidence. Follow the first three rows: the candidate does not change. With the honest workspace key, the weak checker fails it. After the worker changes the key, the same checker passes it. With controller-owned expectations, those same candidate bytes are rejected.
Then the positive control: the corrected handler is accepted. We test five cases. An anonymous admin request is four-oh-one. An administrator receives two hundred. An ordinary user receives four-oh-three. The public route returns two hundred. An expired credential receives four-oh-one.
The always-two-hundred candidate fails three of those expectations. The corrected candidate meets all five.
This is a deterministic reproduction of a known trust-boundary failure. It does not tell us how often a language model discovers the trick, and five cases do not establish universal application security. What it establishes is narrower and useful: moving the answer key outside worker control changes the decision while we hold the bad artifact fixed. That is the experiment to repeat against your own acceptance pipeline.
[Sources]
https://github.com/zozo123/nyc-talk/blob/main/factory/isolated.py
https://github.com/zozo123/nyc-talk/blob/main/research/RESULTS.md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08:00-09:20
Point to the worker/controller split, not just the left-to-right arrows.
The repair has a sequence. Copy the candidate into a narrow frozen representation. Execute those bytes with a read-only candidate mount. The controller compares observed outputs against expectations the worker cannot rewrite.
Only that controller can issue the approval. The approval binds the artifact manifest, verifier, expected results, policy, environment description, task, run, a fresh nonce, and an expiry. Publication rechecks that context and stores the exact approved bytes.
In this repository, publication is a local SQLite transaction. It is a runnable model of the release boundary, not a claim that we integrated with a production deployment system. Consuming the nonce and storing the bytes happen together.
The trust assumption remains important: the worker cannot access the controller key, database, or comparison code. A local Python subprocess with isolated-import flags is not an operating-system sandbox. That is why the local protocol tests and the Linux isolation experiments are separate evidence classes. A hash chain supports integrity checking; it does not decide whether the application behavior meets policy.
[Sources]
https://github.com/zozo123/nyc-talk/blob/main/factory/core.py
https://github.com/zozo123/nyc-talk/blob/main/factory/isolated.py
https://slsa.dev/spec/v1.2/verifying-artifacts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09:20-10:35
Emphasize FRESH. Keep the controller-API audit in the appendix unless asked.
Now attack the approval protocol itself. Take a fresh, unused approval for the good candidate and offer different bytes. The gate must deny it. Immediately offer the original good bytes with that same approval. They must still publish. Only then test replay.
That ordering prevents a misleading test: if you consume the nonce first, a substitution test can pass because the nonce is already used, even when artifact binding is broken. We corrected that ordering in this repository.
We also hardened our frozen representation and made publication store bytes instead of only a success marker. The appendix records the baseline flaw as controller API misuse. We have not demonstrated a worker crossing the OS boundary to reach those objects.
Finally, distinguish rejection from missing evidence. A timed-out or malformed execution produces no approval. That is a fail-closed outcome, but it is not proof that the candidate met the policy. Keep that distinction in the dashboard and in the release logic.
[Sources]
https://github.com/zozo123/nyc-talk/blob/main/tests/test_factory.py
https://github.com/zozo123/nyc-talk/blob/main/research/AUDIT.md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10:35-11:40
Connect to software factories without adding untested phase/temperature claims.
This matters when one worker becomes a software factory. You may have a builder, a reviewer, and a judge. They may run different models or use different prompts. But if all three read a writable answer key produced by the builder, you have replicated the dependency.
Trace who can write the specification, fixtures, dependencies, evidence, and final approval. A second role or a second machine is not automatically a second authority boundary.
You can still let many workers explore, generate competing patches, and propose tests. Keep those proposals distinct from the criteria authorized to promote a release. The final publication path should accept only an approval bound to the selected artifact and decision context.
That is an architectural inference from the dependency we just measured. We are not presenting a multi-agent benchmark or claiming that changing model temperature is a security control.
[Sources]
https://github.com/zozo123/nyc-talk/blob/main/research/INVARIANTS.md
https://github.com/zozo123/nyc-talk/blob/main/factory/isolated.py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11:40-13:10
This is the audience photo slide. Give it a pause.
These are the four tests I would take back to a deployment review.
Use the worker's credential to ask for another project's data. The resource should deny it while the real task input remains available.
Attempt a write outside the task's output area. Confirm the shared input stays unchanged and the legitimate patch still appears.
Try to change the recipient or body of the permitted report. Verify both that the broker refuses the request and that the worker cannot bypass the broker. Inspect the receiving system rather than trusting a worker log.
Finally, change an input that determines success. Then try to substitute bytes under a fresh approval. The acceptance decision must use criteria outside worker write authority, and publication must bind to the bytes that were evaluated.
Each denial should come from a component the worker cannot rewrite. Each test needs a positive control. Otherwise a completely broken system can look perfectly secure because nothing ever completes. The repository contains the fixtures, raw observations, source hashes, and reproduction commands so you can inspect exactly what each test means.
[Sources]
https://github.com/zozo123/nyc-talk/blob/main/lab/run.py
https://github.com/zozo123/nyc-talk/blob/main/factory/isolated.py
https://github.com/zozo123/nyc-talk/blob/main/RUNBOOK.md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13:10-14:00
Stop at the repository address. Leave the closing slide visible. One minute remains.
The four failures used interfaces we intentionally gave the worker: a token, a mount, a permitted service, and an answer key. The useful question is not only whether the process can leave its sandbox. It is which decisions the process can cause while it remains inside.
Let the worker propose code, tests, and explanations. Keep the authority that defines acceptance outside its write boundary, and bind the release to the exact artifact that authority evaluated.
The source and recorded evidence are at github dot com, zozo one two three, nyc dash talk. Thank you.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slide to answer scope questions. The documented baseline API flaw is ours. Kernel compromise, malicious controllers, timing channels and full application correctness are outside the experiments. The lab uses loopback HTTP for credentials and upload; the admin policy is a CLI status-code model.
[Sources]
https://github.com/zozo123/nyc-talk/blob/main/research/RESULTS.md
https://github.com/zozo123/nyc-talk/blob/main/research/AUDIT.md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Three of the five outputs differ for the broken candidate. These tests establish only the five stated criteria. The corrected handler covers them; the experiment does not prove authentication correctness for an actual service.
[Sources]
https://github.com/zozo123/nyc-talk/blob/main/factory/core.py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At the pinned baseline, a caller with controller Python-object access could mutate files without updating the stored digest. The original publish function logged a marker, not candidate bytes. We reproduce those facts and do not describe them as a proven production exploit. The fix makes the bytes immutable, derives digests, and records exact bytes transactionally.
[Sources]
https://github.com/zozo123/nyc-talk/blob/main/research/AUDIT.md
https://github.com/zozo123/nyc-talk/blob/main/research/baseline/core.py
https://github.com/zozo123/nyc-talk/blob/main/tests/test_factory.py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A failure to create a namespace is an infrastructure failure, not a successful defense. CI runs the isolated experiments on Ubuntu. The stage presentation uses the saved PDF and recorded transcript; it does not require venue Wi-Fi or cloud provisioning. make record-all intentionally runs isolated experiments and must succeed before refreshing evidence.
[Sources]
https://github.com/zozo123/nyc-talk/blob/main/Makefile
https://github.com/zozo123/nyc-talk/blob/main/.github/workflows/verify.yml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An attacker who can rewrite the log and its trusted anchor can recompute a consistent chain. The lab checks disagreement with a controller-held head; it does not deploy a transparency service. Neither a chain nor a signature establishes that the application satisfies its task. Those mechanisms authenticate evidence and decisions under explicit trust assumptions.
[Sources]
https://github.com/zozo123/nyc-talk/blob/main/lab/run.py
https://slsa.dev/spec/v1.2/verifying-artifacts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The Anthropic work is related motivation, not evidence that our deterministic scripts represent any deployed model. The SLSA reference motivates artifact and trusted-identity binding; this repository does not claim SLSA certification. Bubblewrap documents that security depends on its supplied policy. The event page verifies the NYC date; it does not independently confirm this speaker slot length.
[Sources]
https://github.com/zozo123/nyc-talk
https://github.com/containers/bubblewrap#sandbox-security
https://slsa.dev/spec/v1.2/verifying-artifacts
https://www.anthropic.com/research/emergent-misalignment-reward-hacking
https://zenity.io/resources/events/ai-agent-security-summit-2026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48640" y="438912"/>
            <a:ext cx="11064240" cy="274320"/>
          </a:xfrm>
          <a:prstGeom prst="rect">
            <a:avLst/>
          </a:prstGeom>
          <a:noFill/>
          <a:ln/>
        </p:spPr>
        <p:txBody>
          <a:bodyPr wrap="square" lIns="0" tIns="0" rIns="0" bIns="0" rtlCol="0" anchor="ctr"/>
          <a:lstStyle/>
          <a:p>
            <a:pPr indent="0" marL="0">
              <a:buNone/>
            </a:pPr>
            <a:r>
              <a:rPr lang="en-US" sz="1320" dirty="0">
                <a:solidFill>
                  <a:srgbClr val="C7FF48"/>
                </a:solidFill>
                <a:latin typeface="DejaVu Sans Mono" pitchFamily="34" charset="0"/>
                <a:ea typeface="DejaVu Sans Mono" pitchFamily="34" charset="-122"/>
                <a:cs typeface="DejaVu Sans Mono" pitchFamily="34" charset="-120"/>
              </a:rPr>
              <a:t>AI AGENT SECURITY SUMMIT / NEW YORK / OCT 21, 2026</a:t>
            </a:r>
            <a:endParaRPr lang="en-US" sz="1320" dirty="0"/>
          </a:p>
        </p:txBody>
      </p:sp>
      <p:sp>
        <p:nvSpPr>
          <p:cNvPr id="3" name="Text 1"/>
          <p:cNvSpPr/>
          <p:nvPr/>
        </p:nvSpPr>
        <p:spPr>
          <a:xfrm>
            <a:off x="548640" y="1234440"/>
            <a:ext cx="10972800" cy="2679192"/>
          </a:xfrm>
          <a:prstGeom prst="rect">
            <a:avLst/>
          </a:prstGeom>
          <a:noFill/>
          <a:ln/>
        </p:spPr>
        <p:txBody>
          <a:bodyPr wrap="square" lIns="0" tIns="0" rIns="0" bIns="0" rtlCol="0" anchor="ctr"/>
          <a:lstStyle/>
          <a:p>
            <a:pPr indent="0" marL="0">
              <a:buNone/>
            </a:pPr>
            <a:r>
              <a:rPr lang="en-US" sz="4600" b="1" dirty="0">
                <a:solidFill>
                  <a:srgbClr val="F0F0E8"/>
                </a:solidFill>
                <a:latin typeface="Aptos Display" pitchFamily="34" charset="0"/>
                <a:ea typeface="Aptos Display" pitchFamily="34" charset="-122"/>
                <a:cs typeface="Aptos Display" pitchFamily="34" charset="-120"/>
              </a:rPr>
              <a:t>Your Agent Escaped</a:t>
            </a:r>
            <a:endParaRPr lang="en-US" sz="4600" dirty="0"/>
          </a:p>
          <a:p>
            <a:pPr indent="0" marL="0">
              <a:buNone/>
            </a:pPr>
            <a:r>
              <a:rPr lang="en-US" sz="4600" b="1" dirty="0">
                <a:solidFill>
                  <a:srgbClr val="F0F0E8"/>
                </a:solidFill>
                <a:latin typeface="Aptos Display" pitchFamily="34" charset="0"/>
                <a:ea typeface="Aptos Display" pitchFamily="34" charset="-122"/>
                <a:cs typeface="Aptos Display" pitchFamily="34" charset="-120"/>
              </a:rPr>
              <a:t>Without Escaping</a:t>
            </a:r>
            <a:endParaRPr lang="en-US" sz="4600" dirty="0"/>
          </a:p>
          <a:p>
            <a:pPr indent="0" marL="0">
              <a:buNone/>
            </a:pPr>
            <a:r>
              <a:rPr lang="en-US" sz="4600" b="1" dirty="0">
                <a:solidFill>
                  <a:srgbClr val="F0F0E8"/>
                </a:solidFill>
                <a:latin typeface="Aptos Display" pitchFamily="34" charset="0"/>
                <a:ea typeface="Aptos Display" pitchFamily="34" charset="-122"/>
                <a:cs typeface="Aptos Display" pitchFamily="34" charset="-120"/>
              </a:rPr>
              <a:t>the Sandbox</a:t>
            </a:r>
            <a:endParaRPr lang="en-US" sz="4600" dirty="0"/>
          </a:p>
        </p:txBody>
      </p:sp>
      <p:sp>
        <p:nvSpPr>
          <p:cNvPr id="4" name="Text 2"/>
          <p:cNvSpPr/>
          <p:nvPr/>
        </p:nvSpPr>
        <p:spPr>
          <a:xfrm>
            <a:off x="585216" y="4343400"/>
            <a:ext cx="10972800" cy="731520"/>
          </a:xfrm>
          <a:prstGeom prst="rect">
            <a:avLst/>
          </a:prstGeom>
          <a:noFill/>
          <a:ln/>
        </p:spPr>
        <p:txBody>
          <a:bodyPr wrap="square" lIns="0" tIns="0" rIns="0" bIns="0" rtlCol="0" anchor="ctr"/>
          <a:lstStyle/>
          <a:p>
            <a:pPr indent="0" marL="0">
              <a:buNone/>
            </a:pPr>
            <a:r>
              <a:rPr lang="en-US" sz="2200" dirty="0">
                <a:solidFill>
                  <a:srgbClr val="F0F0E8"/>
                </a:solidFill>
                <a:latin typeface="Aptos" pitchFamily="34" charset="0"/>
                <a:ea typeface="Aptos" pitchFamily="34" charset="-122"/>
                <a:cs typeface="Aptos" pitchFamily="34" charset="-120"/>
              </a:rPr>
              <a:t>Yossi Eliaz, PhD</a:t>
            </a:r>
            <a:endParaRPr lang="en-US" sz="2200" dirty="0"/>
          </a:p>
          <a:p>
            <a:pPr indent="0" marL="0">
              <a:buNone/>
            </a:pPr>
            <a:r>
              <a:rPr lang="en-US" sz="2200" dirty="0">
                <a:solidFill>
                  <a:srgbClr val="F0F0E8"/>
                </a:solidFill>
                <a:latin typeface="Aptos" pitchFamily="34" charset="0"/>
                <a:ea typeface="Aptos" pitchFamily="34" charset="-122"/>
                <a:cs typeface="Aptos" pitchFamily="34" charset="-120"/>
              </a:rPr>
              <a:t>Principal Engineer and Head of DevRel, Incredibuild</a:t>
            </a:r>
            <a:endParaRPr lang="en-US" sz="2200" dirty="0"/>
          </a:p>
        </p:txBody>
      </p:sp>
      <p:sp>
        <p:nvSpPr>
          <p:cNvPr id="5" name="Shape 3"/>
          <p:cNvSpPr/>
          <p:nvPr/>
        </p:nvSpPr>
        <p:spPr>
          <a:xfrm>
            <a:off x="530352" y="5468112"/>
            <a:ext cx="603504" cy="0"/>
          </a:xfrm>
          <a:prstGeom prst="line">
            <a:avLst/>
          </a:prstGeom>
          <a:noFill/>
          <a:ln w="27940">
            <a:solidFill>
              <a:srgbClr val="C7FF48"/>
            </a:solidFill>
            <a:prstDash val="solid"/>
          </a:ln>
        </p:spPr>
      </p:sp>
      <p:sp>
        <p:nvSpPr>
          <p:cNvPr id="6" name="Text 4"/>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Four authority failures. One release decision.</a:t>
            </a:r>
            <a:endParaRPr lang="en-US" sz="2300" dirty="0"/>
          </a:p>
        </p:txBody>
      </p:sp>
      <p:sp>
        <p:nvSpPr>
          <p:cNvPr id="7" name="Text 5"/>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8" name="Text 6"/>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THREAT MODEL</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The worker can act. Who can authorize?</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WORKER-CONTROLLED</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task code</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writable workspace</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tool requests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proposed results</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CONTROLLER-OWNED</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task-scoped grants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expected results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approval key + run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publication store</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The worker must not acquire the authority that judges its own output.</a:t>
            </a:r>
            <a:endParaRPr lang="en-US" sz="2300" dirty="0"/>
          </a:p>
        </p:txBody>
      </p:sp>
      <p:sp>
        <p:nvSpPr>
          <p:cNvPr id="12" name="Text 10"/>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Trusted kernel + controller; deterministic fixtures; no model attack-success claim.</a:t>
            </a:r>
            <a:endParaRPr lang="en-US" sz="1120" dirty="0"/>
          </a:p>
        </p:txBody>
      </p:sp>
      <p:sp>
        <p:nvSpPr>
          <p:cNvPr id="13" name="Text 11"/>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4" name="Text 12"/>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INHERITED CREDENTIALS</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1. The inherited token reaches another project.</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RUNNER TOKEN</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GET /projects/other/private</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Authorization: Bearer fixture-runner</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200</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SYNTHETIC-PRIVATE-FIXTURE</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TASK TOKEN</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GET /projects/other/private</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403</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GET /input/parser-fix</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200</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Project a short-lived task grant. The service must enforce its scope.</a:t>
            </a:r>
            <a:endParaRPr lang="en-US" sz="2300" dirty="0"/>
          </a:p>
        </p:txBody>
      </p:sp>
      <p:sp>
        <p:nvSpPr>
          <p:cNvPr id="12" name="Text 10"/>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Recorded: credentials.before / after / positive / expired / wrong-audience</a:t>
            </a:r>
            <a:endParaRPr lang="en-US" sz="1120" dirty="0"/>
          </a:p>
        </p:txBody>
      </p:sp>
      <p:sp>
        <p:nvSpPr>
          <p:cNvPr id="13" name="Text 11"/>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4" name="Text 12"/>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DANGEROUS MOUNTS</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2. The mount grants a write into the next job.</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SHARED DIRECTORY: WRITABLE</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open("/shared/next-job.json",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     "w").write(payload)</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WRITE_SUCCEEDED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host fixture changed</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SHARED DIRECTORY: READ-ONLY</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same write</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WRITE_DENIED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host fixture unchanged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/output/patch.txt still works</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Give the task a narrow input view and a separate writable output.</a:t>
            </a:r>
            <a:endParaRPr lang="en-US" sz="2300" dirty="0"/>
          </a:p>
        </p:txBody>
      </p:sp>
      <p:sp>
        <p:nvSpPr>
          <p:cNvPr id="12" name="Text 10"/>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Recorded with real bind mounts: mount.before / after / positive</a:t>
            </a:r>
            <a:endParaRPr lang="en-US" sz="1120" dirty="0"/>
          </a:p>
        </p:txBody>
      </p:sp>
      <p:sp>
        <p:nvSpPr>
          <p:cNvPr id="13" name="Text 11"/>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4" name="Text 12"/>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EXFILTRATION THROUGH AN ALLOWED ENDPOINT</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3. The allowed service accepts the wrong upload.</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WORKER CHOOSES PATH + BODY</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POST /accounts/other/uploads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{"data":"PRIVATE-FIXTURE"}</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201 STORED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receiving service has the bytes</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BROKER OWNS THE OPERATION</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{"operation":"publish_report",</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 "task":"parser-fix"}</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extra fields -&gt; DENIED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fixed team report -&gt; ACCEPTED</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Remove the direct route; mediate destination, operation, and payload.</a:t>
            </a:r>
            <a:endParaRPr lang="en-US" sz="2300" dirty="0"/>
          </a:p>
        </p:txBody>
      </p:sp>
      <p:sp>
        <p:nvSpPr>
          <p:cNvPr id="12" name="Text 10"/>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Loopback upload fixture; isolated direct-route probe; receiver-side delivery checks.</a:t>
            </a:r>
            <a:endParaRPr lang="en-US" sz="1120" dirty="0"/>
          </a:p>
        </p:txBody>
      </p:sp>
      <p:sp>
        <p:nvSpPr>
          <p:cNvPr id="13" name="Text 11"/>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4" name="Text 12"/>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VERIFIER TAMPERING</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4. The checker is read-only. Its answer key is not.</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UNCHANGED CHECKER</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expected = json.loads(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  Path("expected.json")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  .read_text())</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compare(handler, expected)</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WORKER-EDITED ANSWER KEY</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input:  admin:none</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output: 401 -&gt; 200</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checker.py write: DENIED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checker.py hash: UNCHANGED</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Protecting a checker file does not protect the inputs that define success.</a:t>
            </a:r>
            <a:endParaRPr lang="en-US" sz="2300" dirty="0"/>
          </a:p>
        </p:txBody>
      </p:sp>
      <p:sp>
        <p:nvSpPr>
          <p:cNvPr id="12" name="Text 10"/>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Isolated factory: honest key fails; answer-key edit succeeds; unchanged checker passes.</a:t>
            </a:r>
            <a:endParaRPr lang="en-US" sz="1120" dirty="0"/>
          </a:p>
        </p:txBody>
      </p:sp>
      <p:sp>
        <p:nvSpPr>
          <p:cNvPr id="13" name="Text 11"/>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4" name="Text 12"/>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CONTROLLED COMPARISON</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Keep the candidate fixed. Change who owns the cases.</a:t>
            </a:r>
            <a:endParaRPr lang="en-US" sz="3000" dirty="0"/>
          </a:p>
        </p:txBody>
      </p:sp>
      <p:sp>
        <p:nvSpPr>
          <p:cNvPr id="4" name="Text 2"/>
          <p:cNvSpPr/>
          <p:nvPr/>
        </p:nvSpPr>
        <p:spPr>
          <a:xfrm>
            <a:off x="566928" y="1920240"/>
            <a:ext cx="254203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Candidate</a:t>
            </a:r>
            <a:endParaRPr lang="en-US" sz="1860" dirty="0"/>
          </a:p>
        </p:txBody>
      </p:sp>
      <p:sp>
        <p:nvSpPr>
          <p:cNvPr id="5" name="Text 3"/>
          <p:cNvSpPr/>
          <p:nvPr/>
        </p:nvSpPr>
        <p:spPr>
          <a:xfrm>
            <a:off x="3310128" y="1920240"/>
            <a:ext cx="363931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Expected results</a:t>
            </a:r>
            <a:endParaRPr lang="en-US" sz="1860" dirty="0"/>
          </a:p>
        </p:txBody>
      </p:sp>
      <p:sp>
        <p:nvSpPr>
          <p:cNvPr id="6" name="Text 4"/>
          <p:cNvSpPr/>
          <p:nvPr/>
        </p:nvSpPr>
        <p:spPr>
          <a:xfrm>
            <a:off x="7150608" y="1920240"/>
            <a:ext cx="4160520"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Observed decision</a:t>
            </a:r>
            <a:endParaRPr lang="en-US" sz="1860" dirty="0"/>
          </a:p>
        </p:txBody>
      </p:sp>
      <p:sp>
        <p:nvSpPr>
          <p:cNvPr id="7" name="Shape 5"/>
          <p:cNvSpPr/>
          <p:nvPr/>
        </p:nvSpPr>
        <p:spPr>
          <a:xfrm>
            <a:off x="566928" y="2523744"/>
            <a:ext cx="10917936" cy="0"/>
          </a:xfrm>
          <a:prstGeom prst="line">
            <a:avLst/>
          </a:prstGeom>
          <a:noFill/>
          <a:ln w="6350">
            <a:solidFill>
              <a:srgbClr val="35404B"/>
            </a:solidFill>
            <a:prstDash val="solid"/>
          </a:ln>
        </p:spPr>
      </p:sp>
      <p:sp>
        <p:nvSpPr>
          <p:cNvPr id="8" name="Text 6"/>
          <p:cNvSpPr/>
          <p:nvPr/>
        </p:nvSpPr>
        <p:spPr>
          <a:xfrm>
            <a:off x="566928" y="2587752"/>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Always 200</a:t>
            </a:r>
            <a:endParaRPr lang="en-US" sz="1850" dirty="0"/>
          </a:p>
        </p:txBody>
      </p:sp>
      <p:sp>
        <p:nvSpPr>
          <p:cNvPr id="9" name="Text 7"/>
          <p:cNvSpPr/>
          <p:nvPr/>
        </p:nvSpPr>
        <p:spPr>
          <a:xfrm>
            <a:off x="3310128" y="2587752"/>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Honest workspace key</a:t>
            </a:r>
            <a:endParaRPr lang="en-US" sz="1850" dirty="0"/>
          </a:p>
        </p:txBody>
      </p:sp>
      <p:sp>
        <p:nvSpPr>
          <p:cNvPr id="10" name="Text 8"/>
          <p:cNvSpPr/>
          <p:nvPr/>
        </p:nvSpPr>
        <p:spPr>
          <a:xfrm>
            <a:off x="7150608" y="2587752"/>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FAIL</a:t>
            </a:r>
            <a:endParaRPr lang="en-US" sz="1850" dirty="0"/>
          </a:p>
        </p:txBody>
      </p:sp>
      <p:sp>
        <p:nvSpPr>
          <p:cNvPr id="11" name="Shape 9"/>
          <p:cNvSpPr/>
          <p:nvPr/>
        </p:nvSpPr>
        <p:spPr>
          <a:xfrm>
            <a:off x="566928" y="3136392"/>
            <a:ext cx="10917936" cy="0"/>
          </a:xfrm>
          <a:prstGeom prst="line">
            <a:avLst/>
          </a:prstGeom>
          <a:noFill/>
          <a:ln w="6350">
            <a:solidFill>
              <a:srgbClr val="35404B"/>
            </a:solidFill>
            <a:prstDash val="solid"/>
          </a:ln>
        </p:spPr>
      </p:sp>
      <p:sp>
        <p:nvSpPr>
          <p:cNvPr id="12" name="Text 10"/>
          <p:cNvSpPr/>
          <p:nvPr/>
        </p:nvSpPr>
        <p:spPr>
          <a:xfrm>
            <a:off x="566928" y="3200400"/>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Same bytes</a:t>
            </a:r>
            <a:endParaRPr lang="en-US" sz="1850" dirty="0"/>
          </a:p>
        </p:txBody>
      </p:sp>
      <p:sp>
        <p:nvSpPr>
          <p:cNvPr id="13" name="Text 11"/>
          <p:cNvSpPr/>
          <p:nvPr/>
        </p:nvSpPr>
        <p:spPr>
          <a:xfrm>
            <a:off x="3310128" y="3200400"/>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Worker changes key</a:t>
            </a:r>
            <a:endParaRPr lang="en-US" sz="1850" dirty="0"/>
          </a:p>
        </p:txBody>
      </p:sp>
      <p:sp>
        <p:nvSpPr>
          <p:cNvPr id="14" name="Text 12"/>
          <p:cNvSpPr/>
          <p:nvPr/>
        </p:nvSpPr>
        <p:spPr>
          <a:xfrm>
            <a:off x="7150608" y="3200400"/>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PASS</a:t>
            </a:r>
            <a:endParaRPr lang="en-US" sz="1850" dirty="0"/>
          </a:p>
        </p:txBody>
      </p:sp>
      <p:sp>
        <p:nvSpPr>
          <p:cNvPr id="15" name="Shape 13"/>
          <p:cNvSpPr/>
          <p:nvPr/>
        </p:nvSpPr>
        <p:spPr>
          <a:xfrm>
            <a:off x="566928" y="3749040"/>
            <a:ext cx="10917936" cy="0"/>
          </a:xfrm>
          <a:prstGeom prst="line">
            <a:avLst/>
          </a:prstGeom>
          <a:noFill/>
          <a:ln w="6350">
            <a:solidFill>
              <a:srgbClr val="35404B"/>
            </a:solidFill>
            <a:prstDash val="solid"/>
          </a:ln>
        </p:spPr>
      </p:sp>
      <p:sp>
        <p:nvSpPr>
          <p:cNvPr id="16" name="Text 14"/>
          <p:cNvSpPr/>
          <p:nvPr/>
        </p:nvSpPr>
        <p:spPr>
          <a:xfrm>
            <a:off x="566928" y="3813048"/>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Same bytes</a:t>
            </a:r>
            <a:endParaRPr lang="en-US" sz="1850" dirty="0"/>
          </a:p>
        </p:txBody>
      </p:sp>
      <p:sp>
        <p:nvSpPr>
          <p:cNvPr id="17" name="Text 15"/>
          <p:cNvSpPr/>
          <p:nvPr/>
        </p:nvSpPr>
        <p:spPr>
          <a:xfrm>
            <a:off x="3310128" y="3813048"/>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Controller-owned cases</a:t>
            </a:r>
            <a:endParaRPr lang="en-US" sz="1850" dirty="0"/>
          </a:p>
        </p:txBody>
      </p:sp>
      <p:sp>
        <p:nvSpPr>
          <p:cNvPr id="18" name="Text 16"/>
          <p:cNvSpPr/>
          <p:nvPr/>
        </p:nvSpPr>
        <p:spPr>
          <a:xfrm>
            <a:off x="7150608" y="3813048"/>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REJECT</a:t>
            </a:r>
            <a:endParaRPr lang="en-US" sz="1850" dirty="0"/>
          </a:p>
        </p:txBody>
      </p:sp>
      <p:sp>
        <p:nvSpPr>
          <p:cNvPr id="19" name="Shape 17"/>
          <p:cNvSpPr/>
          <p:nvPr/>
        </p:nvSpPr>
        <p:spPr>
          <a:xfrm>
            <a:off x="566928" y="4361688"/>
            <a:ext cx="10917936" cy="0"/>
          </a:xfrm>
          <a:prstGeom prst="line">
            <a:avLst/>
          </a:prstGeom>
          <a:noFill/>
          <a:ln w="6350">
            <a:solidFill>
              <a:srgbClr val="35404B"/>
            </a:solidFill>
            <a:prstDash val="solid"/>
          </a:ln>
        </p:spPr>
      </p:sp>
      <p:sp>
        <p:nvSpPr>
          <p:cNvPr id="20" name="Text 18"/>
          <p:cNvSpPr/>
          <p:nvPr/>
        </p:nvSpPr>
        <p:spPr>
          <a:xfrm>
            <a:off x="566928" y="4425696"/>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Correct handler</a:t>
            </a:r>
            <a:endParaRPr lang="en-US" sz="1850" dirty="0"/>
          </a:p>
        </p:txBody>
      </p:sp>
      <p:sp>
        <p:nvSpPr>
          <p:cNvPr id="21" name="Text 19"/>
          <p:cNvSpPr/>
          <p:nvPr/>
        </p:nvSpPr>
        <p:spPr>
          <a:xfrm>
            <a:off x="3310128" y="4425696"/>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Controller-owned cases</a:t>
            </a:r>
            <a:endParaRPr lang="en-US" sz="1850" dirty="0"/>
          </a:p>
        </p:txBody>
      </p:sp>
      <p:sp>
        <p:nvSpPr>
          <p:cNvPr id="22" name="Text 20"/>
          <p:cNvSpPr/>
          <p:nvPr/>
        </p:nvSpPr>
        <p:spPr>
          <a:xfrm>
            <a:off x="7150608" y="4425696"/>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ACCEPT</a:t>
            </a:r>
            <a:endParaRPr lang="en-US" sz="1850" dirty="0"/>
          </a:p>
        </p:txBody>
      </p:sp>
      <p:sp>
        <p:nvSpPr>
          <p:cNvPr id="23" name="Shape 21"/>
          <p:cNvSpPr/>
          <p:nvPr/>
        </p:nvSpPr>
        <p:spPr>
          <a:xfrm>
            <a:off x="530352" y="5468112"/>
            <a:ext cx="603504" cy="0"/>
          </a:xfrm>
          <a:prstGeom prst="line">
            <a:avLst/>
          </a:prstGeom>
          <a:noFill/>
          <a:ln w="27940">
            <a:solidFill>
              <a:srgbClr val="C7FF48"/>
            </a:solidFill>
            <a:prstDash val="solid"/>
          </a:ln>
        </p:spPr>
      </p:sp>
      <p:sp>
        <p:nvSpPr>
          <p:cNvPr id="24" name="Text 22"/>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The controller rejects the bad bytes and still accepts the repaired task.</a:t>
            </a:r>
            <a:endParaRPr lang="en-US" sz="2300" dirty="0"/>
          </a:p>
        </p:txBody>
      </p:sp>
      <p:sp>
        <p:nvSpPr>
          <p:cNvPr id="25" name="Text 23"/>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Five fixed cases: anonymous, admin, ordinary user, public route, expired credential.</a:t>
            </a:r>
            <a:endParaRPr lang="en-US" sz="1120" dirty="0"/>
          </a:p>
        </p:txBody>
      </p:sp>
      <p:sp>
        <p:nvSpPr>
          <p:cNvPr id="26" name="Text 24"/>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27" name="Text 25"/>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REFERENCE ACCEPTANCE PROTOCOL</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Make the release decision outside the worker.</a:t>
            </a:r>
            <a:endParaRPr lang="en-US" sz="3000" dirty="0"/>
          </a:p>
        </p:txBody>
      </p:sp>
      <p:sp>
        <p:nvSpPr>
          <p:cNvPr id="4" name="Shape 2"/>
          <p:cNvSpPr/>
          <p:nvPr/>
        </p:nvSpPr>
        <p:spPr>
          <a:xfrm>
            <a:off x="530352" y="2066544"/>
            <a:ext cx="2057400" cy="694944"/>
          </a:xfrm>
          <a:prstGeom prst="rect">
            <a:avLst/>
          </a:prstGeom>
          <a:solidFill>
            <a:srgbClr val="1B2026"/>
          </a:solidFill>
          <a:ln w="12700">
            <a:solidFill>
              <a:srgbClr val="1B2026"/>
            </a:solidFill>
            <a:prstDash val="solid"/>
          </a:ln>
        </p:spPr>
      </p:sp>
      <p:sp>
        <p:nvSpPr>
          <p:cNvPr id="5" name="Text 3"/>
          <p:cNvSpPr/>
          <p:nvPr/>
        </p:nvSpPr>
        <p:spPr>
          <a:xfrm>
            <a:off x="530352" y="2249424"/>
            <a:ext cx="2057400" cy="292608"/>
          </a:xfrm>
          <a:prstGeom prst="rect">
            <a:avLst/>
          </a:prstGeom>
          <a:noFill/>
          <a:ln/>
        </p:spPr>
        <p:txBody>
          <a:bodyPr wrap="square" lIns="0" tIns="0" rIns="0" bIns="0" rtlCol="0" anchor="ctr"/>
          <a:lstStyle/>
          <a:p>
            <a:pPr algn="ctr" indent="0" marL="0">
              <a:buNone/>
            </a:pPr>
            <a:r>
              <a:rPr lang="en-US" sz="1850" b="1" dirty="0">
                <a:solidFill>
                  <a:srgbClr val="C7FF48"/>
                </a:solidFill>
                <a:latin typeface="Aptos" pitchFamily="34" charset="0"/>
                <a:ea typeface="Aptos" pitchFamily="34" charset="-122"/>
                <a:cs typeface="Aptos" pitchFamily="34" charset="-120"/>
              </a:rPr>
              <a:t>FREEZE</a:t>
            </a:r>
            <a:endParaRPr lang="en-US" sz="1850" dirty="0"/>
          </a:p>
        </p:txBody>
      </p:sp>
      <p:sp>
        <p:nvSpPr>
          <p:cNvPr id="6" name="Text 4"/>
          <p:cNvSpPr/>
          <p:nvPr/>
        </p:nvSpPr>
        <p:spPr>
          <a:xfrm>
            <a:off x="530352" y="3017520"/>
            <a:ext cx="2057400" cy="640080"/>
          </a:xfrm>
          <a:prstGeom prst="rect">
            <a:avLst/>
          </a:prstGeom>
          <a:noFill/>
          <a:ln/>
        </p:spPr>
        <p:txBody>
          <a:bodyPr wrap="square" lIns="0" tIns="0" rIns="0" bIns="0" rtlCol="0" anchor="ctr"/>
          <a:lstStyle/>
          <a:p>
            <a:pPr algn="ctr" indent="0" marL="0">
              <a:buNone/>
            </a:pPr>
            <a:r>
              <a:rPr lang="en-US" sz="1700" dirty="0">
                <a:solidFill>
                  <a:srgbClr val="A7ADB3"/>
                </a:solidFill>
                <a:latin typeface="Aptos" pitchFamily="34" charset="0"/>
                <a:ea typeface="Aptos" pitchFamily="34" charset="-122"/>
                <a:cs typeface="Aptos" pitchFamily="34" charset="-120"/>
              </a:rPr>
              <a:t>copy artifact bytes</a:t>
            </a:r>
            <a:endParaRPr lang="en-US" sz="1700" dirty="0"/>
          </a:p>
        </p:txBody>
      </p:sp>
      <p:sp>
        <p:nvSpPr>
          <p:cNvPr id="7" name="Shape 5"/>
          <p:cNvSpPr/>
          <p:nvPr/>
        </p:nvSpPr>
        <p:spPr>
          <a:xfrm>
            <a:off x="2633472" y="2295144"/>
            <a:ext cx="128016" cy="219456"/>
          </a:xfrm>
          <a:prstGeom prst="chevron">
            <a:avLst/>
          </a:prstGeom>
          <a:solidFill>
            <a:srgbClr val="C7FF48"/>
          </a:solidFill>
          <a:ln w="12700">
            <a:solidFill>
              <a:srgbClr val="C7FF48"/>
            </a:solidFill>
            <a:prstDash val="solid"/>
          </a:ln>
        </p:spPr>
      </p:sp>
      <p:sp>
        <p:nvSpPr>
          <p:cNvPr id="8" name="Shape 6"/>
          <p:cNvSpPr/>
          <p:nvPr/>
        </p:nvSpPr>
        <p:spPr>
          <a:xfrm>
            <a:off x="2807208" y="2066544"/>
            <a:ext cx="2057400" cy="694944"/>
          </a:xfrm>
          <a:prstGeom prst="rect">
            <a:avLst/>
          </a:prstGeom>
          <a:solidFill>
            <a:srgbClr val="1B2026"/>
          </a:solidFill>
          <a:ln w="12700">
            <a:solidFill>
              <a:srgbClr val="1B2026"/>
            </a:solidFill>
            <a:prstDash val="solid"/>
          </a:ln>
        </p:spPr>
      </p:sp>
      <p:sp>
        <p:nvSpPr>
          <p:cNvPr id="9" name="Text 7"/>
          <p:cNvSpPr/>
          <p:nvPr/>
        </p:nvSpPr>
        <p:spPr>
          <a:xfrm>
            <a:off x="2807208" y="2249424"/>
            <a:ext cx="2057400" cy="292608"/>
          </a:xfrm>
          <a:prstGeom prst="rect">
            <a:avLst/>
          </a:prstGeom>
          <a:noFill/>
          <a:ln/>
        </p:spPr>
        <p:txBody>
          <a:bodyPr wrap="square" lIns="0" tIns="0" rIns="0" bIns="0" rtlCol="0" anchor="ctr"/>
          <a:lstStyle/>
          <a:p>
            <a:pPr algn="ctr" indent="0" marL="0">
              <a:buNone/>
            </a:pPr>
            <a:r>
              <a:rPr lang="en-US" sz="1850" b="1" dirty="0">
                <a:solidFill>
                  <a:srgbClr val="C7FF48"/>
                </a:solidFill>
                <a:latin typeface="Aptos" pitchFamily="34" charset="0"/>
                <a:ea typeface="Aptos" pitchFamily="34" charset="-122"/>
                <a:cs typeface="Aptos" pitchFamily="34" charset="-120"/>
              </a:rPr>
              <a:t>EXECUTE</a:t>
            </a:r>
            <a:endParaRPr lang="en-US" sz="1850" dirty="0"/>
          </a:p>
        </p:txBody>
      </p:sp>
      <p:sp>
        <p:nvSpPr>
          <p:cNvPr id="10" name="Text 8"/>
          <p:cNvSpPr/>
          <p:nvPr/>
        </p:nvSpPr>
        <p:spPr>
          <a:xfrm>
            <a:off x="2807208" y="3017520"/>
            <a:ext cx="2057400" cy="640080"/>
          </a:xfrm>
          <a:prstGeom prst="rect">
            <a:avLst/>
          </a:prstGeom>
          <a:noFill/>
          <a:ln/>
        </p:spPr>
        <p:txBody>
          <a:bodyPr wrap="square" lIns="0" tIns="0" rIns="0" bIns="0" rtlCol="0" anchor="ctr"/>
          <a:lstStyle/>
          <a:p>
            <a:pPr algn="ctr" indent="0" marL="0">
              <a:buNone/>
            </a:pPr>
            <a:r>
              <a:rPr lang="en-US" sz="1700" dirty="0">
                <a:solidFill>
                  <a:srgbClr val="A7ADB3"/>
                </a:solidFill>
                <a:latin typeface="Aptos" pitchFamily="34" charset="0"/>
                <a:ea typeface="Aptos" pitchFamily="34" charset="-122"/>
                <a:cs typeface="Aptos" pitchFamily="34" charset="-120"/>
              </a:rPr>
              <a:t>read-only candidate</a:t>
            </a:r>
            <a:endParaRPr lang="en-US" sz="1700" dirty="0"/>
          </a:p>
        </p:txBody>
      </p:sp>
      <p:sp>
        <p:nvSpPr>
          <p:cNvPr id="11" name="Shape 9"/>
          <p:cNvSpPr/>
          <p:nvPr/>
        </p:nvSpPr>
        <p:spPr>
          <a:xfrm>
            <a:off x="4910328" y="2295144"/>
            <a:ext cx="128016" cy="219456"/>
          </a:xfrm>
          <a:prstGeom prst="chevron">
            <a:avLst/>
          </a:prstGeom>
          <a:solidFill>
            <a:srgbClr val="C7FF48"/>
          </a:solidFill>
          <a:ln w="12700">
            <a:solidFill>
              <a:srgbClr val="C7FF48"/>
            </a:solidFill>
            <a:prstDash val="solid"/>
          </a:ln>
        </p:spPr>
      </p:sp>
      <p:sp>
        <p:nvSpPr>
          <p:cNvPr id="12" name="Shape 10"/>
          <p:cNvSpPr/>
          <p:nvPr/>
        </p:nvSpPr>
        <p:spPr>
          <a:xfrm>
            <a:off x="5084064" y="2066544"/>
            <a:ext cx="2057400" cy="694944"/>
          </a:xfrm>
          <a:prstGeom prst="rect">
            <a:avLst/>
          </a:prstGeom>
          <a:solidFill>
            <a:srgbClr val="1B2026"/>
          </a:solidFill>
          <a:ln w="12700">
            <a:solidFill>
              <a:srgbClr val="1B2026"/>
            </a:solidFill>
            <a:prstDash val="solid"/>
          </a:ln>
        </p:spPr>
      </p:sp>
      <p:sp>
        <p:nvSpPr>
          <p:cNvPr id="13" name="Text 11"/>
          <p:cNvSpPr/>
          <p:nvPr/>
        </p:nvSpPr>
        <p:spPr>
          <a:xfrm>
            <a:off x="5084064" y="2249424"/>
            <a:ext cx="2057400" cy="292608"/>
          </a:xfrm>
          <a:prstGeom prst="rect">
            <a:avLst/>
          </a:prstGeom>
          <a:noFill/>
          <a:ln/>
        </p:spPr>
        <p:txBody>
          <a:bodyPr wrap="square" lIns="0" tIns="0" rIns="0" bIns="0" rtlCol="0" anchor="ctr"/>
          <a:lstStyle/>
          <a:p>
            <a:pPr algn="ctr" indent="0" marL="0">
              <a:buNone/>
            </a:pPr>
            <a:r>
              <a:rPr lang="en-US" sz="1850" b="1" dirty="0">
                <a:solidFill>
                  <a:srgbClr val="C7FF48"/>
                </a:solidFill>
                <a:latin typeface="Aptos" pitchFamily="34" charset="0"/>
                <a:ea typeface="Aptos" pitchFamily="34" charset="-122"/>
                <a:cs typeface="Aptos" pitchFamily="34" charset="-120"/>
              </a:rPr>
              <a:t>COMPARE</a:t>
            </a:r>
            <a:endParaRPr lang="en-US" sz="1850" dirty="0"/>
          </a:p>
        </p:txBody>
      </p:sp>
      <p:sp>
        <p:nvSpPr>
          <p:cNvPr id="14" name="Text 12"/>
          <p:cNvSpPr/>
          <p:nvPr/>
        </p:nvSpPr>
        <p:spPr>
          <a:xfrm>
            <a:off x="5084064" y="3017520"/>
            <a:ext cx="2057400" cy="640080"/>
          </a:xfrm>
          <a:prstGeom prst="rect">
            <a:avLst/>
          </a:prstGeom>
          <a:noFill/>
          <a:ln/>
        </p:spPr>
        <p:txBody>
          <a:bodyPr wrap="square" lIns="0" tIns="0" rIns="0" bIns="0" rtlCol="0" anchor="ctr"/>
          <a:lstStyle/>
          <a:p>
            <a:pPr algn="ctr" indent="0" marL="0">
              <a:buNone/>
            </a:pPr>
            <a:r>
              <a:rPr lang="en-US" sz="1700" dirty="0">
                <a:solidFill>
                  <a:srgbClr val="A7ADB3"/>
                </a:solidFill>
                <a:latin typeface="Aptos" pitchFamily="34" charset="0"/>
                <a:ea typeface="Aptos" pitchFamily="34" charset="-122"/>
                <a:cs typeface="Aptos" pitchFamily="34" charset="-120"/>
              </a:rPr>
              <a:t>controller cases</a:t>
            </a:r>
            <a:endParaRPr lang="en-US" sz="1700" dirty="0"/>
          </a:p>
        </p:txBody>
      </p:sp>
      <p:sp>
        <p:nvSpPr>
          <p:cNvPr id="15" name="Shape 13"/>
          <p:cNvSpPr/>
          <p:nvPr/>
        </p:nvSpPr>
        <p:spPr>
          <a:xfrm>
            <a:off x="7187184" y="2295144"/>
            <a:ext cx="128016" cy="219456"/>
          </a:xfrm>
          <a:prstGeom prst="chevron">
            <a:avLst/>
          </a:prstGeom>
          <a:solidFill>
            <a:srgbClr val="C7FF48"/>
          </a:solidFill>
          <a:ln w="12700">
            <a:solidFill>
              <a:srgbClr val="C7FF48"/>
            </a:solidFill>
            <a:prstDash val="solid"/>
          </a:ln>
        </p:spPr>
      </p:sp>
      <p:sp>
        <p:nvSpPr>
          <p:cNvPr id="16" name="Shape 14"/>
          <p:cNvSpPr/>
          <p:nvPr/>
        </p:nvSpPr>
        <p:spPr>
          <a:xfrm>
            <a:off x="7360920" y="2066544"/>
            <a:ext cx="2057400" cy="694944"/>
          </a:xfrm>
          <a:prstGeom prst="rect">
            <a:avLst/>
          </a:prstGeom>
          <a:solidFill>
            <a:srgbClr val="1B2026"/>
          </a:solidFill>
          <a:ln w="12700">
            <a:solidFill>
              <a:srgbClr val="1B2026"/>
            </a:solidFill>
            <a:prstDash val="solid"/>
          </a:ln>
        </p:spPr>
      </p:sp>
      <p:sp>
        <p:nvSpPr>
          <p:cNvPr id="17" name="Text 15"/>
          <p:cNvSpPr/>
          <p:nvPr/>
        </p:nvSpPr>
        <p:spPr>
          <a:xfrm>
            <a:off x="7360920" y="2249424"/>
            <a:ext cx="2057400" cy="292608"/>
          </a:xfrm>
          <a:prstGeom prst="rect">
            <a:avLst/>
          </a:prstGeom>
          <a:noFill/>
          <a:ln/>
        </p:spPr>
        <p:txBody>
          <a:bodyPr wrap="square" lIns="0" tIns="0" rIns="0" bIns="0" rtlCol="0" anchor="ctr"/>
          <a:lstStyle/>
          <a:p>
            <a:pPr algn="ctr" indent="0" marL="0">
              <a:buNone/>
            </a:pPr>
            <a:r>
              <a:rPr lang="en-US" sz="1850" b="1" dirty="0">
                <a:solidFill>
                  <a:srgbClr val="C7FF48"/>
                </a:solidFill>
                <a:latin typeface="Aptos" pitchFamily="34" charset="0"/>
                <a:ea typeface="Aptos" pitchFamily="34" charset="-122"/>
                <a:cs typeface="Aptos" pitchFamily="34" charset="-120"/>
              </a:rPr>
              <a:t>AUTHORIZE</a:t>
            </a:r>
            <a:endParaRPr lang="en-US" sz="1850" dirty="0"/>
          </a:p>
        </p:txBody>
      </p:sp>
      <p:sp>
        <p:nvSpPr>
          <p:cNvPr id="18" name="Text 16"/>
          <p:cNvSpPr/>
          <p:nvPr/>
        </p:nvSpPr>
        <p:spPr>
          <a:xfrm>
            <a:off x="7360920" y="3017520"/>
            <a:ext cx="2057400" cy="640080"/>
          </a:xfrm>
          <a:prstGeom prst="rect">
            <a:avLst/>
          </a:prstGeom>
          <a:noFill/>
          <a:ln/>
        </p:spPr>
        <p:txBody>
          <a:bodyPr wrap="square" lIns="0" tIns="0" rIns="0" bIns="0" rtlCol="0" anchor="ctr"/>
          <a:lstStyle/>
          <a:p>
            <a:pPr algn="ctr" indent="0" marL="0">
              <a:buNone/>
            </a:pPr>
            <a:r>
              <a:rPr lang="en-US" sz="1700" dirty="0">
                <a:solidFill>
                  <a:srgbClr val="A7ADB3"/>
                </a:solidFill>
                <a:latin typeface="Aptos" pitchFamily="34" charset="0"/>
                <a:ea typeface="Aptos" pitchFamily="34" charset="-122"/>
                <a:cs typeface="Aptos" pitchFamily="34" charset="-120"/>
              </a:rPr>
              <a:t>bind run + policy</a:t>
            </a:r>
            <a:endParaRPr lang="en-US" sz="1700" dirty="0"/>
          </a:p>
        </p:txBody>
      </p:sp>
      <p:sp>
        <p:nvSpPr>
          <p:cNvPr id="19" name="Shape 17"/>
          <p:cNvSpPr/>
          <p:nvPr/>
        </p:nvSpPr>
        <p:spPr>
          <a:xfrm>
            <a:off x="9464040" y="2295144"/>
            <a:ext cx="128016" cy="219456"/>
          </a:xfrm>
          <a:prstGeom prst="chevron">
            <a:avLst/>
          </a:prstGeom>
          <a:solidFill>
            <a:srgbClr val="C7FF48"/>
          </a:solidFill>
          <a:ln w="12700">
            <a:solidFill>
              <a:srgbClr val="C7FF48"/>
            </a:solidFill>
            <a:prstDash val="solid"/>
          </a:ln>
        </p:spPr>
      </p:sp>
      <p:sp>
        <p:nvSpPr>
          <p:cNvPr id="20" name="Shape 18"/>
          <p:cNvSpPr/>
          <p:nvPr/>
        </p:nvSpPr>
        <p:spPr>
          <a:xfrm>
            <a:off x="9637776" y="2066544"/>
            <a:ext cx="2057400" cy="694944"/>
          </a:xfrm>
          <a:prstGeom prst="rect">
            <a:avLst/>
          </a:prstGeom>
          <a:solidFill>
            <a:srgbClr val="1B2026"/>
          </a:solidFill>
          <a:ln w="12700">
            <a:solidFill>
              <a:srgbClr val="1B2026"/>
            </a:solidFill>
            <a:prstDash val="solid"/>
          </a:ln>
        </p:spPr>
      </p:sp>
      <p:sp>
        <p:nvSpPr>
          <p:cNvPr id="21" name="Text 19"/>
          <p:cNvSpPr/>
          <p:nvPr/>
        </p:nvSpPr>
        <p:spPr>
          <a:xfrm>
            <a:off x="9637776" y="2249424"/>
            <a:ext cx="2057400" cy="292608"/>
          </a:xfrm>
          <a:prstGeom prst="rect">
            <a:avLst/>
          </a:prstGeom>
          <a:noFill/>
          <a:ln/>
        </p:spPr>
        <p:txBody>
          <a:bodyPr wrap="square" lIns="0" tIns="0" rIns="0" bIns="0" rtlCol="0" anchor="ctr"/>
          <a:lstStyle/>
          <a:p>
            <a:pPr algn="ctr" indent="0" marL="0">
              <a:buNone/>
            </a:pPr>
            <a:r>
              <a:rPr lang="en-US" sz="1850" b="1" dirty="0">
                <a:solidFill>
                  <a:srgbClr val="C7FF48"/>
                </a:solidFill>
                <a:latin typeface="Aptos" pitchFamily="34" charset="0"/>
                <a:ea typeface="Aptos" pitchFamily="34" charset="-122"/>
                <a:cs typeface="Aptos" pitchFamily="34" charset="-120"/>
              </a:rPr>
              <a:t>PUBLISH</a:t>
            </a:r>
            <a:endParaRPr lang="en-US" sz="1850" dirty="0"/>
          </a:p>
        </p:txBody>
      </p:sp>
      <p:sp>
        <p:nvSpPr>
          <p:cNvPr id="22" name="Text 20"/>
          <p:cNvSpPr/>
          <p:nvPr/>
        </p:nvSpPr>
        <p:spPr>
          <a:xfrm>
            <a:off x="9637776" y="3017520"/>
            <a:ext cx="2057400" cy="640080"/>
          </a:xfrm>
          <a:prstGeom prst="rect">
            <a:avLst/>
          </a:prstGeom>
          <a:noFill/>
          <a:ln/>
        </p:spPr>
        <p:txBody>
          <a:bodyPr wrap="square" lIns="0" tIns="0" rIns="0" bIns="0" rtlCol="0" anchor="ctr"/>
          <a:lstStyle/>
          <a:p>
            <a:pPr algn="ctr" indent="0" marL="0">
              <a:buNone/>
            </a:pPr>
            <a:r>
              <a:rPr lang="en-US" sz="1700" dirty="0">
                <a:solidFill>
                  <a:srgbClr val="A7ADB3"/>
                </a:solidFill>
                <a:latin typeface="Aptos" pitchFamily="34" charset="0"/>
                <a:ea typeface="Aptos" pitchFamily="34" charset="-122"/>
                <a:cs typeface="Aptos" pitchFamily="34" charset="-120"/>
              </a:rPr>
              <a:t>exact approved bytes</a:t>
            </a:r>
            <a:endParaRPr lang="en-US" sz="1700" dirty="0"/>
          </a:p>
        </p:txBody>
      </p:sp>
      <p:sp>
        <p:nvSpPr>
          <p:cNvPr id="23" name="Text 21"/>
          <p:cNvSpPr/>
          <p:nvPr/>
        </p:nvSpPr>
        <p:spPr>
          <a:xfrm>
            <a:off x="585216" y="4160520"/>
            <a:ext cx="10972800" cy="822960"/>
          </a:xfrm>
          <a:prstGeom prst="rect">
            <a:avLst/>
          </a:prstGeom>
          <a:noFill/>
          <a:ln/>
        </p:spPr>
        <p:txBody>
          <a:bodyPr wrap="square" lIns="0" tIns="0" rIns="0" bIns="0" rtlCol="0" anchor="ctr"/>
          <a:lstStyle/>
          <a:p>
            <a:pPr indent="0" marL="0">
              <a:buNone/>
            </a:pPr>
            <a:r>
              <a:rPr lang="en-US" sz="2200" dirty="0">
                <a:solidFill>
                  <a:srgbClr val="F0F0E8"/>
                </a:solidFill>
                <a:latin typeface="DejaVu Sans Mono" pitchFamily="34" charset="0"/>
                <a:ea typeface="DejaVu Sans Mono" pitchFamily="34" charset="-122"/>
                <a:cs typeface="DejaVu Sans Mono" pitchFamily="34" charset="-120"/>
              </a:rPr>
              <a:t>approval = MAC(artifact, verifier, cases, policy,</a:t>
            </a:r>
            <a:endParaRPr lang="en-US" sz="2200" dirty="0"/>
          </a:p>
          <a:p>
            <a:pPr indent="0" marL="0">
              <a:buNone/>
            </a:pPr>
            <a:r>
              <a:rPr lang="en-US" sz="2200" dirty="0">
                <a:solidFill>
                  <a:srgbClr val="F0F0E8"/>
                </a:solidFill>
                <a:latin typeface="DejaVu Sans Mono" pitchFamily="34" charset="0"/>
                <a:ea typeface="DejaVu Sans Mono" pitchFamily="34" charset="-122"/>
                <a:cs typeface="DejaVu Sans Mono" pitchFamily="34" charset="-120"/>
              </a:rPr>
              <a:t>               environment, task, run, nonce, expiry)</a:t>
            </a:r>
            <a:endParaRPr lang="en-US" sz="2200" dirty="0"/>
          </a:p>
        </p:txBody>
      </p:sp>
      <p:sp>
        <p:nvSpPr>
          <p:cNvPr id="24" name="Shape 22"/>
          <p:cNvSpPr/>
          <p:nvPr/>
        </p:nvSpPr>
        <p:spPr>
          <a:xfrm>
            <a:off x="530352" y="5468112"/>
            <a:ext cx="603504" cy="0"/>
          </a:xfrm>
          <a:prstGeom prst="line">
            <a:avLst/>
          </a:prstGeom>
          <a:noFill/>
          <a:ln w="27940">
            <a:solidFill>
              <a:srgbClr val="C7FF48"/>
            </a:solidFill>
            <a:prstDash val="solid"/>
          </a:ln>
        </p:spPr>
      </p:sp>
      <p:sp>
        <p:nvSpPr>
          <p:cNvPr id="25" name="Text 23"/>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An approval is a scoped capability for one exact artifact and one decision context.</a:t>
            </a:r>
            <a:endParaRPr lang="en-US" sz="2300" dirty="0"/>
          </a:p>
        </p:txBody>
      </p:sp>
      <p:sp>
        <p:nvSpPr>
          <p:cNvPr id="26" name="Text 24"/>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MAC is an internal shared-key model. Publication is an atomic local SQLite record of bytes.</a:t>
            </a:r>
            <a:endParaRPr lang="en-US" sz="1120" dirty="0"/>
          </a:p>
        </p:txBody>
      </p:sp>
      <p:sp>
        <p:nvSpPr>
          <p:cNvPr id="27" name="Text 25"/>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28" name="Text 26"/>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NEGATIVE TESTS + A POSITIVE CONTROL</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Challenge the gate before you trust the green check.</a:t>
            </a:r>
            <a:endParaRPr lang="en-US" sz="3000" dirty="0"/>
          </a:p>
        </p:txBody>
      </p:sp>
      <p:sp>
        <p:nvSpPr>
          <p:cNvPr id="4" name="Text 2"/>
          <p:cNvSpPr/>
          <p:nvPr/>
        </p:nvSpPr>
        <p:spPr>
          <a:xfrm>
            <a:off x="566928" y="1920240"/>
            <a:ext cx="254203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Attempt</a:t>
            </a:r>
            <a:endParaRPr lang="en-US" sz="1860" dirty="0"/>
          </a:p>
        </p:txBody>
      </p:sp>
      <p:sp>
        <p:nvSpPr>
          <p:cNvPr id="5" name="Text 3"/>
          <p:cNvSpPr/>
          <p:nvPr/>
        </p:nvSpPr>
        <p:spPr>
          <a:xfrm>
            <a:off x="3310128" y="1920240"/>
            <a:ext cx="363931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Required outcome</a:t>
            </a:r>
            <a:endParaRPr lang="en-US" sz="1860" dirty="0"/>
          </a:p>
        </p:txBody>
      </p:sp>
      <p:sp>
        <p:nvSpPr>
          <p:cNvPr id="6" name="Text 4"/>
          <p:cNvSpPr/>
          <p:nvPr/>
        </p:nvSpPr>
        <p:spPr>
          <a:xfrm>
            <a:off x="7150608" y="1920240"/>
            <a:ext cx="4160520"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Control</a:t>
            </a:r>
            <a:endParaRPr lang="en-US" sz="1860" dirty="0"/>
          </a:p>
        </p:txBody>
      </p:sp>
      <p:sp>
        <p:nvSpPr>
          <p:cNvPr id="7" name="Shape 5"/>
          <p:cNvSpPr/>
          <p:nvPr/>
        </p:nvSpPr>
        <p:spPr>
          <a:xfrm>
            <a:off x="566928" y="2523744"/>
            <a:ext cx="10917936" cy="0"/>
          </a:xfrm>
          <a:prstGeom prst="line">
            <a:avLst/>
          </a:prstGeom>
          <a:noFill/>
          <a:ln w="6350">
            <a:solidFill>
              <a:srgbClr val="35404B"/>
            </a:solidFill>
            <a:prstDash val="solid"/>
          </a:ln>
        </p:spPr>
      </p:sp>
      <p:sp>
        <p:nvSpPr>
          <p:cNvPr id="8" name="Text 6"/>
          <p:cNvSpPr/>
          <p:nvPr/>
        </p:nvSpPr>
        <p:spPr>
          <a:xfrm>
            <a:off x="566928" y="2587752"/>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Bad candidate</a:t>
            </a:r>
            <a:endParaRPr lang="en-US" sz="1850" dirty="0"/>
          </a:p>
        </p:txBody>
      </p:sp>
      <p:sp>
        <p:nvSpPr>
          <p:cNvPr id="9" name="Text 7"/>
          <p:cNvSpPr/>
          <p:nvPr/>
        </p:nvSpPr>
        <p:spPr>
          <a:xfrm>
            <a:off x="3310128" y="2587752"/>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REJECT</a:t>
            </a:r>
            <a:endParaRPr lang="en-US" sz="1850" dirty="0"/>
          </a:p>
        </p:txBody>
      </p:sp>
      <p:sp>
        <p:nvSpPr>
          <p:cNvPr id="10" name="Text 8"/>
          <p:cNvSpPr/>
          <p:nvPr/>
        </p:nvSpPr>
        <p:spPr>
          <a:xfrm>
            <a:off x="7150608" y="2587752"/>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Good candidate accepted</a:t>
            </a:r>
            <a:endParaRPr lang="en-US" sz="1850" dirty="0"/>
          </a:p>
        </p:txBody>
      </p:sp>
      <p:sp>
        <p:nvSpPr>
          <p:cNvPr id="11" name="Shape 9"/>
          <p:cNvSpPr/>
          <p:nvPr/>
        </p:nvSpPr>
        <p:spPr>
          <a:xfrm>
            <a:off x="566928" y="3136392"/>
            <a:ext cx="10917936" cy="0"/>
          </a:xfrm>
          <a:prstGeom prst="line">
            <a:avLst/>
          </a:prstGeom>
          <a:noFill/>
          <a:ln w="6350">
            <a:solidFill>
              <a:srgbClr val="35404B"/>
            </a:solidFill>
            <a:prstDash val="solid"/>
          </a:ln>
        </p:spPr>
      </p:sp>
      <p:sp>
        <p:nvSpPr>
          <p:cNvPr id="12" name="Text 10"/>
          <p:cNvSpPr/>
          <p:nvPr/>
        </p:nvSpPr>
        <p:spPr>
          <a:xfrm>
            <a:off x="566928" y="3200400"/>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Fresh approval, different bytes</a:t>
            </a:r>
            <a:endParaRPr lang="en-US" sz="1850" dirty="0"/>
          </a:p>
        </p:txBody>
      </p:sp>
      <p:sp>
        <p:nvSpPr>
          <p:cNvPr id="13" name="Text 11"/>
          <p:cNvSpPr/>
          <p:nvPr/>
        </p:nvSpPr>
        <p:spPr>
          <a:xfrm>
            <a:off x="3310128" y="3200400"/>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DENIED</a:t>
            </a:r>
            <a:endParaRPr lang="en-US" sz="1850" dirty="0"/>
          </a:p>
        </p:txBody>
      </p:sp>
      <p:sp>
        <p:nvSpPr>
          <p:cNvPr id="14" name="Text 12"/>
          <p:cNvSpPr/>
          <p:nvPr/>
        </p:nvSpPr>
        <p:spPr>
          <a:xfrm>
            <a:off x="7150608" y="3200400"/>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Original bytes still publish</a:t>
            </a:r>
            <a:endParaRPr lang="en-US" sz="1850" dirty="0"/>
          </a:p>
        </p:txBody>
      </p:sp>
      <p:sp>
        <p:nvSpPr>
          <p:cNvPr id="15" name="Shape 13"/>
          <p:cNvSpPr/>
          <p:nvPr/>
        </p:nvSpPr>
        <p:spPr>
          <a:xfrm>
            <a:off x="566928" y="3749040"/>
            <a:ext cx="10917936" cy="0"/>
          </a:xfrm>
          <a:prstGeom prst="line">
            <a:avLst/>
          </a:prstGeom>
          <a:noFill/>
          <a:ln w="6350">
            <a:solidFill>
              <a:srgbClr val="35404B"/>
            </a:solidFill>
            <a:prstDash val="solid"/>
          </a:ln>
        </p:spPr>
      </p:sp>
      <p:sp>
        <p:nvSpPr>
          <p:cNvPr id="16" name="Text 14"/>
          <p:cNvSpPr/>
          <p:nvPr/>
        </p:nvSpPr>
        <p:spPr>
          <a:xfrm>
            <a:off x="566928" y="3813048"/>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Consumed approval</a:t>
            </a:r>
            <a:endParaRPr lang="en-US" sz="1850" dirty="0"/>
          </a:p>
        </p:txBody>
      </p:sp>
      <p:sp>
        <p:nvSpPr>
          <p:cNvPr id="17" name="Text 15"/>
          <p:cNvSpPr/>
          <p:nvPr/>
        </p:nvSpPr>
        <p:spPr>
          <a:xfrm>
            <a:off x="3310128" y="3813048"/>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DENIED</a:t>
            </a:r>
            <a:endParaRPr lang="en-US" sz="1850" dirty="0"/>
          </a:p>
        </p:txBody>
      </p:sp>
      <p:sp>
        <p:nvSpPr>
          <p:cNvPr id="18" name="Text 16"/>
          <p:cNvSpPr/>
          <p:nvPr/>
        </p:nvSpPr>
        <p:spPr>
          <a:xfrm>
            <a:off x="7150608" y="3813048"/>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One publication only</a:t>
            </a:r>
            <a:endParaRPr lang="en-US" sz="1850" dirty="0"/>
          </a:p>
        </p:txBody>
      </p:sp>
      <p:sp>
        <p:nvSpPr>
          <p:cNvPr id="19" name="Shape 17"/>
          <p:cNvSpPr/>
          <p:nvPr/>
        </p:nvSpPr>
        <p:spPr>
          <a:xfrm>
            <a:off x="566928" y="4361688"/>
            <a:ext cx="10917936" cy="0"/>
          </a:xfrm>
          <a:prstGeom prst="line">
            <a:avLst/>
          </a:prstGeom>
          <a:noFill/>
          <a:ln w="6350">
            <a:solidFill>
              <a:srgbClr val="35404B"/>
            </a:solidFill>
            <a:prstDash val="solid"/>
          </a:ln>
        </p:spPr>
      </p:sp>
      <p:sp>
        <p:nvSpPr>
          <p:cNvPr id="20" name="Text 18"/>
          <p:cNvSpPr/>
          <p:nvPr/>
        </p:nvSpPr>
        <p:spPr>
          <a:xfrm>
            <a:off x="566928" y="4425696"/>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Timeout / malformed output</a:t>
            </a:r>
            <a:endParaRPr lang="en-US" sz="1850" dirty="0"/>
          </a:p>
        </p:txBody>
      </p:sp>
      <p:sp>
        <p:nvSpPr>
          <p:cNvPr id="21" name="Text 19"/>
          <p:cNvSpPr/>
          <p:nvPr/>
        </p:nvSpPr>
        <p:spPr>
          <a:xfrm>
            <a:off x="3310128" y="4425696"/>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NO APPROVAL</a:t>
            </a:r>
            <a:endParaRPr lang="en-US" sz="1850" dirty="0"/>
          </a:p>
        </p:txBody>
      </p:sp>
      <p:sp>
        <p:nvSpPr>
          <p:cNvPr id="22" name="Text 20"/>
          <p:cNvSpPr/>
          <p:nvPr/>
        </p:nvSpPr>
        <p:spPr>
          <a:xfrm>
            <a:off x="7150608" y="4425696"/>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No fabricated verdict</a:t>
            </a:r>
            <a:endParaRPr lang="en-US" sz="1850" dirty="0"/>
          </a:p>
        </p:txBody>
      </p:sp>
      <p:sp>
        <p:nvSpPr>
          <p:cNvPr id="23" name="Shape 21"/>
          <p:cNvSpPr/>
          <p:nvPr/>
        </p:nvSpPr>
        <p:spPr>
          <a:xfrm>
            <a:off x="530352" y="5468112"/>
            <a:ext cx="603504" cy="0"/>
          </a:xfrm>
          <a:prstGeom prst="line">
            <a:avLst/>
          </a:prstGeom>
          <a:noFill/>
          <a:ln w="27940">
            <a:solidFill>
              <a:srgbClr val="C7FF48"/>
            </a:solidFill>
            <a:prstDash val="solid"/>
          </a:ln>
        </p:spPr>
      </p:sp>
      <p:sp>
        <p:nvSpPr>
          <p:cNvPr id="24" name="Text 22"/>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Test substitution before consuming the nonce, or the wrong defense may hide the bug.</a:t>
            </a:r>
            <a:endParaRPr lang="en-US" sz="2300" dirty="0"/>
          </a:p>
        </p:txBody>
      </p:sp>
      <p:sp>
        <p:nvSpPr>
          <p:cNvPr id="25" name="Text 23"/>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Protocol tests cover changed context, expiry, replay, immutable bytes, and concurrent publication.</a:t>
            </a:r>
            <a:endParaRPr lang="en-US" sz="1120" dirty="0"/>
          </a:p>
        </p:txBody>
      </p:sp>
      <p:sp>
        <p:nvSpPr>
          <p:cNvPr id="26" name="Text 24"/>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27" name="Text 25"/>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MULTI-AGENT IMPLICATION / NOT A MEASURED TRIAL</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More agents do not create an independent judge.</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SHARED AUTHORITY</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builder -&gt; expected.json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reviewer -&gt; expected.json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judge   -&gt; expected.json</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three roles, one writable key</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SEPARATE AUTHORITY</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workers -&gt; proposals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controller -&gt; policy</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isolated runs -&gt; observations</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one controlled publication gate</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Independence follows write authority and trusted dependencies, not agent count.</a:t>
            </a:r>
            <a:endParaRPr lang="en-US" sz="2300" dirty="0"/>
          </a:p>
        </p:txBody>
      </p:sp>
      <p:sp>
        <p:nvSpPr>
          <p:cNvPr id="12" name="Text 10"/>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Architectural inference from the answer-key experiment. No multi-agent benchmark is claimed.</a:t>
            </a:r>
            <a:endParaRPr lang="en-US" sz="1120" dirty="0"/>
          </a:p>
        </p:txBody>
      </p:sp>
      <p:sp>
        <p:nvSpPr>
          <p:cNvPr id="13" name="Text 11"/>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4" name="Text 12"/>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TAKE-HOME CHECKLIST</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Four tests to run on your own deployment.</a:t>
            </a:r>
            <a:endParaRPr lang="en-US" sz="3000" dirty="0"/>
          </a:p>
        </p:txBody>
      </p:sp>
      <p:sp>
        <p:nvSpPr>
          <p:cNvPr id="4" name="Text 2"/>
          <p:cNvSpPr/>
          <p:nvPr/>
        </p:nvSpPr>
        <p:spPr>
          <a:xfrm>
            <a:off x="566928" y="1920240"/>
            <a:ext cx="254203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Boundary</a:t>
            </a:r>
            <a:endParaRPr lang="en-US" sz="1860" dirty="0"/>
          </a:p>
        </p:txBody>
      </p:sp>
      <p:sp>
        <p:nvSpPr>
          <p:cNvPr id="5" name="Text 3"/>
          <p:cNvSpPr/>
          <p:nvPr/>
        </p:nvSpPr>
        <p:spPr>
          <a:xfrm>
            <a:off x="3310128" y="1920240"/>
            <a:ext cx="363931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Try the unauthorized action</a:t>
            </a:r>
            <a:endParaRPr lang="en-US" sz="1860" dirty="0"/>
          </a:p>
        </p:txBody>
      </p:sp>
      <p:sp>
        <p:nvSpPr>
          <p:cNvPr id="6" name="Text 4"/>
          <p:cNvSpPr/>
          <p:nvPr/>
        </p:nvSpPr>
        <p:spPr>
          <a:xfrm>
            <a:off x="7150608" y="1920240"/>
            <a:ext cx="4160520"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Keep this working</a:t>
            </a:r>
            <a:endParaRPr lang="en-US" sz="1860" dirty="0"/>
          </a:p>
        </p:txBody>
      </p:sp>
      <p:sp>
        <p:nvSpPr>
          <p:cNvPr id="7" name="Shape 5"/>
          <p:cNvSpPr/>
          <p:nvPr/>
        </p:nvSpPr>
        <p:spPr>
          <a:xfrm>
            <a:off x="566928" y="2523744"/>
            <a:ext cx="10917936" cy="0"/>
          </a:xfrm>
          <a:prstGeom prst="line">
            <a:avLst/>
          </a:prstGeom>
          <a:noFill/>
          <a:ln w="6350">
            <a:solidFill>
              <a:srgbClr val="35404B"/>
            </a:solidFill>
            <a:prstDash val="solid"/>
          </a:ln>
        </p:spPr>
      </p:sp>
      <p:sp>
        <p:nvSpPr>
          <p:cNvPr id="8" name="Text 6"/>
          <p:cNvSpPr/>
          <p:nvPr/>
        </p:nvSpPr>
        <p:spPr>
          <a:xfrm>
            <a:off x="566928" y="2587752"/>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Credential</a:t>
            </a:r>
            <a:endParaRPr lang="en-US" sz="1850" dirty="0"/>
          </a:p>
        </p:txBody>
      </p:sp>
      <p:sp>
        <p:nvSpPr>
          <p:cNvPr id="9" name="Text 7"/>
          <p:cNvSpPr/>
          <p:nvPr/>
        </p:nvSpPr>
        <p:spPr>
          <a:xfrm>
            <a:off x="3310128" y="2587752"/>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Read a different project</a:t>
            </a:r>
            <a:endParaRPr lang="en-US" sz="1850" dirty="0"/>
          </a:p>
        </p:txBody>
      </p:sp>
      <p:sp>
        <p:nvSpPr>
          <p:cNvPr id="10" name="Text 8"/>
          <p:cNvSpPr/>
          <p:nvPr/>
        </p:nvSpPr>
        <p:spPr>
          <a:xfrm>
            <a:off x="7150608" y="2587752"/>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Task input</a:t>
            </a:r>
            <a:endParaRPr lang="en-US" sz="1850" dirty="0"/>
          </a:p>
        </p:txBody>
      </p:sp>
      <p:sp>
        <p:nvSpPr>
          <p:cNvPr id="11" name="Shape 9"/>
          <p:cNvSpPr/>
          <p:nvPr/>
        </p:nvSpPr>
        <p:spPr>
          <a:xfrm>
            <a:off x="566928" y="3136392"/>
            <a:ext cx="10917936" cy="0"/>
          </a:xfrm>
          <a:prstGeom prst="line">
            <a:avLst/>
          </a:prstGeom>
          <a:noFill/>
          <a:ln w="6350">
            <a:solidFill>
              <a:srgbClr val="35404B"/>
            </a:solidFill>
            <a:prstDash val="solid"/>
          </a:ln>
        </p:spPr>
      </p:sp>
      <p:sp>
        <p:nvSpPr>
          <p:cNvPr id="12" name="Text 10"/>
          <p:cNvSpPr/>
          <p:nvPr/>
        </p:nvSpPr>
        <p:spPr>
          <a:xfrm>
            <a:off x="566928" y="3200400"/>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Filesystem</a:t>
            </a:r>
            <a:endParaRPr lang="en-US" sz="1850" dirty="0"/>
          </a:p>
        </p:txBody>
      </p:sp>
      <p:sp>
        <p:nvSpPr>
          <p:cNvPr id="13" name="Text 11"/>
          <p:cNvSpPr/>
          <p:nvPr/>
        </p:nvSpPr>
        <p:spPr>
          <a:xfrm>
            <a:off x="3310128" y="3200400"/>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Write outside task output</a:t>
            </a:r>
            <a:endParaRPr lang="en-US" sz="1850" dirty="0"/>
          </a:p>
        </p:txBody>
      </p:sp>
      <p:sp>
        <p:nvSpPr>
          <p:cNvPr id="14" name="Text 12"/>
          <p:cNvSpPr/>
          <p:nvPr/>
        </p:nvSpPr>
        <p:spPr>
          <a:xfrm>
            <a:off x="7150608" y="3200400"/>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Legitimate patch</a:t>
            </a:r>
            <a:endParaRPr lang="en-US" sz="1850" dirty="0"/>
          </a:p>
        </p:txBody>
      </p:sp>
      <p:sp>
        <p:nvSpPr>
          <p:cNvPr id="15" name="Shape 13"/>
          <p:cNvSpPr/>
          <p:nvPr/>
        </p:nvSpPr>
        <p:spPr>
          <a:xfrm>
            <a:off x="566928" y="3749040"/>
            <a:ext cx="10917936" cy="0"/>
          </a:xfrm>
          <a:prstGeom prst="line">
            <a:avLst/>
          </a:prstGeom>
          <a:noFill/>
          <a:ln w="6350">
            <a:solidFill>
              <a:srgbClr val="35404B"/>
            </a:solidFill>
            <a:prstDash val="solid"/>
          </a:ln>
        </p:spPr>
      </p:sp>
      <p:sp>
        <p:nvSpPr>
          <p:cNvPr id="16" name="Text 14"/>
          <p:cNvSpPr/>
          <p:nvPr/>
        </p:nvSpPr>
        <p:spPr>
          <a:xfrm>
            <a:off x="566928" y="3813048"/>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Egress</a:t>
            </a:r>
            <a:endParaRPr lang="en-US" sz="1850" dirty="0"/>
          </a:p>
        </p:txBody>
      </p:sp>
      <p:sp>
        <p:nvSpPr>
          <p:cNvPr id="17" name="Text 15"/>
          <p:cNvSpPr/>
          <p:nvPr/>
        </p:nvSpPr>
        <p:spPr>
          <a:xfrm>
            <a:off x="3310128" y="3813048"/>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Change recipient or body</a:t>
            </a:r>
            <a:endParaRPr lang="en-US" sz="1850" dirty="0"/>
          </a:p>
        </p:txBody>
      </p:sp>
      <p:sp>
        <p:nvSpPr>
          <p:cNvPr id="18" name="Text 16"/>
          <p:cNvSpPr/>
          <p:nvPr/>
        </p:nvSpPr>
        <p:spPr>
          <a:xfrm>
            <a:off x="7150608" y="3813048"/>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Authorized report</a:t>
            </a:r>
            <a:endParaRPr lang="en-US" sz="1850" dirty="0"/>
          </a:p>
        </p:txBody>
      </p:sp>
      <p:sp>
        <p:nvSpPr>
          <p:cNvPr id="19" name="Shape 17"/>
          <p:cNvSpPr/>
          <p:nvPr/>
        </p:nvSpPr>
        <p:spPr>
          <a:xfrm>
            <a:off x="566928" y="4361688"/>
            <a:ext cx="10917936" cy="0"/>
          </a:xfrm>
          <a:prstGeom prst="line">
            <a:avLst/>
          </a:prstGeom>
          <a:noFill/>
          <a:ln w="6350">
            <a:solidFill>
              <a:srgbClr val="35404B"/>
            </a:solidFill>
            <a:prstDash val="solid"/>
          </a:ln>
        </p:spPr>
      </p:sp>
      <p:sp>
        <p:nvSpPr>
          <p:cNvPr id="20" name="Text 18"/>
          <p:cNvSpPr/>
          <p:nvPr/>
        </p:nvSpPr>
        <p:spPr>
          <a:xfrm>
            <a:off x="566928" y="4425696"/>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Acceptance</a:t>
            </a:r>
            <a:endParaRPr lang="en-US" sz="1850" dirty="0"/>
          </a:p>
        </p:txBody>
      </p:sp>
      <p:sp>
        <p:nvSpPr>
          <p:cNvPr id="21" name="Text 19"/>
          <p:cNvSpPr/>
          <p:nvPr/>
        </p:nvSpPr>
        <p:spPr>
          <a:xfrm>
            <a:off x="3310128" y="4425696"/>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Change cases or swap bytes</a:t>
            </a:r>
            <a:endParaRPr lang="en-US" sz="1850" dirty="0"/>
          </a:p>
        </p:txBody>
      </p:sp>
      <p:sp>
        <p:nvSpPr>
          <p:cNvPr id="22" name="Text 20"/>
          <p:cNvSpPr/>
          <p:nvPr/>
        </p:nvSpPr>
        <p:spPr>
          <a:xfrm>
            <a:off x="7150608" y="4425696"/>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Verified artifact</a:t>
            </a:r>
            <a:endParaRPr lang="en-US" sz="1850" dirty="0"/>
          </a:p>
        </p:txBody>
      </p:sp>
      <p:sp>
        <p:nvSpPr>
          <p:cNvPr id="23" name="Shape 21"/>
          <p:cNvSpPr/>
          <p:nvPr/>
        </p:nvSpPr>
        <p:spPr>
          <a:xfrm>
            <a:off x="530352" y="5468112"/>
            <a:ext cx="603504" cy="0"/>
          </a:xfrm>
          <a:prstGeom prst="line">
            <a:avLst/>
          </a:prstGeom>
          <a:noFill/>
          <a:ln w="27940">
            <a:solidFill>
              <a:srgbClr val="C7FF48"/>
            </a:solidFill>
            <a:prstDash val="solid"/>
          </a:ln>
        </p:spPr>
      </p:sp>
      <p:sp>
        <p:nvSpPr>
          <p:cNvPr id="24" name="Text 22"/>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For every denial, require a positive control that still completes the task.</a:t>
            </a:r>
            <a:endParaRPr lang="en-US" sz="2300" dirty="0"/>
          </a:p>
        </p:txBody>
      </p:sp>
      <p:sp>
        <p:nvSpPr>
          <p:cNvPr id="25" name="Text 23"/>
          <p:cNvSpPr/>
          <p:nvPr/>
        </p:nvSpPr>
        <p:spPr>
          <a:xfrm>
            <a:off x="530352" y="6254496"/>
            <a:ext cx="10835640" cy="256032"/>
          </a:xfrm>
          <a:prstGeom prst="rect">
            <a:avLst/>
          </a:prstGeom>
          <a:noFill/>
          <a:ln/>
        </p:spPr>
        <p:txBody>
          <a:bodyPr wrap="square" lIns="0" tIns="0" rIns="0" bIns="0" rtlCol="0" anchor="ctr"/>
          <a:lstStyle/>
          <a:p>
            <a:pPr indent="0" marL="0">
              <a:buNone/>
            </a:pPr>
            <a:r>
              <a:rPr lang="en-US" sz="1120" dirty="0">
                <a:solidFill>
                  <a:srgbClr val="A7ADB3"/>
                </a:solidFill>
                <a:latin typeface="Aptos" pitchFamily="34" charset="0"/>
                <a:ea typeface="Aptos" pitchFamily="34" charset="-122"/>
                <a:cs typeface="Aptos" pitchFamily="34" charset="-120"/>
              </a:rPr>
              <a:t>Scope credentials; narrow mounts; enforce broker-only egress; bind independent acceptance to bytes.</a:t>
            </a:r>
            <a:endParaRPr lang="en-US" sz="1120" dirty="0"/>
          </a:p>
        </p:txBody>
      </p:sp>
      <p:sp>
        <p:nvSpPr>
          <p:cNvPr id="26" name="Text 24"/>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27" name="Text 25"/>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48640" y="457200"/>
            <a:ext cx="10972800" cy="347472"/>
          </a:xfrm>
          <a:prstGeom prst="rect">
            <a:avLst/>
          </a:prstGeom>
          <a:noFill/>
          <a:ln/>
        </p:spPr>
        <p:txBody>
          <a:bodyPr wrap="square" lIns="0" tIns="0" rIns="0" bIns="0" rtlCol="0" anchor="ctr"/>
          <a:lstStyle/>
          <a:p>
            <a:pPr indent="0" marL="0">
              <a:buNone/>
            </a:pPr>
            <a:r>
              <a:rPr lang="en-US" sz="1320" dirty="0">
                <a:solidFill>
                  <a:srgbClr val="C7FF48"/>
                </a:solidFill>
                <a:latin typeface="Aptos" pitchFamily="34" charset="0"/>
                <a:ea typeface="Aptos" pitchFamily="34" charset="-122"/>
                <a:cs typeface="Aptos" pitchFamily="34" charset="-120"/>
              </a:rPr>
              <a:t>KEEP EXECUTION AND ACCEPTANCE AS SEPARATE AUTHORITIES</a:t>
            </a:r>
            <a:endParaRPr lang="en-US" sz="1320" dirty="0"/>
          </a:p>
        </p:txBody>
      </p:sp>
      <p:sp>
        <p:nvSpPr>
          <p:cNvPr id="3" name="Text 1"/>
          <p:cNvSpPr/>
          <p:nvPr/>
        </p:nvSpPr>
        <p:spPr>
          <a:xfrm>
            <a:off x="548640" y="1298448"/>
            <a:ext cx="10972800" cy="1828800"/>
          </a:xfrm>
          <a:prstGeom prst="rect">
            <a:avLst/>
          </a:prstGeom>
          <a:noFill/>
          <a:ln/>
        </p:spPr>
        <p:txBody>
          <a:bodyPr wrap="square" lIns="0" tIns="0" rIns="0" bIns="0" rtlCol="0" anchor="ctr"/>
          <a:lstStyle/>
          <a:p>
            <a:pPr indent="0" marL="0">
              <a:buNone/>
            </a:pPr>
            <a:r>
              <a:rPr lang="en-US" sz="3500" b="1" dirty="0">
                <a:solidFill>
                  <a:srgbClr val="F0F0E8"/>
                </a:solidFill>
                <a:latin typeface="Aptos" pitchFamily="34" charset="0"/>
                <a:ea typeface="Aptos" pitchFamily="34" charset="-122"/>
                <a:cs typeface="Aptos" pitchFamily="34" charset="-120"/>
              </a:rPr>
              <a:t>The worker may propose the artifact.</a:t>
            </a:r>
            <a:endParaRPr lang="en-US" sz="3500" dirty="0"/>
          </a:p>
          <a:p>
            <a:pPr indent="0" marL="0">
              <a:buNone/>
            </a:pPr>
            <a:r>
              <a:rPr lang="en-US" sz="3500" b="1" dirty="0">
                <a:solidFill>
                  <a:srgbClr val="F0F0E8"/>
                </a:solidFill>
                <a:latin typeface="Aptos" pitchFamily="34" charset="0"/>
                <a:ea typeface="Aptos" pitchFamily="34" charset="-122"/>
                <a:cs typeface="Aptos" pitchFamily="34" charset="-120"/>
              </a:rPr>
              <a:t>It must not define why that artifact</a:t>
            </a:r>
            <a:endParaRPr lang="en-US" sz="3500" dirty="0"/>
          </a:p>
          <a:p>
            <a:pPr indent="0" marL="0">
              <a:buNone/>
            </a:pPr>
            <a:r>
              <a:rPr lang="en-US" sz="3500" b="1" dirty="0">
                <a:solidFill>
                  <a:srgbClr val="F0F0E8"/>
                </a:solidFill>
                <a:latin typeface="Aptos" pitchFamily="34" charset="0"/>
                <a:ea typeface="Aptos" pitchFamily="34" charset="-122"/>
                <a:cs typeface="Aptos" pitchFamily="34" charset="-120"/>
              </a:rPr>
              <a:t>is eligible for release.</a:t>
            </a:r>
            <a:endParaRPr lang="en-US" sz="3500" dirty="0"/>
          </a:p>
        </p:txBody>
      </p:sp>
      <p:sp>
        <p:nvSpPr>
          <p:cNvPr id="4" name="Text 2"/>
          <p:cNvSpPr/>
          <p:nvPr/>
        </p:nvSpPr>
        <p:spPr>
          <a:xfrm>
            <a:off x="548640" y="3520440"/>
            <a:ext cx="10972800" cy="548640"/>
          </a:xfrm>
          <a:prstGeom prst="rect">
            <a:avLst/>
          </a:prstGeom>
          <a:noFill/>
          <a:ln/>
        </p:spPr>
        <p:txBody>
          <a:bodyPr wrap="square" lIns="0" tIns="0" rIns="0" bIns="0" rtlCol="0" anchor="ctr"/>
          <a:lstStyle/>
          <a:p>
            <a:pPr indent="0" marL="0">
              <a:buNone/>
            </a:pPr>
            <a:r>
              <a:rPr lang="en-US" sz="2800" dirty="0">
                <a:solidFill>
                  <a:srgbClr val="C7FF48"/>
                </a:solidFill>
                <a:latin typeface="DejaVu Sans Mono" pitchFamily="34" charset="0"/>
                <a:ea typeface="DejaVu Sans Mono" pitchFamily="34" charset="-122"/>
                <a:cs typeface="DejaVu Sans Mono" pitchFamily="34" charset="-120"/>
              </a:rPr>
              <a:t>github.com/zozo123/nyc-talk</a:t>
            </a:r>
            <a:endParaRPr lang="en-US" sz="2800" dirty="0"/>
          </a:p>
        </p:txBody>
      </p:sp>
      <p:sp>
        <p:nvSpPr>
          <p:cNvPr id="5" name="Text 3"/>
          <p:cNvSpPr/>
          <p:nvPr/>
        </p:nvSpPr>
        <p:spPr>
          <a:xfrm>
            <a:off x="548640" y="4261104"/>
            <a:ext cx="10972800" cy="987552"/>
          </a:xfrm>
          <a:prstGeom prst="rect">
            <a:avLst/>
          </a:prstGeom>
          <a:noFill/>
          <a:ln/>
        </p:spPr>
        <p:txBody>
          <a:bodyPr wrap="square" lIns="0" tIns="0" rIns="0" bIns="0" rtlCol="0" anchor="ctr"/>
          <a:lstStyle/>
          <a:p>
            <a:pPr indent="0" marL="0">
              <a:buNone/>
            </a:pPr>
            <a:r>
              <a:rPr lang="en-US" sz="1900" dirty="0">
                <a:solidFill>
                  <a:srgbClr val="F0F0E8"/>
                </a:solidFill>
                <a:latin typeface="DejaVu Sans Mono" pitchFamily="34" charset="0"/>
                <a:ea typeface="DejaVu Sans Mono" pitchFamily="34" charset="-122"/>
                <a:cs typeface="DejaVu Sans Mono" pitchFamily="34" charset="-120"/>
              </a:rPr>
              <a:t>make test</a:t>
            </a:r>
            <a:endParaRPr lang="en-US" sz="1900" dirty="0"/>
          </a:p>
          <a:p>
            <a:pPr indent="0" marL="0">
              <a:buNone/>
            </a:pPr>
            <a:r>
              <a:rPr lang="en-US" sz="1900" dirty="0">
                <a:solidFill>
                  <a:srgbClr val="F0F0E8"/>
                </a:solidFill>
                <a:latin typeface="DejaVu Sans Mono" pitchFamily="34" charset="0"/>
                <a:ea typeface="DejaVu Sans Mono" pitchFamily="34" charset="-122"/>
                <a:cs typeface="DejaVu Sans Mono" pitchFamily="34" charset="-120"/>
              </a:rPr>
              <a:t>make demo</a:t>
            </a:r>
            <a:endParaRPr lang="en-US" sz="1900" dirty="0"/>
          </a:p>
          <a:p>
            <a:pPr indent="0" marL="0">
              <a:buNone/>
            </a:pPr>
            <a:r>
              <a:rPr lang="en-US" sz="1900" dirty="0">
                <a:solidFill>
                  <a:srgbClr val="F0F0E8"/>
                </a:solidFill>
                <a:latin typeface="DejaVu Sans Mono" pitchFamily="34" charset="0"/>
                <a:ea typeface="DejaVu Sans Mono" pitchFamily="34" charset="-122"/>
                <a:cs typeface="DejaVu Sans Mono" pitchFamily="34" charset="-120"/>
              </a:rPr>
              <a:t>make factory-isolated</a:t>
            </a:r>
            <a:endParaRPr lang="en-US" sz="1900" dirty="0"/>
          </a:p>
        </p:txBody>
      </p:sp>
      <p:sp>
        <p:nvSpPr>
          <p:cNvPr id="6" name="Shape 4"/>
          <p:cNvSpPr/>
          <p:nvPr/>
        </p:nvSpPr>
        <p:spPr>
          <a:xfrm>
            <a:off x="530352" y="5468112"/>
            <a:ext cx="603504" cy="0"/>
          </a:xfrm>
          <a:prstGeom prst="line">
            <a:avLst/>
          </a:prstGeom>
          <a:noFill/>
          <a:ln w="27940">
            <a:solidFill>
              <a:srgbClr val="C7FF48"/>
            </a:solidFill>
            <a:prstDash val="solid"/>
          </a:ln>
        </p:spPr>
      </p:sp>
      <p:sp>
        <p:nvSpPr>
          <p:cNvPr id="7" name="Text 5"/>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Source. Evidence. Counterexamples. Positive controls.</a:t>
            </a:r>
            <a:endParaRPr lang="en-US" sz="2300" dirty="0"/>
          </a:p>
        </p:txBody>
      </p:sp>
      <p:sp>
        <p:nvSpPr>
          <p:cNvPr id="8" name="Text 6"/>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9" name="Text 7"/>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TECHNICAL APPENDIX</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Appendix / What the evidence actually establishes</a:t>
            </a:r>
            <a:endParaRPr lang="en-US" sz="3000" dirty="0"/>
          </a:p>
        </p:txBody>
      </p:sp>
      <p:sp>
        <p:nvSpPr>
          <p:cNvPr id="4" name="Text 2"/>
          <p:cNvSpPr/>
          <p:nvPr/>
        </p:nvSpPr>
        <p:spPr>
          <a:xfrm>
            <a:off x="566928" y="1920240"/>
            <a:ext cx="254203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Evidence class</a:t>
            </a:r>
            <a:endParaRPr lang="en-US" sz="1860" dirty="0"/>
          </a:p>
        </p:txBody>
      </p:sp>
      <p:sp>
        <p:nvSpPr>
          <p:cNvPr id="5" name="Text 3"/>
          <p:cNvSpPr/>
          <p:nvPr/>
        </p:nvSpPr>
        <p:spPr>
          <a:xfrm>
            <a:off x="3310128" y="1920240"/>
            <a:ext cx="363931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Execution</a:t>
            </a:r>
            <a:endParaRPr lang="en-US" sz="1860" dirty="0"/>
          </a:p>
        </p:txBody>
      </p:sp>
      <p:sp>
        <p:nvSpPr>
          <p:cNvPr id="6" name="Text 4"/>
          <p:cNvSpPr/>
          <p:nvPr/>
        </p:nvSpPr>
        <p:spPr>
          <a:xfrm>
            <a:off x="7150608" y="1920240"/>
            <a:ext cx="4160520"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Limit</a:t>
            </a:r>
            <a:endParaRPr lang="en-US" sz="1860" dirty="0"/>
          </a:p>
        </p:txBody>
      </p:sp>
      <p:sp>
        <p:nvSpPr>
          <p:cNvPr id="7" name="Shape 5"/>
          <p:cNvSpPr/>
          <p:nvPr/>
        </p:nvSpPr>
        <p:spPr>
          <a:xfrm>
            <a:off x="566928" y="2523744"/>
            <a:ext cx="10917936" cy="0"/>
          </a:xfrm>
          <a:prstGeom prst="line">
            <a:avLst/>
          </a:prstGeom>
          <a:noFill/>
          <a:ln w="6350">
            <a:solidFill>
              <a:srgbClr val="35404B"/>
            </a:solidFill>
            <a:prstDash val="solid"/>
          </a:ln>
        </p:spPr>
      </p:sp>
      <p:sp>
        <p:nvSpPr>
          <p:cNvPr id="8" name="Text 6"/>
          <p:cNvSpPr/>
          <p:nvPr/>
        </p:nvSpPr>
        <p:spPr>
          <a:xfrm>
            <a:off x="566928" y="2587752"/>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Isolation lab</a:t>
            </a:r>
            <a:endParaRPr lang="en-US" sz="1850" dirty="0"/>
          </a:p>
        </p:txBody>
      </p:sp>
      <p:sp>
        <p:nvSpPr>
          <p:cNvPr id="9" name="Text 7"/>
          <p:cNvSpPr/>
          <p:nvPr/>
        </p:nvSpPr>
        <p:spPr>
          <a:xfrm>
            <a:off x="3310128" y="2587752"/>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Linux namespaces + mounts</a:t>
            </a:r>
            <a:endParaRPr lang="en-US" sz="1850" dirty="0"/>
          </a:p>
        </p:txBody>
      </p:sp>
      <p:sp>
        <p:nvSpPr>
          <p:cNvPr id="10" name="Text 8"/>
          <p:cNvSpPr/>
          <p:nvPr/>
        </p:nvSpPr>
        <p:spPr>
          <a:xfrm>
            <a:off x="7150608" y="2587752"/>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29 assertions, not 29 vulnerabilities</a:t>
            </a:r>
            <a:endParaRPr lang="en-US" sz="1850" dirty="0"/>
          </a:p>
        </p:txBody>
      </p:sp>
      <p:sp>
        <p:nvSpPr>
          <p:cNvPr id="11" name="Shape 9"/>
          <p:cNvSpPr/>
          <p:nvPr/>
        </p:nvSpPr>
        <p:spPr>
          <a:xfrm>
            <a:off x="566928" y="3136392"/>
            <a:ext cx="10917936" cy="0"/>
          </a:xfrm>
          <a:prstGeom prst="line">
            <a:avLst/>
          </a:prstGeom>
          <a:noFill/>
          <a:ln w="6350">
            <a:solidFill>
              <a:srgbClr val="35404B"/>
            </a:solidFill>
            <a:prstDash val="solid"/>
          </a:ln>
        </p:spPr>
      </p:sp>
      <p:sp>
        <p:nvSpPr>
          <p:cNvPr id="12" name="Text 10"/>
          <p:cNvSpPr/>
          <p:nvPr/>
        </p:nvSpPr>
        <p:spPr>
          <a:xfrm>
            <a:off x="566928" y="3200400"/>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Checker experiment</a:t>
            </a:r>
            <a:endParaRPr lang="en-US" sz="1850" dirty="0"/>
          </a:p>
        </p:txBody>
      </p:sp>
      <p:sp>
        <p:nvSpPr>
          <p:cNvPr id="13" name="Text 11"/>
          <p:cNvSpPr/>
          <p:nvPr/>
        </p:nvSpPr>
        <p:spPr>
          <a:xfrm>
            <a:off x="3310128" y="3200400"/>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Read-only checker + mutable key</a:t>
            </a:r>
            <a:endParaRPr lang="en-US" sz="1850" dirty="0"/>
          </a:p>
        </p:txBody>
      </p:sp>
      <p:sp>
        <p:nvSpPr>
          <p:cNvPr id="14" name="Text 12"/>
          <p:cNvSpPr/>
          <p:nvPr/>
        </p:nvSpPr>
        <p:spPr>
          <a:xfrm>
            <a:off x="7150608" y="3200400"/>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Deterministic scripts; five-case model</a:t>
            </a:r>
            <a:endParaRPr lang="en-US" sz="1850" dirty="0"/>
          </a:p>
        </p:txBody>
      </p:sp>
      <p:sp>
        <p:nvSpPr>
          <p:cNvPr id="15" name="Shape 13"/>
          <p:cNvSpPr/>
          <p:nvPr/>
        </p:nvSpPr>
        <p:spPr>
          <a:xfrm>
            <a:off x="566928" y="3749040"/>
            <a:ext cx="10917936" cy="0"/>
          </a:xfrm>
          <a:prstGeom prst="line">
            <a:avLst/>
          </a:prstGeom>
          <a:noFill/>
          <a:ln w="6350">
            <a:solidFill>
              <a:srgbClr val="35404B"/>
            </a:solidFill>
            <a:prstDash val="solid"/>
          </a:ln>
        </p:spPr>
      </p:sp>
      <p:sp>
        <p:nvSpPr>
          <p:cNvPr id="16" name="Text 14"/>
          <p:cNvSpPr/>
          <p:nvPr/>
        </p:nvSpPr>
        <p:spPr>
          <a:xfrm>
            <a:off x="566928" y="3813048"/>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Protocol regressions</a:t>
            </a:r>
            <a:endParaRPr lang="en-US" sz="1850" dirty="0"/>
          </a:p>
        </p:txBody>
      </p:sp>
      <p:sp>
        <p:nvSpPr>
          <p:cNvPr id="17" name="Text 15"/>
          <p:cNvSpPr/>
          <p:nvPr/>
        </p:nvSpPr>
        <p:spPr>
          <a:xfrm>
            <a:off x="3310128" y="3813048"/>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Local controller tests</a:t>
            </a:r>
            <a:endParaRPr lang="en-US" sz="1850" dirty="0"/>
          </a:p>
        </p:txBody>
      </p:sp>
      <p:sp>
        <p:nvSpPr>
          <p:cNvPr id="18" name="Text 16"/>
          <p:cNvSpPr/>
          <p:nvPr/>
        </p:nvSpPr>
        <p:spPr>
          <a:xfrm>
            <a:off x="7150608" y="3813048"/>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No OS isolation claim</a:t>
            </a:r>
            <a:endParaRPr lang="en-US" sz="1850" dirty="0"/>
          </a:p>
        </p:txBody>
      </p:sp>
      <p:sp>
        <p:nvSpPr>
          <p:cNvPr id="19" name="Shape 17"/>
          <p:cNvSpPr/>
          <p:nvPr/>
        </p:nvSpPr>
        <p:spPr>
          <a:xfrm>
            <a:off x="566928" y="4361688"/>
            <a:ext cx="10917936" cy="0"/>
          </a:xfrm>
          <a:prstGeom prst="line">
            <a:avLst/>
          </a:prstGeom>
          <a:noFill/>
          <a:ln w="6350">
            <a:solidFill>
              <a:srgbClr val="35404B"/>
            </a:solidFill>
            <a:prstDash val="solid"/>
          </a:ln>
        </p:spPr>
      </p:sp>
      <p:sp>
        <p:nvSpPr>
          <p:cNvPr id="20" name="Text 18"/>
          <p:cNvSpPr/>
          <p:nvPr/>
        </p:nvSpPr>
        <p:spPr>
          <a:xfrm>
            <a:off x="566928" y="4425696"/>
            <a:ext cx="251460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Multi-agent / snapshots</a:t>
            </a:r>
            <a:endParaRPr lang="en-US" sz="1850" dirty="0"/>
          </a:p>
        </p:txBody>
      </p:sp>
      <p:sp>
        <p:nvSpPr>
          <p:cNvPr id="21" name="Text 19"/>
          <p:cNvSpPr/>
          <p:nvPr/>
        </p:nvSpPr>
        <p:spPr>
          <a:xfrm>
            <a:off x="3310128" y="4425696"/>
            <a:ext cx="3611880"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Architectural implications</a:t>
            </a:r>
            <a:endParaRPr lang="en-US" sz="1850" dirty="0"/>
          </a:p>
        </p:txBody>
      </p:sp>
      <p:sp>
        <p:nvSpPr>
          <p:cNvPr id="22" name="Text 20"/>
          <p:cNvSpPr/>
          <p:nvPr/>
        </p:nvSpPr>
        <p:spPr>
          <a:xfrm>
            <a:off x="7150608" y="4425696"/>
            <a:ext cx="4133088" cy="557784"/>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Not measured attack trials</a:t>
            </a:r>
            <a:endParaRPr lang="en-US" sz="1850" dirty="0"/>
          </a:p>
        </p:txBody>
      </p:sp>
      <p:sp>
        <p:nvSpPr>
          <p:cNvPr id="23" name="Shape 21"/>
          <p:cNvSpPr/>
          <p:nvPr/>
        </p:nvSpPr>
        <p:spPr>
          <a:xfrm>
            <a:off x="530352" y="5468112"/>
            <a:ext cx="603504" cy="0"/>
          </a:xfrm>
          <a:prstGeom prst="line">
            <a:avLst/>
          </a:prstGeom>
          <a:noFill/>
          <a:ln w="27940">
            <a:solidFill>
              <a:srgbClr val="C7FF48"/>
            </a:solidFill>
            <a:prstDash val="solid"/>
          </a:ln>
        </p:spPr>
      </p:sp>
      <p:sp>
        <p:nvSpPr>
          <p:cNvPr id="24" name="Text 22"/>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No vendor zero-day, customer incident, model success rate, or general sandbox certification.</a:t>
            </a:r>
            <a:endParaRPr lang="en-US" sz="2300" dirty="0"/>
          </a:p>
        </p:txBody>
      </p:sp>
      <p:sp>
        <p:nvSpPr>
          <p:cNvPr id="25" name="Text 23"/>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26" name="Text 24"/>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TECHNICAL APPENDIX</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Appendix / The five policy cases</a:t>
            </a:r>
            <a:endParaRPr lang="en-US" sz="3000" dirty="0"/>
          </a:p>
        </p:txBody>
      </p:sp>
      <p:sp>
        <p:nvSpPr>
          <p:cNvPr id="4" name="Text 2"/>
          <p:cNvSpPr/>
          <p:nvPr/>
        </p:nvSpPr>
        <p:spPr>
          <a:xfrm>
            <a:off x="566928" y="1920240"/>
            <a:ext cx="254203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Input</a:t>
            </a:r>
            <a:endParaRPr lang="en-US" sz="1860" dirty="0"/>
          </a:p>
        </p:txBody>
      </p:sp>
      <p:sp>
        <p:nvSpPr>
          <p:cNvPr id="5" name="Text 3"/>
          <p:cNvSpPr/>
          <p:nvPr/>
        </p:nvSpPr>
        <p:spPr>
          <a:xfrm>
            <a:off x="3310128" y="1920240"/>
            <a:ext cx="3639312"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Expected</a:t>
            </a:r>
            <a:endParaRPr lang="en-US" sz="1860" dirty="0"/>
          </a:p>
        </p:txBody>
      </p:sp>
      <p:sp>
        <p:nvSpPr>
          <p:cNvPr id="6" name="Text 4"/>
          <p:cNvSpPr/>
          <p:nvPr/>
        </p:nvSpPr>
        <p:spPr>
          <a:xfrm>
            <a:off x="7150608" y="1920240"/>
            <a:ext cx="4160520" cy="530352"/>
          </a:xfrm>
          <a:prstGeom prst="rect">
            <a:avLst/>
          </a:prstGeom>
          <a:noFill/>
          <a:ln/>
        </p:spPr>
        <p:txBody>
          <a:bodyPr wrap="square" lIns="0" tIns="0" rIns="0" bIns="0" rtlCol="0" anchor="ctr"/>
          <a:lstStyle/>
          <a:p>
            <a:pPr indent="0" marL="0">
              <a:buNone/>
            </a:pPr>
            <a:r>
              <a:rPr lang="en-US" sz="1860" b="1" dirty="0">
                <a:solidFill>
                  <a:srgbClr val="C7FF48"/>
                </a:solidFill>
                <a:latin typeface="Aptos" pitchFamily="34" charset="0"/>
                <a:ea typeface="Aptos" pitchFamily="34" charset="-122"/>
                <a:cs typeface="Aptos" pitchFamily="34" charset="-120"/>
              </a:rPr>
              <a:t>Always-200 candidate</a:t>
            </a:r>
            <a:endParaRPr lang="en-US" sz="1860" dirty="0"/>
          </a:p>
        </p:txBody>
      </p:sp>
      <p:sp>
        <p:nvSpPr>
          <p:cNvPr id="7" name="Shape 5"/>
          <p:cNvSpPr/>
          <p:nvPr/>
        </p:nvSpPr>
        <p:spPr>
          <a:xfrm>
            <a:off x="566928" y="2523744"/>
            <a:ext cx="10917936" cy="0"/>
          </a:xfrm>
          <a:prstGeom prst="line">
            <a:avLst/>
          </a:prstGeom>
          <a:noFill/>
          <a:ln w="6350">
            <a:solidFill>
              <a:srgbClr val="35404B"/>
            </a:solidFill>
            <a:prstDash val="solid"/>
          </a:ln>
        </p:spPr>
      </p:sp>
      <p:sp>
        <p:nvSpPr>
          <p:cNvPr id="8" name="Text 6"/>
          <p:cNvSpPr/>
          <p:nvPr/>
        </p:nvSpPr>
        <p:spPr>
          <a:xfrm>
            <a:off x="566928" y="2587752"/>
            <a:ext cx="251460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admin:none</a:t>
            </a:r>
            <a:endParaRPr lang="en-US" sz="1850" dirty="0"/>
          </a:p>
        </p:txBody>
      </p:sp>
      <p:sp>
        <p:nvSpPr>
          <p:cNvPr id="9" name="Text 7"/>
          <p:cNvSpPr/>
          <p:nvPr/>
        </p:nvSpPr>
        <p:spPr>
          <a:xfrm>
            <a:off x="3310128" y="2587752"/>
            <a:ext cx="361188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401</a:t>
            </a:r>
            <a:endParaRPr lang="en-US" sz="1850" dirty="0"/>
          </a:p>
        </p:txBody>
      </p:sp>
      <p:sp>
        <p:nvSpPr>
          <p:cNvPr id="10" name="Text 8"/>
          <p:cNvSpPr/>
          <p:nvPr/>
        </p:nvSpPr>
        <p:spPr>
          <a:xfrm>
            <a:off x="7150608" y="2587752"/>
            <a:ext cx="4133088"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 mismatch</a:t>
            </a:r>
            <a:endParaRPr lang="en-US" sz="1850" dirty="0"/>
          </a:p>
        </p:txBody>
      </p:sp>
      <p:sp>
        <p:nvSpPr>
          <p:cNvPr id="11" name="Shape 9"/>
          <p:cNvSpPr/>
          <p:nvPr/>
        </p:nvSpPr>
        <p:spPr>
          <a:xfrm>
            <a:off x="566928" y="3008376"/>
            <a:ext cx="10917936" cy="0"/>
          </a:xfrm>
          <a:prstGeom prst="line">
            <a:avLst/>
          </a:prstGeom>
          <a:noFill/>
          <a:ln w="6350">
            <a:solidFill>
              <a:srgbClr val="35404B"/>
            </a:solidFill>
            <a:prstDash val="solid"/>
          </a:ln>
        </p:spPr>
      </p:sp>
      <p:sp>
        <p:nvSpPr>
          <p:cNvPr id="12" name="Text 10"/>
          <p:cNvSpPr/>
          <p:nvPr/>
        </p:nvSpPr>
        <p:spPr>
          <a:xfrm>
            <a:off x="566928" y="3072384"/>
            <a:ext cx="251460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admin:admin</a:t>
            </a:r>
            <a:endParaRPr lang="en-US" sz="1850" dirty="0"/>
          </a:p>
        </p:txBody>
      </p:sp>
      <p:sp>
        <p:nvSpPr>
          <p:cNvPr id="13" name="Text 11"/>
          <p:cNvSpPr/>
          <p:nvPr/>
        </p:nvSpPr>
        <p:spPr>
          <a:xfrm>
            <a:off x="3310128" y="3072384"/>
            <a:ext cx="361188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a:t>
            </a:r>
            <a:endParaRPr lang="en-US" sz="1850" dirty="0"/>
          </a:p>
        </p:txBody>
      </p:sp>
      <p:sp>
        <p:nvSpPr>
          <p:cNvPr id="14" name="Text 12"/>
          <p:cNvSpPr/>
          <p:nvPr/>
        </p:nvSpPr>
        <p:spPr>
          <a:xfrm>
            <a:off x="7150608" y="3072384"/>
            <a:ext cx="4133088"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 match</a:t>
            </a:r>
            <a:endParaRPr lang="en-US" sz="1850" dirty="0"/>
          </a:p>
        </p:txBody>
      </p:sp>
      <p:sp>
        <p:nvSpPr>
          <p:cNvPr id="15" name="Shape 13"/>
          <p:cNvSpPr/>
          <p:nvPr/>
        </p:nvSpPr>
        <p:spPr>
          <a:xfrm>
            <a:off x="566928" y="3493008"/>
            <a:ext cx="10917936" cy="0"/>
          </a:xfrm>
          <a:prstGeom prst="line">
            <a:avLst/>
          </a:prstGeom>
          <a:noFill/>
          <a:ln w="6350">
            <a:solidFill>
              <a:srgbClr val="35404B"/>
            </a:solidFill>
            <a:prstDash val="solid"/>
          </a:ln>
        </p:spPr>
      </p:sp>
      <p:sp>
        <p:nvSpPr>
          <p:cNvPr id="16" name="Text 14"/>
          <p:cNvSpPr/>
          <p:nvPr/>
        </p:nvSpPr>
        <p:spPr>
          <a:xfrm>
            <a:off x="566928" y="3557016"/>
            <a:ext cx="251460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admin:user</a:t>
            </a:r>
            <a:endParaRPr lang="en-US" sz="1850" dirty="0"/>
          </a:p>
        </p:txBody>
      </p:sp>
      <p:sp>
        <p:nvSpPr>
          <p:cNvPr id="17" name="Text 15"/>
          <p:cNvSpPr/>
          <p:nvPr/>
        </p:nvSpPr>
        <p:spPr>
          <a:xfrm>
            <a:off x="3310128" y="3557016"/>
            <a:ext cx="361188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403</a:t>
            </a:r>
            <a:endParaRPr lang="en-US" sz="1850" dirty="0"/>
          </a:p>
        </p:txBody>
      </p:sp>
      <p:sp>
        <p:nvSpPr>
          <p:cNvPr id="18" name="Text 16"/>
          <p:cNvSpPr/>
          <p:nvPr/>
        </p:nvSpPr>
        <p:spPr>
          <a:xfrm>
            <a:off x="7150608" y="3557016"/>
            <a:ext cx="4133088"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 mismatch</a:t>
            </a:r>
            <a:endParaRPr lang="en-US" sz="1850" dirty="0"/>
          </a:p>
        </p:txBody>
      </p:sp>
      <p:sp>
        <p:nvSpPr>
          <p:cNvPr id="19" name="Shape 17"/>
          <p:cNvSpPr/>
          <p:nvPr/>
        </p:nvSpPr>
        <p:spPr>
          <a:xfrm>
            <a:off x="566928" y="3977640"/>
            <a:ext cx="10917936" cy="0"/>
          </a:xfrm>
          <a:prstGeom prst="line">
            <a:avLst/>
          </a:prstGeom>
          <a:noFill/>
          <a:ln w="6350">
            <a:solidFill>
              <a:srgbClr val="35404B"/>
            </a:solidFill>
            <a:prstDash val="solid"/>
          </a:ln>
        </p:spPr>
      </p:sp>
      <p:sp>
        <p:nvSpPr>
          <p:cNvPr id="20" name="Text 18"/>
          <p:cNvSpPr/>
          <p:nvPr/>
        </p:nvSpPr>
        <p:spPr>
          <a:xfrm>
            <a:off x="566928" y="4041648"/>
            <a:ext cx="251460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public:none</a:t>
            </a:r>
            <a:endParaRPr lang="en-US" sz="1850" dirty="0"/>
          </a:p>
        </p:txBody>
      </p:sp>
      <p:sp>
        <p:nvSpPr>
          <p:cNvPr id="21" name="Text 19"/>
          <p:cNvSpPr/>
          <p:nvPr/>
        </p:nvSpPr>
        <p:spPr>
          <a:xfrm>
            <a:off x="3310128" y="4041648"/>
            <a:ext cx="361188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a:t>
            </a:r>
            <a:endParaRPr lang="en-US" sz="1850" dirty="0"/>
          </a:p>
        </p:txBody>
      </p:sp>
      <p:sp>
        <p:nvSpPr>
          <p:cNvPr id="22" name="Text 20"/>
          <p:cNvSpPr/>
          <p:nvPr/>
        </p:nvSpPr>
        <p:spPr>
          <a:xfrm>
            <a:off x="7150608" y="4041648"/>
            <a:ext cx="4133088"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 match</a:t>
            </a:r>
            <a:endParaRPr lang="en-US" sz="1850" dirty="0"/>
          </a:p>
        </p:txBody>
      </p:sp>
      <p:sp>
        <p:nvSpPr>
          <p:cNvPr id="23" name="Shape 21"/>
          <p:cNvSpPr/>
          <p:nvPr/>
        </p:nvSpPr>
        <p:spPr>
          <a:xfrm>
            <a:off x="566928" y="4462272"/>
            <a:ext cx="10917936" cy="0"/>
          </a:xfrm>
          <a:prstGeom prst="line">
            <a:avLst/>
          </a:prstGeom>
          <a:noFill/>
          <a:ln w="6350">
            <a:solidFill>
              <a:srgbClr val="35404B"/>
            </a:solidFill>
            <a:prstDash val="solid"/>
          </a:ln>
        </p:spPr>
      </p:sp>
      <p:sp>
        <p:nvSpPr>
          <p:cNvPr id="24" name="Text 22"/>
          <p:cNvSpPr/>
          <p:nvPr/>
        </p:nvSpPr>
        <p:spPr>
          <a:xfrm>
            <a:off x="566928" y="4526280"/>
            <a:ext cx="251460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admin:expired</a:t>
            </a:r>
            <a:endParaRPr lang="en-US" sz="1850" dirty="0"/>
          </a:p>
        </p:txBody>
      </p:sp>
      <p:sp>
        <p:nvSpPr>
          <p:cNvPr id="25" name="Text 23"/>
          <p:cNvSpPr/>
          <p:nvPr/>
        </p:nvSpPr>
        <p:spPr>
          <a:xfrm>
            <a:off x="3310128" y="4526280"/>
            <a:ext cx="3611880"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401</a:t>
            </a:r>
            <a:endParaRPr lang="en-US" sz="1850" dirty="0"/>
          </a:p>
        </p:txBody>
      </p:sp>
      <p:sp>
        <p:nvSpPr>
          <p:cNvPr id="26" name="Text 24"/>
          <p:cNvSpPr/>
          <p:nvPr/>
        </p:nvSpPr>
        <p:spPr>
          <a:xfrm>
            <a:off x="7150608" y="4526280"/>
            <a:ext cx="4133088" cy="429768"/>
          </a:xfrm>
          <a:prstGeom prst="rect">
            <a:avLst/>
          </a:prstGeom>
          <a:noFill/>
          <a:ln/>
        </p:spPr>
        <p:txBody>
          <a:bodyPr wrap="square" lIns="0" tIns="0" rIns="0" bIns="0" rtlCol="0" anchor="ctr"/>
          <a:lstStyle/>
          <a:p>
            <a:pPr indent="0" marL="0">
              <a:buNone/>
            </a:pPr>
            <a:r>
              <a:rPr lang="en-US" sz="1850" dirty="0">
                <a:solidFill>
                  <a:srgbClr val="F0F0E8"/>
                </a:solidFill>
                <a:latin typeface="Aptos" pitchFamily="34" charset="0"/>
                <a:ea typeface="Aptos" pitchFamily="34" charset="-122"/>
                <a:cs typeface="Aptos" pitchFamily="34" charset="-120"/>
              </a:rPr>
              <a:t>200: mismatch</a:t>
            </a:r>
            <a:endParaRPr lang="en-US" sz="1850" dirty="0"/>
          </a:p>
        </p:txBody>
      </p:sp>
      <p:sp>
        <p:nvSpPr>
          <p:cNvPr id="27" name="Shape 25"/>
          <p:cNvSpPr/>
          <p:nvPr/>
        </p:nvSpPr>
        <p:spPr>
          <a:xfrm>
            <a:off x="530352" y="5468112"/>
            <a:ext cx="603504" cy="0"/>
          </a:xfrm>
          <a:prstGeom prst="line">
            <a:avLst/>
          </a:prstGeom>
          <a:noFill/>
          <a:ln w="27940">
            <a:solidFill>
              <a:srgbClr val="C7FF48"/>
            </a:solidFill>
            <a:prstDash val="solid"/>
          </a:ln>
        </p:spPr>
      </p:sp>
      <p:sp>
        <p:nvSpPr>
          <p:cNvPr id="28" name="Text 26"/>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CLI fixture: python3 handler.py admin:none. These are modeled status codes.</a:t>
            </a:r>
            <a:endParaRPr lang="en-US" sz="2300" dirty="0"/>
          </a:p>
        </p:txBody>
      </p:sp>
      <p:sp>
        <p:nvSpPr>
          <p:cNvPr id="29" name="Text 27"/>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30" name="Text 28"/>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TECHNICAL APPENDIX</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Appendix / We audited our own reference gate.</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PINNED BASELINE: 4b06c51</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frozen.files["handler.py"] = BAD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frozen.digest stays unchanged</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gate says PUBLISHED</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manifest no longer matches bytes</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CORRECTED PROTOCOL</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immutable byte entries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derived manifest + digest</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fresh substitution test</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atomic nonce + byte publication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concurrent replay regression</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Internal API integrity flaw. No demonstrated worker-to-controller exploit path.</a:t>
            </a:r>
            <a:endParaRPr lang="en-US" sz="2300" dirty="0"/>
          </a:p>
        </p:txBody>
      </p:sp>
      <p:sp>
        <p:nvSpPr>
          <p:cNvPr id="12" name="Text 10"/>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3" name="Text 11"/>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TECHNICAL APPENDIX</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Appendix / Reproduce without cloud credentials.</a:t>
            </a:r>
            <a:endParaRPr lang="en-US" sz="3000" dirty="0"/>
          </a:p>
        </p:txBody>
      </p:sp>
      <p:sp>
        <p:nvSpPr>
          <p:cNvPr id="4" name="Shape 2"/>
          <p:cNvSpPr/>
          <p:nvPr/>
        </p:nvSpPr>
        <p:spPr>
          <a:xfrm>
            <a:off x="530352" y="1892808"/>
            <a:ext cx="11064240" cy="3200400"/>
          </a:xfrm>
          <a:prstGeom prst="rect">
            <a:avLst/>
          </a:prstGeom>
          <a:solidFill>
            <a:srgbClr val="1B2026"/>
          </a:solidFill>
          <a:ln w="12700">
            <a:solidFill>
              <a:srgbClr val="1B2026"/>
            </a:solidFill>
            <a:prstDash val="solid"/>
          </a:ln>
        </p:spPr>
      </p:sp>
      <p:sp>
        <p:nvSpPr>
          <p:cNvPr id="5" name="Text 3"/>
          <p:cNvSpPr/>
          <p:nvPr/>
        </p:nvSpPr>
        <p:spPr>
          <a:xfrm>
            <a:off x="786384" y="2313432"/>
            <a:ext cx="10561320" cy="2331720"/>
          </a:xfrm>
          <a:prstGeom prst="rect">
            <a:avLst/>
          </a:prstGeom>
          <a:noFill/>
          <a:ln/>
        </p:spPr>
        <p:txBody>
          <a:bodyPr wrap="square" lIns="0" tIns="0" rIns="0" bIns="0" rtlCol="0" anchor="ctr"/>
          <a:lstStyle/>
          <a:p>
            <a:pPr indent="0" marL="0">
              <a:buNone/>
            </a:pPr>
            <a:r>
              <a:rPr lang="en-US" sz="2000" dirty="0">
                <a:solidFill>
                  <a:srgbClr val="F0F0E8"/>
                </a:solidFill>
                <a:latin typeface="DejaVu Sans Mono" pitchFamily="34" charset="0"/>
                <a:ea typeface="DejaVu Sans Mono" pitchFamily="34" charset="-122"/>
                <a:cs typeface="DejaVu Sans Mono" pitchFamily="34" charset="-120"/>
              </a:rPr>
              <a:t>make test                 # controller protocol regressions</a:t>
            </a:r>
            <a:endParaRPr lang="en-US" sz="2000" dirty="0"/>
          </a:p>
          <a:p>
            <a:pPr indent="0" marL="0">
              <a:buNone/>
            </a:pPr>
            <a:r>
              <a:rPr lang="en-US" sz="2000" dirty="0">
                <a:solidFill>
                  <a:srgbClr val="F0F0E8"/>
                </a:solidFill>
                <a:latin typeface="DejaVu Sans Mono" pitchFamily="34" charset="0"/>
                <a:ea typeface="DejaVu Sans Mono" pitchFamily="34" charset="-122"/>
                <a:cs typeface="DejaVu Sans Mono" pitchFamily="34" charset="-120"/>
              </a:rPr>
              <a:t>make factory              # local fixture logic</a:t>
            </a:r>
            <a:endParaRPr lang="en-US" sz="2000" dirty="0"/>
          </a:p>
          <a:p>
            <a:pPr indent="0" marL="0">
              <a:buNone/>
            </a:pPr>
            <a:r>
              <a:rPr lang="en-US" sz="2000" dirty="0">
                <a:solidFill>
                  <a:srgbClr val="F0F0E8"/>
                </a:solidFill>
                <a:latin typeface="DejaVu Sans Mono" pitchFamily="34" charset="0"/>
                <a:ea typeface="DejaVu Sans Mono" pitchFamily="34" charset="-122"/>
                <a:cs typeface="DejaVu Sans Mono" pitchFamily="34" charset="-120"/>
              </a:rPr>
              <a:t>make demo                 # Linux namespace / mount lab</a:t>
            </a:r>
            <a:endParaRPr lang="en-US" sz="2000" dirty="0"/>
          </a:p>
          <a:p>
            <a:pPr indent="0" marL="0">
              <a:buNone/>
            </a:pPr>
            <a:r>
              <a:rPr lang="en-US" sz="2000" dirty="0">
                <a:solidFill>
                  <a:srgbClr val="F0F0E8"/>
                </a:solidFill>
                <a:latin typeface="DejaVu Sans Mono" pitchFamily="34" charset="0"/>
                <a:ea typeface="DejaVu Sans Mono" pitchFamily="34" charset="-122"/>
                <a:cs typeface="DejaVu Sans Mono" pitchFamily="34" charset="-120"/>
              </a:rPr>
              <a:t>make factory-isolated     # read-only checker / answer key</a:t>
            </a:r>
            <a:endParaRPr lang="en-US" sz="2000" dirty="0"/>
          </a:p>
          <a:p>
            <a:pPr indent="0" marL="0">
              <a:buNone/>
            </a:pPr>
            <a:r>
              <a:rPr lang="en-US" sz="2000" dirty="0">
                <a:solidFill>
                  <a:srgbClr val="F0F0E8"/>
                </a:solidFill>
                <a:latin typeface="DejaVu Sans Mono" pitchFamily="34" charset="0"/>
                <a:ea typeface="DejaVu Sans Mono" pitchFamily="34" charset="-122"/>
                <a:cs typeface="DejaVu Sans Mono" pitchFamily="34" charset="-120"/>
              </a:rPr>
              <a:t>make record-all            # refresh evidence after edits</a:t>
            </a:r>
            <a:endParaRPr lang="en-US" sz="2000" dirty="0"/>
          </a:p>
          <a:p>
            <a:pPr indent="0" marL="0">
              <a:buNone/>
            </a:pPr>
            <a:r>
              <a:rPr lang="en-US" sz="2000" dirty="0">
                <a:solidFill>
                  <a:srgbClr val="F0F0E8"/>
                </a:solidFill>
                <a:latin typeface="DejaVu Sans Mono" pitchFamily="34" charset="0"/>
                <a:ea typeface="DejaVu Sans Mono" pitchFamily="34" charset="-122"/>
                <a:cs typeface="DejaVu Sans Mono" pitchFamily="34" charset="-120"/>
              </a:rPr>
              <a:t>make snapshot              # compile the Beamer PDF</a:t>
            </a:r>
            <a:endParaRPr lang="en-US" sz="2000" dirty="0"/>
          </a:p>
        </p:txBody>
      </p:sp>
      <p:sp>
        <p:nvSpPr>
          <p:cNvPr id="6" name="Shape 4"/>
          <p:cNvSpPr/>
          <p:nvPr/>
        </p:nvSpPr>
        <p:spPr>
          <a:xfrm>
            <a:off x="530352" y="5468112"/>
            <a:ext cx="603504" cy="0"/>
          </a:xfrm>
          <a:prstGeom prst="line">
            <a:avLst/>
          </a:prstGeom>
          <a:noFill/>
          <a:ln w="27940">
            <a:solidFill>
              <a:srgbClr val="C7FF48"/>
            </a:solidFill>
            <a:prstDash val="solid"/>
          </a:ln>
        </p:spPr>
      </p:sp>
      <p:sp>
        <p:nvSpPr>
          <p:cNvPr id="7" name="Text 5"/>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Linux + bubblewrap for isolated runs. Python standard library for experiments. TeX Live for the deck.</a:t>
            </a:r>
            <a:endParaRPr lang="en-US" sz="2300" dirty="0"/>
          </a:p>
        </p:txBody>
      </p:sp>
      <p:sp>
        <p:nvSpPr>
          <p:cNvPr id="8" name="Text 6"/>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9" name="Text 7"/>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TECHNICAL APPENDIX</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Appendix / Tamper evidence is not a verdict.</a:t>
            </a:r>
            <a:endParaRPr lang="en-US" sz="3000" dirty="0"/>
          </a:p>
        </p:txBody>
      </p:sp>
      <p:sp>
        <p:nvSpPr>
          <p:cNvPr id="4" name="Shape 2"/>
          <p:cNvSpPr/>
          <p:nvPr/>
        </p:nvSpPr>
        <p:spPr>
          <a:xfrm>
            <a:off x="530352" y="1837944"/>
            <a:ext cx="5449824" cy="3264408"/>
          </a:xfrm>
          <a:prstGeom prst="rect">
            <a:avLst/>
          </a:prstGeom>
          <a:solidFill>
            <a:srgbClr val="1B2026"/>
          </a:solidFill>
          <a:ln w="12700">
            <a:solidFill>
              <a:srgbClr val="1B2026"/>
            </a:solidFill>
            <a:prstDash val="solid"/>
          </a:ln>
        </p:spPr>
      </p:sp>
      <p:sp>
        <p:nvSpPr>
          <p:cNvPr id="5" name="Text 3"/>
          <p:cNvSpPr/>
          <p:nvPr/>
        </p:nvSpPr>
        <p:spPr>
          <a:xfrm>
            <a:off x="749808"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HISTORY CHECK</a:t>
            </a:r>
            <a:endParaRPr lang="en-US" sz="1460" dirty="0"/>
          </a:p>
        </p:txBody>
      </p:sp>
      <p:sp>
        <p:nvSpPr>
          <p:cNvPr id="6" name="Text 4"/>
          <p:cNvSpPr/>
          <p:nvPr/>
        </p:nvSpPr>
        <p:spPr>
          <a:xfrm>
            <a:off x="749808"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head = H(previous || event)</a:t>
            </a:r>
            <a:endParaRPr lang="en-US" sz="1880" dirty="0"/>
          </a:p>
          <a:p>
            <a:pPr indent="0" marL="0">
              <a:buNone/>
            </a:pP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rewrite events</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recompute chain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compare to controller anchor</a:t>
            </a:r>
            <a:endParaRPr lang="en-US" sz="1880" dirty="0"/>
          </a:p>
        </p:txBody>
      </p:sp>
      <p:sp>
        <p:nvSpPr>
          <p:cNvPr id="7" name="Shape 5"/>
          <p:cNvSpPr/>
          <p:nvPr/>
        </p:nvSpPr>
        <p:spPr>
          <a:xfrm>
            <a:off x="6208776" y="1837944"/>
            <a:ext cx="5449824" cy="3264408"/>
          </a:xfrm>
          <a:prstGeom prst="rect">
            <a:avLst/>
          </a:prstGeom>
          <a:solidFill>
            <a:srgbClr val="1B2026"/>
          </a:solidFill>
          <a:ln w="12700">
            <a:solidFill>
              <a:srgbClr val="1B2026"/>
            </a:solidFill>
            <a:prstDash val="solid"/>
          </a:ln>
        </p:spPr>
      </p:sp>
      <p:sp>
        <p:nvSpPr>
          <p:cNvPr id="8" name="Text 6"/>
          <p:cNvSpPr/>
          <p:nvPr/>
        </p:nvSpPr>
        <p:spPr>
          <a:xfrm>
            <a:off x="6428232" y="2075688"/>
            <a:ext cx="5001768" cy="484632"/>
          </a:xfrm>
          <a:prstGeom prst="rect">
            <a:avLst/>
          </a:prstGeom>
          <a:noFill/>
          <a:ln/>
        </p:spPr>
        <p:txBody>
          <a:bodyPr wrap="square" lIns="0" tIns="0" rIns="0" bIns="0" rtlCol="0" anchor="ctr"/>
          <a:lstStyle/>
          <a:p>
            <a:pPr indent="0" marL="0">
              <a:buNone/>
            </a:pPr>
            <a:r>
              <a:rPr lang="en-US" sz="1460" b="1" dirty="0">
                <a:solidFill>
                  <a:srgbClr val="C7FF48"/>
                </a:solidFill>
                <a:latin typeface="Aptos" pitchFamily="34" charset="0"/>
                <a:ea typeface="Aptos" pitchFamily="34" charset="-122"/>
                <a:cs typeface="Aptos" pitchFamily="34" charset="-120"/>
              </a:rPr>
              <a:t>ACCEPTANCE CHECK</a:t>
            </a:r>
            <a:endParaRPr lang="en-US" sz="1460" dirty="0"/>
          </a:p>
        </p:txBody>
      </p:sp>
      <p:sp>
        <p:nvSpPr>
          <p:cNvPr id="9" name="Text 7"/>
          <p:cNvSpPr/>
          <p:nvPr/>
        </p:nvSpPr>
        <p:spPr>
          <a:xfrm>
            <a:off x="6428232" y="2779776"/>
            <a:ext cx="5001768" cy="2039112"/>
          </a:xfrm>
          <a:prstGeom prst="rect">
            <a:avLst/>
          </a:prstGeom>
          <a:noFill/>
          <a:ln/>
        </p:spPr>
        <p:txBody>
          <a:bodyPr wrap="square" lIns="0" tIns="0" rIns="0" bIns="0" rtlCol="0" anchor="ctr"/>
          <a:lstStyle/>
          <a:p>
            <a:pPr indent="0" marL="0">
              <a:buNone/>
            </a:pPr>
            <a:r>
              <a:rPr lang="en-US" sz="1880" dirty="0">
                <a:solidFill>
                  <a:srgbClr val="F0F0E8"/>
                </a:solidFill>
                <a:latin typeface="DejaVu Sans Mono" pitchFamily="34" charset="0"/>
                <a:ea typeface="DejaVu Sans Mono" pitchFamily="34" charset="-122"/>
                <a:cs typeface="DejaVu Sans Mono" pitchFamily="34" charset="-120"/>
              </a:rPr>
              <a:t>frozen candidate</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controller-owned policy</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independent comparison</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scoped approval</a:t>
            </a:r>
            <a:endParaRPr lang="en-US" sz="1880" dirty="0"/>
          </a:p>
          <a:p>
            <a:pPr indent="0" marL="0">
              <a:buNone/>
            </a:pPr>
            <a:r>
              <a:rPr lang="en-US" sz="1880" dirty="0">
                <a:solidFill>
                  <a:srgbClr val="F0F0E8"/>
                </a:solidFill>
                <a:latin typeface="DejaVu Sans Mono" pitchFamily="34" charset="0"/>
                <a:ea typeface="DejaVu Sans Mono" pitchFamily="34" charset="-122"/>
                <a:cs typeface="DejaVu Sans Mono" pitchFamily="34" charset="-120"/>
              </a:rPr>
              <a:t>exact-byte publication</a:t>
            </a:r>
            <a:endParaRPr lang="en-US" sz="1880" dirty="0"/>
          </a:p>
        </p:txBody>
      </p:sp>
      <p:sp>
        <p:nvSpPr>
          <p:cNvPr id="10" name="Shape 8"/>
          <p:cNvSpPr/>
          <p:nvPr/>
        </p:nvSpPr>
        <p:spPr>
          <a:xfrm>
            <a:off x="530352" y="5468112"/>
            <a:ext cx="603504" cy="0"/>
          </a:xfrm>
          <a:prstGeom prst="line">
            <a:avLst/>
          </a:prstGeom>
          <a:noFill/>
          <a:ln w="27940">
            <a:solidFill>
              <a:srgbClr val="C7FF48"/>
            </a:solidFill>
            <a:prstDash val="solid"/>
          </a:ln>
        </p:spPr>
      </p:sp>
      <p:sp>
        <p:nvSpPr>
          <p:cNvPr id="11" name="Text 9"/>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The chain detects a rewrite only against an independently retained trusted anchor.</a:t>
            </a:r>
            <a:endParaRPr lang="en-US" sz="2300" dirty="0"/>
          </a:p>
        </p:txBody>
      </p:sp>
      <p:sp>
        <p:nvSpPr>
          <p:cNvPr id="12" name="Text 10"/>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3" name="Text 11"/>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30352" y="310896"/>
            <a:ext cx="11064240" cy="246888"/>
          </a:xfrm>
          <a:prstGeom prst="rect">
            <a:avLst/>
          </a:prstGeom>
          <a:noFill/>
          <a:ln/>
        </p:spPr>
        <p:txBody>
          <a:bodyPr wrap="square" lIns="0" tIns="0" rIns="0" bIns="0" rtlCol="0" anchor="ctr"/>
          <a:lstStyle/>
          <a:p>
            <a:pPr indent="0" marL="0">
              <a:buNone/>
            </a:pPr>
            <a:r>
              <a:rPr lang="en-US" sz="1280" dirty="0">
                <a:solidFill>
                  <a:srgbClr val="C7FF48"/>
                </a:solidFill>
                <a:latin typeface="DejaVu Sans Mono" pitchFamily="34" charset="0"/>
                <a:ea typeface="DejaVu Sans Mono" pitchFamily="34" charset="-122"/>
                <a:cs typeface="DejaVu Sans Mono" pitchFamily="34" charset="-120"/>
              </a:rPr>
              <a:t>TECHNICAL APPENDIX</a:t>
            </a:r>
            <a:endParaRPr lang="en-US" sz="1280" dirty="0"/>
          </a:p>
        </p:txBody>
      </p:sp>
      <p:sp>
        <p:nvSpPr>
          <p:cNvPr id="3" name="Text 1"/>
          <p:cNvSpPr/>
          <p:nvPr/>
        </p:nvSpPr>
        <p:spPr>
          <a:xfrm>
            <a:off x="530352" y="777240"/>
            <a:ext cx="11064240" cy="841248"/>
          </a:xfrm>
          <a:prstGeom prst="rect">
            <a:avLst/>
          </a:prstGeom>
          <a:noFill/>
          <a:ln/>
        </p:spPr>
        <p:txBody>
          <a:bodyPr wrap="square" lIns="0" tIns="0" rIns="0" bIns="0" rtlCol="0" anchor="ctr"/>
          <a:lstStyle/>
          <a:p>
            <a:pPr indent="0" marL="0">
              <a:buNone/>
            </a:pPr>
            <a:r>
              <a:rPr lang="en-US" sz="3000" b="1" dirty="0">
                <a:solidFill>
                  <a:srgbClr val="F0F0E8"/>
                </a:solidFill>
                <a:latin typeface="Aptos" pitchFamily="34" charset="0"/>
                <a:ea typeface="Aptos" pitchFamily="34" charset="-122"/>
                <a:cs typeface="Aptos" pitchFamily="34" charset="-120"/>
              </a:rPr>
              <a:t>Appendix / Prior work and source map</a:t>
            </a:r>
            <a:endParaRPr lang="en-US" sz="3000" dirty="0"/>
          </a:p>
        </p:txBody>
      </p:sp>
      <p:sp>
        <p:nvSpPr>
          <p:cNvPr id="4" name="Text 2"/>
          <p:cNvSpPr/>
          <p:nvPr/>
        </p:nvSpPr>
        <p:spPr>
          <a:xfrm>
            <a:off x="566928" y="1810512"/>
            <a:ext cx="10972800" cy="219456"/>
          </a:xfrm>
          <a:prstGeom prst="rect">
            <a:avLst/>
          </a:prstGeom>
          <a:noFill/>
          <a:ln/>
        </p:spPr>
        <p:txBody>
          <a:bodyPr wrap="square" lIns="0" tIns="0" rIns="0" bIns="0" rtlCol="0" anchor="ctr"/>
          <a:lstStyle/>
          <a:p>
            <a:pPr indent="0" marL="0">
              <a:buNone/>
            </a:pPr>
            <a:r>
              <a:rPr lang="en-US" sz="1420" b="1" dirty="0">
                <a:solidFill>
                  <a:srgbClr val="C7FF48"/>
                </a:solidFill>
                <a:latin typeface="Aptos" pitchFamily="34" charset="0"/>
                <a:ea typeface="Aptos" pitchFamily="34" charset="-122"/>
                <a:cs typeface="Aptos" pitchFamily="34" charset="-120"/>
              </a:rPr>
              <a:t>Primary experiments</a:t>
            </a:r>
            <a:endParaRPr lang="en-US" sz="1420" dirty="0"/>
          </a:p>
        </p:txBody>
      </p:sp>
      <p:sp>
        <p:nvSpPr>
          <p:cNvPr id="5" name="Text 3"/>
          <p:cNvSpPr/>
          <p:nvPr/>
        </p:nvSpPr>
        <p:spPr>
          <a:xfrm>
            <a:off x="566928" y="2057400"/>
            <a:ext cx="10972800" cy="274320"/>
          </a:xfrm>
          <a:prstGeom prst="rect">
            <a:avLst/>
          </a:prstGeom>
          <a:noFill/>
          <a:ln/>
        </p:spPr>
        <p:txBody>
          <a:bodyPr wrap="square" lIns="0" tIns="0" rIns="0" bIns="0" rtlCol="0" anchor="ctr"/>
          <a:lstStyle/>
          <a:p>
            <a:pPr indent="0" marL="0">
              <a:buNone/>
            </a:pPr>
            <a:r>
              <a:rPr lang="en-US" sz="1800" dirty="0">
                <a:solidFill>
                  <a:srgbClr val="F0F0E8"/>
                </a:solidFill>
                <a:latin typeface="Aptos" pitchFamily="34" charset="0"/>
                <a:ea typeface="Aptos" pitchFamily="34" charset="-122"/>
                <a:cs typeface="Aptos" pitchFamily="34" charset="-120"/>
              </a:rPr>
              <a:t>github.com/zozo123/nyc-talk</a:t>
            </a:r>
            <a:endParaRPr lang="en-US" sz="1800" dirty="0"/>
          </a:p>
        </p:txBody>
      </p:sp>
      <p:sp>
        <p:nvSpPr>
          <p:cNvPr id="6" name="Text 4"/>
          <p:cNvSpPr/>
          <p:nvPr/>
        </p:nvSpPr>
        <p:spPr>
          <a:xfrm>
            <a:off x="566928" y="2459736"/>
            <a:ext cx="10972800" cy="219456"/>
          </a:xfrm>
          <a:prstGeom prst="rect">
            <a:avLst/>
          </a:prstGeom>
          <a:noFill/>
          <a:ln/>
        </p:spPr>
        <p:txBody>
          <a:bodyPr wrap="square" lIns="0" tIns="0" rIns="0" bIns="0" rtlCol="0" anchor="ctr"/>
          <a:lstStyle/>
          <a:p>
            <a:pPr indent="0" marL="0">
              <a:buNone/>
            </a:pPr>
            <a:r>
              <a:rPr lang="en-US" sz="1420" b="1" dirty="0">
                <a:solidFill>
                  <a:srgbClr val="C7FF48"/>
                </a:solidFill>
                <a:latin typeface="Aptos" pitchFamily="34" charset="0"/>
                <a:ea typeface="Aptos" pitchFamily="34" charset="-122"/>
                <a:cs typeface="Aptos" pitchFamily="34" charset="-120"/>
              </a:rPr>
              <a:t>Sandbox policy is caller-defined</a:t>
            </a:r>
            <a:endParaRPr lang="en-US" sz="1420" dirty="0"/>
          </a:p>
        </p:txBody>
      </p:sp>
      <p:sp>
        <p:nvSpPr>
          <p:cNvPr id="7" name="Text 5"/>
          <p:cNvSpPr/>
          <p:nvPr/>
        </p:nvSpPr>
        <p:spPr>
          <a:xfrm>
            <a:off x="566928" y="2706624"/>
            <a:ext cx="10972800" cy="274320"/>
          </a:xfrm>
          <a:prstGeom prst="rect">
            <a:avLst/>
          </a:prstGeom>
          <a:noFill/>
          <a:ln/>
        </p:spPr>
        <p:txBody>
          <a:bodyPr wrap="square" lIns="0" tIns="0" rIns="0" bIns="0" rtlCol="0" anchor="ctr"/>
          <a:lstStyle/>
          <a:p>
            <a:pPr indent="0" marL="0">
              <a:buNone/>
            </a:pPr>
            <a:r>
              <a:rPr lang="en-US" sz="1800" dirty="0">
                <a:solidFill>
                  <a:srgbClr val="F0F0E8"/>
                </a:solidFill>
                <a:latin typeface="Aptos" pitchFamily="34" charset="0"/>
                <a:ea typeface="Aptos" pitchFamily="34" charset="-122"/>
                <a:cs typeface="Aptos" pitchFamily="34" charset="-120"/>
              </a:rPr>
              <a:t>github.com/containers/bubblewrap</a:t>
            </a:r>
            <a:endParaRPr lang="en-US" sz="1800" dirty="0"/>
          </a:p>
        </p:txBody>
      </p:sp>
      <p:sp>
        <p:nvSpPr>
          <p:cNvPr id="8" name="Text 6"/>
          <p:cNvSpPr/>
          <p:nvPr/>
        </p:nvSpPr>
        <p:spPr>
          <a:xfrm>
            <a:off x="566928" y="3108960"/>
            <a:ext cx="10972800" cy="219456"/>
          </a:xfrm>
          <a:prstGeom prst="rect">
            <a:avLst/>
          </a:prstGeom>
          <a:noFill/>
          <a:ln/>
        </p:spPr>
        <p:txBody>
          <a:bodyPr wrap="square" lIns="0" tIns="0" rIns="0" bIns="0" rtlCol="0" anchor="ctr"/>
          <a:lstStyle/>
          <a:p>
            <a:pPr indent="0" marL="0">
              <a:buNone/>
            </a:pPr>
            <a:r>
              <a:rPr lang="en-US" sz="1420" b="1" dirty="0">
                <a:solidFill>
                  <a:srgbClr val="C7FF48"/>
                </a:solidFill>
                <a:latin typeface="Aptos" pitchFamily="34" charset="0"/>
                <a:ea typeface="Aptos" pitchFamily="34" charset="-122"/>
                <a:cs typeface="Aptos" pitchFamily="34" charset="-120"/>
              </a:rPr>
              <a:t>Provenance verification + artifact binding</a:t>
            </a:r>
            <a:endParaRPr lang="en-US" sz="1420" dirty="0"/>
          </a:p>
        </p:txBody>
      </p:sp>
      <p:sp>
        <p:nvSpPr>
          <p:cNvPr id="9" name="Text 7"/>
          <p:cNvSpPr/>
          <p:nvPr/>
        </p:nvSpPr>
        <p:spPr>
          <a:xfrm>
            <a:off x="566928" y="3355848"/>
            <a:ext cx="10972800" cy="274320"/>
          </a:xfrm>
          <a:prstGeom prst="rect">
            <a:avLst/>
          </a:prstGeom>
          <a:noFill/>
          <a:ln/>
        </p:spPr>
        <p:txBody>
          <a:bodyPr wrap="square" lIns="0" tIns="0" rIns="0" bIns="0" rtlCol="0" anchor="ctr"/>
          <a:lstStyle/>
          <a:p>
            <a:pPr indent="0" marL="0">
              <a:buNone/>
            </a:pPr>
            <a:r>
              <a:rPr lang="en-US" sz="1800" dirty="0">
                <a:solidFill>
                  <a:srgbClr val="F0F0E8"/>
                </a:solidFill>
                <a:latin typeface="Aptos" pitchFamily="34" charset="0"/>
                <a:ea typeface="Aptos" pitchFamily="34" charset="-122"/>
                <a:cs typeface="Aptos" pitchFamily="34" charset="-120"/>
              </a:rPr>
              <a:t>slsa.dev/spec/v1.2/verifying-artifacts</a:t>
            </a:r>
            <a:endParaRPr lang="en-US" sz="1800" dirty="0"/>
          </a:p>
        </p:txBody>
      </p:sp>
      <p:sp>
        <p:nvSpPr>
          <p:cNvPr id="10" name="Text 8"/>
          <p:cNvSpPr/>
          <p:nvPr/>
        </p:nvSpPr>
        <p:spPr>
          <a:xfrm>
            <a:off x="566928" y="3758184"/>
            <a:ext cx="10972800" cy="219456"/>
          </a:xfrm>
          <a:prstGeom prst="rect">
            <a:avLst/>
          </a:prstGeom>
          <a:noFill/>
          <a:ln/>
        </p:spPr>
        <p:txBody>
          <a:bodyPr wrap="square" lIns="0" tIns="0" rIns="0" bIns="0" rtlCol="0" anchor="ctr"/>
          <a:lstStyle/>
          <a:p>
            <a:pPr indent="0" marL="0">
              <a:buNone/>
            </a:pPr>
            <a:r>
              <a:rPr lang="en-US" sz="1420" b="1" dirty="0">
                <a:solidFill>
                  <a:srgbClr val="C7FF48"/>
                </a:solidFill>
                <a:latin typeface="Aptos" pitchFamily="34" charset="0"/>
                <a:ea typeface="Aptos" pitchFamily="34" charset="-122"/>
                <a:cs typeface="Aptos" pitchFamily="34" charset="-120"/>
              </a:rPr>
              <a:t>Reward hacking in programming tasks</a:t>
            </a:r>
            <a:endParaRPr lang="en-US" sz="1420" dirty="0"/>
          </a:p>
        </p:txBody>
      </p:sp>
      <p:sp>
        <p:nvSpPr>
          <p:cNvPr id="11" name="Text 9"/>
          <p:cNvSpPr/>
          <p:nvPr/>
        </p:nvSpPr>
        <p:spPr>
          <a:xfrm>
            <a:off x="566928" y="4005072"/>
            <a:ext cx="10972800" cy="274320"/>
          </a:xfrm>
          <a:prstGeom prst="rect">
            <a:avLst/>
          </a:prstGeom>
          <a:noFill/>
          <a:ln/>
        </p:spPr>
        <p:txBody>
          <a:bodyPr wrap="square" lIns="0" tIns="0" rIns="0" bIns="0" rtlCol="0" anchor="ctr"/>
          <a:lstStyle/>
          <a:p>
            <a:pPr indent="0" marL="0">
              <a:buNone/>
            </a:pPr>
            <a:r>
              <a:rPr lang="en-US" sz="1800" dirty="0">
                <a:solidFill>
                  <a:srgbClr val="F0F0E8"/>
                </a:solidFill>
                <a:latin typeface="Aptos" pitchFamily="34" charset="0"/>
                <a:ea typeface="Aptos" pitchFamily="34" charset="-122"/>
                <a:cs typeface="Aptos" pitchFamily="34" charset="-120"/>
              </a:rPr>
              <a:t>Anthropic, Nov 21, 2025: emergent misalignment</a:t>
            </a:r>
            <a:endParaRPr lang="en-US" sz="1800" dirty="0"/>
          </a:p>
        </p:txBody>
      </p:sp>
      <p:sp>
        <p:nvSpPr>
          <p:cNvPr id="12" name="Text 10"/>
          <p:cNvSpPr/>
          <p:nvPr/>
        </p:nvSpPr>
        <p:spPr>
          <a:xfrm>
            <a:off x="566928" y="4407408"/>
            <a:ext cx="10972800" cy="219456"/>
          </a:xfrm>
          <a:prstGeom prst="rect">
            <a:avLst/>
          </a:prstGeom>
          <a:noFill/>
          <a:ln/>
        </p:spPr>
        <p:txBody>
          <a:bodyPr wrap="square" lIns="0" tIns="0" rIns="0" bIns="0" rtlCol="0" anchor="ctr"/>
          <a:lstStyle/>
          <a:p>
            <a:pPr indent="0" marL="0">
              <a:buNone/>
            </a:pPr>
            <a:r>
              <a:rPr lang="en-US" sz="1420" b="1" dirty="0">
                <a:solidFill>
                  <a:srgbClr val="C7FF48"/>
                </a:solidFill>
                <a:latin typeface="Aptos" pitchFamily="34" charset="0"/>
                <a:ea typeface="Aptos" pitchFamily="34" charset="-122"/>
                <a:cs typeface="Aptos" pitchFamily="34" charset="-120"/>
              </a:rPr>
              <a:t>Event / date</a:t>
            </a:r>
            <a:endParaRPr lang="en-US" sz="1420" dirty="0"/>
          </a:p>
        </p:txBody>
      </p:sp>
      <p:sp>
        <p:nvSpPr>
          <p:cNvPr id="13" name="Text 11"/>
          <p:cNvSpPr/>
          <p:nvPr/>
        </p:nvSpPr>
        <p:spPr>
          <a:xfrm>
            <a:off x="566928" y="4654296"/>
            <a:ext cx="10972800" cy="274320"/>
          </a:xfrm>
          <a:prstGeom prst="rect">
            <a:avLst/>
          </a:prstGeom>
          <a:noFill/>
          <a:ln/>
        </p:spPr>
        <p:txBody>
          <a:bodyPr wrap="square" lIns="0" tIns="0" rIns="0" bIns="0" rtlCol="0" anchor="ctr"/>
          <a:lstStyle/>
          <a:p>
            <a:pPr indent="0" marL="0">
              <a:buNone/>
            </a:pPr>
            <a:r>
              <a:rPr lang="en-US" sz="1800" dirty="0">
                <a:solidFill>
                  <a:srgbClr val="F0F0E8"/>
                </a:solidFill>
                <a:latin typeface="Aptos" pitchFamily="34" charset="0"/>
                <a:ea typeface="Aptos" pitchFamily="34" charset="-122"/>
                <a:cs typeface="Aptos" pitchFamily="34" charset="-120"/>
              </a:rPr>
              <a:t>Zenity AI Agent Security Summit 2026: Oct 21, NYC</a:t>
            </a:r>
            <a:endParaRPr lang="en-US" sz="1800" dirty="0"/>
          </a:p>
        </p:txBody>
      </p:sp>
      <p:sp>
        <p:nvSpPr>
          <p:cNvPr id="14" name="Shape 12"/>
          <p:cNvSpPr/>
          <p:nvPr/>
        </p:nvSpPr>
        <p:spPr>
          <a:xfrm>
            <a:off x="530352" y="5468112"/>
            <a:ext cx="603504" cy="0"/>
          </a:xfrm>
          <a:prstGeom prst="line">
            <a:avLst/>
          </a:prstGeom>
          <a:noFill/>
          <a:ln w="27940">
            <a:solidFill>
              <a:srgbClr val="C7FF48"/>
            </a:solidFill>
            <a:prstDash val="solid"/>
          </a:ln>
        </p:spPr>
      </p:sp>
      <p:sp>
        <p:nvSpPr>
          <p:cNvPr id="15" name="Text 13"/>
          <p:cNvSpPr/>
          <p:nvPr/>
        </p:nvSpPr>
        <p:spPr>
          <a:xfrm>
            <a:off x="530352" y="5605272"/>
            <a:ext cx="11018520" cy="530352"/>
          </a:xfrm>
          <a:prstGeom prst="rect">
            <a:avLst/>
          </a:prstGeom>
          <a:noFill/>
          <a:ln/>
        </p:spPr>
        <p:txBody>
          <a:bodyPr wrap="square" lIns="0" tIns="0" rIns="0" bIns="0" rtlCol="0" anchor="ctr"/>
          <a:lstStyle/>
          <a:p>
            <a:pPr indent="0" marL="0">
              <a:buNone/>
            </a:pPr>
            <a:r>
              <a:rPr lang="en-US" sz="2300" dirty="0">
                <a:solidFill>
                  <a:srgbClr val="F0F0E8"/>
                </a:solidFill>
                <a:latin typeface="Aptos" pitchFamily="34" charset="0"/>
                <a:ea typeface="Aptos" pitchFamily="34" charset="-122"/>
                <a:cs typeface="Aptos" pitchFamily="34" charset="-120"/>
              </a:rPr>
              <a:t>A reproducible boundary demonstration, with explicit limits.</a:t>
            </a:r>
            <a:endParaRPr lang="en-US" sz="2300" dirty="0"/>
          </a:p>
        </p:txBody>
      </p:sp>
      <p:sp>
        <p:nvSpPr>
          <p:cNvPr id="16" name="Text 14"/>
          <p:cNvSpPr/>
          <p:nvPr/>
        </p:nvSpPr>
        <p:spPr>
          <a:xfrm>
            <a:off x="530352" y="6592824"/>
            <a:ext cx="9966960" cy="155448"/>
          </a:xfrm>
          <a:prstGeom prst="rect">
            <a:avLst/>
          </a:prstGeom>
          <a:noFill/>
          <a:ln/>
        </p:spPr>
        <p:txBody>
          <a:bodyPr wrap="square" lIns="0" tIns="0" rIns="0" bIns="0" rtlCol="0" anchor="ctr"/>
          <a:lstStyle/>
          <a:p>
            <a:pPr indent="0" marL="0">
              <a:buNone/>
            </a:pPr>
            <a:r>
              <a:rPr lang="en-US" sz="920" dirty="0">
                <a:solidFill>
                  <a:srgbClr val="A7ADB3"/>
                </a:solidFill>
                <a:latin typeface="Aptos" pitchFamily="34" charset="0"/>
                <a:ea typeface="Aptos" pitchFamily="34" charset="-122"/>
                <a:cs typeface="Aptos" pitchFamily="34" charset="-120"/>
              </a:rPr>
              <a:t>YOSSI ELIAZ / AI AGENT SECURITY SUMMIT / OCT 21, 2026</a:t>
            </a:r>
            <a:endParaRPr lang="en-US" sz="920" dirty="0"/>
          </a:p>
        </p:txBody>
      </p:sp>
      <p:sp>
        <p:nvSpPr>
          <p:cNvPr id="17" name="Text 15"/>
          <p:cNvSpPr/>
          <p:nvPr/>
        </p:nvSpPr>
        <p:spPr>
          <a:xfrm>
            <a:off x="11064240" y="6556248"/>
            <a:ext cx="548640" cy="219456"/>
          </a:xfrm>
          <a:prstGeom prst="rect">
            <a:avLst/>
          </a:prstGeom>
          <a:noFill/>
          <a:ln/>
        </p:spPr>
        <p:txBody>
          <a:bodyPr wrap="square" lIns="0" tIns="0" rIns="0" bIns="0" rtlCol="0" anchor="ctr"/>
          <a:lstStyle/>
          <a:p>
            <a:pPr algn="r" indent="0" marL="0">
              <a:buNone/>
            </a:pPr>
            <a:r>
              <a:rPr lang="en-US" sz="1100" dirty="0">
                <a:solidFill>
                  <a:srgbClr val="A7ADB3"/>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Incredibuild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Agent Escaped Without Escaping the Sandbox</dc:title>
  <dc:subject>Evidence-backed agent security; October 21, 2026</dc:subject>
  <dc:creator>Yossi Eliaz</dc:creator>
  <cp:lastModifiedBy>Yossi Eliaz</cp:lastModifiedBy>
  <cp:revision>1</cp:revision>
  <dcterms:created xsi:type="dcterms:W3CDTF">2026-09-20T11:30:31Z</dcterms:created>
  <dcterms:modified xsi:type="dcterms:W3CDTF">2026-09-20T11:30:31Z</dcterms:modified>
</cp:coreProperties>
</file>