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00:00-00:30
I am Yossi Eliaz. Here is the result I want you to remember: the checker prints PASS, its file hash has not changed, and the candidate still allows the unauthenticated admin request.
We will walk through four small, reproducible boundary failures. The final one explains how a worker can influence the evidence used to approve its own work. Everything on screen comes from synthetic fixtures in this repository. The examples use deterministic scripts so the mechanism is repeatable.
[Sources]
Repository: factory/core.py: WEAK_CHECKER, WORKER_EXPECTED, CASES
Repository: evidence/factory-results.json
https://zenity.io/resources/events/ai-agent-security-summit-2026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00:30-01:20
Assume the worker can execute the code we allow inside its sandbox. It can use its injected token, write its mounted output and submit a publish request. In the weakened verifier configuration, it can also write the expected-results file.
The controller, its keys, its reference cases and its storage are trusted. We are not trying to compromise that controller or exploit the kernel.
There are four interfaces to inspect: credentials, mounted files, network operations and the inputs to the release decision. Each connects a contained process to something valuable outside its task.
Our Linux lab exercises real namespaces, real bind mounts and a loopback HTTP service. The final admin example is a five-case command-line policy model. Keeping those scopes distinct matters when we interpret the results.
[Sources]
Repository: lab/run.py: Runner, Service, experiments
Repository: factory/core.py: CASES
Repository: research/INVARIANTS.md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01:20-02:35
The job needs an input file. We give the worker the token that the runner already has. The request on the left uses that token to read another project's private fixture. The service returns 200.
The worker used the credential through its intended interface. The permission was broader than the job.
On the right we replace it with a task-scoped credential. The other-project read returns 403. The input for the actual task still returns 200. The service also rejects the expired and wrong-audience fixtures.
That positive control is important. We did not obtain a safe-looking result by disabling the job. For a real deployment, ask the issuer for the task's audience and minimum scope, then bound its lifetime. A short lifetime alone still permits an over-scoped request while the token is valid.
[Sources]
Repository: lab/run.py: Service, credentials experiments
Repository: evidence/results.json: credentials.*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02:35-03:40
The next example uses an ordinary file write. We bind another job's directory into the worker and leave it writable. Writing the file changes the host fixture exactly as the mount configuration permits.
Then we run the same write with a read-only bind. The write is denied and the host fixture is unchanged. The worker can still write its legitimate patch to the output directory.
In a deployment I would usually remove the next job's directory entirely. The read-only experiment is a controlled comparison, not a reason to expose unnecessary data.
Also inspect the state you snapshot. A file carried into a later worker can become that worker's input. Our lab demonstrates the shared mount; snapshot propagation is an architectural consequence to check separately, not an extra experiment we claim to have run.
[Sources]
Repository: lab/run.py: mount experiments
Repository: evidence/results.json: mount.*
https://github.com/containers/bubblewrap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03:40-05:00
The worker needs to publish a report. The allowed service accepts uploads for more than one account. The worker posts our private fixture to the other account's path, and the receiving service records it.
Checking a service name does not answer who selected the account, the operation or the body. Our lab models that service boundary on loopback; it does not claim to test a particular firewall or SaaS product.
The restricted worker can request one fixed report operation. The controller-side broker rejects extra recipient, payload and URL fields. It constructs the team destination and the report body itself. The worker's separate network namespace cannot reach the host service directly.
The team report still arrives. For this operation the body has no worker-selected free text. That restriction is why this fixture cannot carry arbitrary bytes through the report. A general-purpose text publishing tool needs a separate information-flow decision. Process isolation and the broker's semantic policy have different jobs here.
[Sources]
Repository: lab/run.py: broker, Service.do_POST, egress experiments
Repository: evidence/results.json: egress.*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05:00-06:20
Now the interface is the answer to a more consequential question: may this work be accepted?
The policy says an unauthenticated admin request must return 401. Our small handler represents that request as the command-line input admin colon none. The bad candidate returns 200. We are modeling the authorization decision rather than deploying a web application.
The checker executes the candidate and compares its outputs against expected.json. We measure the checker's bytes before and after execution. They are identical.
There is one fact I have not shown yet: the expected-results file comes from the worker's workspace. Before looking at the next slide, decide what the unchanged hash actually tells us about the decision this checker will make.
[Sources]
Repository: factory/core.py: execute_weak_checker, WEAK_CHECKER, CASES
Repository: evidence/factory-results.json: local.weakened_deps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06:20-07:40
The worker writes expectations that allow every request. The bad handler returns 200 for every case. The checker therefore prints PASS.
The checker has done exactly what its code says. Its own integrity check tells us nothing about whether the worker was allowed to redefine the expected answers.
Our independent comparison still requires 401 for an unauthenticated or expired request and 403 for an ordinary user accessing admin. It rejects the same candidate. The legitimate admin and public cases still pass.
We also include the simpler worker-written PASS-file configuration as a detector. It confirms that the experiment can recognize a false accept. The dependency case is the useful reveal: changing the trusted input is enough while the checker code remains unchanged.
Both weak configurations were constructed deliberately. We are reproducing an authority failure, not reporting a vendor zero-day or measuring how often a model discovers it.
[Sources]
Repository: factory/core.py: WORKER_EXPECTED, WEAK_CHECKER, judge
Repository: factory/run.py: weakened_deps, weakened_report
Repository: evidence/factory-results.json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07:40-08:40
This is where the result connects to multi-agent systems. Imagine a writer, a reviewer and a tester. They have different prompts, different models, or different sampling temperatures. They all load the same worker-writable expected-results file.
Each can reach agreement using the altered criterion. Agreement does not remove the writer's ability to set that criterion.
The same applies to a second machine that consumes the same contaminated dependency. Moving execution changes the process boundary; the trust dependency still needs inspection.
I would draw a write-authority graph. Starting at every worker-controlled object, follow what reads it and what ultimately influences release. The property we need is that a worker cannot modify the authoritative cases, policy or approval state. This slide is an architectural inference from the demonstrated dependency, not a measured claim about any particular multi-agent framework.
[Sources]
Repository: factory/core.py: WEAK_CHECKER dependency
Repository: research/INVARIANTS.md
Repository: research/DOSSIER.md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08:40-10:15
The corrected path has four steps. First, collect the candidate into controller-owned storage and compute a manifest over the actual bytes. Second, execute those bytes and compare the results against controller-owned cases. Third, bind the decision to the artifact, task, run, verifier, expected results, policy, environment description and a one-use nonce. Finally, publish the exact bytes that were authorized.
In this repository publication means writing the bytes and consumed nonce in one SQLite transaction. It is a reference gate, not a production deployment service. A real publisher needs the equivalent guarantee at its own release boundary.
The gate recomputes the payload identity. A cached digest label is insufficient. It also checks the stored bytes before committing publication. The worker never holds the gate key.
We retain a controller-held history anchor in the isolation lab to detect a rewritten event history. That detects disagreement with the retained record. The acceptance comparison and publication gate are what enforce this release decision. Missing or malformed results produce no approval and must be investigated, rather than celebrated as proof of a successful defense.
[Sources]
Repository: factory/core.py: freeze, validate_frozen, judge, Gate
Repository: tests/test_factory.py
Repository: lab/run.py: history.rewrite
https://slsa.dev/spec/v1.2/verifying-artifacts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10:15-11:30
These are the distinctions I want in a convincing demo. The correct candidate publishes. The incorrect candidate fails the fixed criteria. A fresh approval for the correct candidate rejects a different artifact. The original bytes can still publish with that approval. Only after that publication do we test replay.
The order matters. During this audit, the previous swap test ran after the approval had already been consumed. That result could not tell us whether the digest check or replay check rejected it. We changed the order and added a regression test.
We also hardened the reference artifact object and checked mutation of the stored bytes. Those are robustness tests at the trusted controller API; they are not evidence that a sandboxed worker can write controller memory.
The suite exercises eight concurrent publication attempts and expects exactly one recorded publication. A timeout or missing result gets no approval. It remains incomplete evidence, not a demonstrated attack rejection.
[Sources]
Repository: factory/run.py: intended, run_local
Repository: tests/test_factory.py
Repository: research/AUDIT.md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11:30-13:00
For your own deployment, start with one real task and record four answers.
Which identity does the worker receive, and which resources will accept it? Look at scope, audience and lifetime together.
Which state can it write? Include shared workspaces, snapshots, caches and files that another worker later treats as instructions or truth.
For each outbound action, who selects the destination and content? Check whether the worker can bypass the component that is supposed to make that decision.
Finally, who owns the acceptance criteria and the release capability? Trace configuration, imports, expected outputs and other dependencies, not just the top-level checker file. Verify that the bytes released are the ones evaluated.
For each control, run the unwanted action and then the legitimate task. Keep both observations. That is how we distinguish an enforcing boundary from a broken workflow that happens to return an error.
[Sources]
Repository: lab/run.py: positive controls
Repository: factory/core.py: Gate
Repository: research/DOSSIER.md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13:00-14:00
We have seen a token read another project, a mounted file change another job, an allowed service receive the wrong upload, and an unchanged checker accept worker-edited expectations.
Each result follows an interface the system provided. The release case is especially important because the worker's output can become the evidence used to authorize the next action.
The repository contains the fixtures, recorded observations, corrected gate and limitations. You can reproduce the cases without a model account or a cloud key.
When you review an agent system, ask: what can this worker make the rest of your system believe?
Then keep the release decision outside its write authority. Thank you.
[Sources]
Repository: evidence/results.json
Repository: evidence/factory-results.json
Repository: research/DOSSIER.md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in the 15-minute delivery
Use for scope questions. Isolation cases and local factory logic are separate experiments. Boat is optional and not re-run in this revision. The local executor is for committed deterministic fixtures only.
[Sources]
Repository: lab/run.py: limitations
Repository: factory/core.py: execute_frozen
Repository: research/DOSSIER.md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in the 15-minute delivery
Counts refer to tests and assertions, not discovered vulnerabilities. Audit findings are in our reference implementation. Claims of novelty and cross-product exploitation are deliberately excluded.
[Sources]
Repository: research/AUDIT.md
Repository: research/RESULTS.md
Repository: tests/test_factory.py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in the 15-minute delivery
The gate key lives with the trusted controller. SHA-256 gives identity; the MAC authenticates the approval to that gate. Do not call the MAC a public signature or the metadata a complete reproducibility proof.
[Sources]
Repository: factory/core.py: Gate.issue, Gate.authorize
https://slsa.dev/spec/v1.2/verifying-artifacts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in the 15-minute delivery
Use the exact commit in the CI artifact COMMIT.txt and the artifact SHA256SUMS. A denied namespace launch is infrastructure failure, not successful isolation evidence. The PDF and offline replay do not need a network connection.
[Sources]
Repository: Makefile
Repository: RUNBOOK.md
Repository: .github/workflows/verify.yml
Repository: tools/replay.py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in the 15-minute delivery
Credit the established ideas: least authority, trusted verification and subject-bound provenance. Anthropic is prior empirical work on reward hacking, not a source of attack-success rates for this lab. This presentation does not claim invention of these principles or discovery of a product zero-day.
[Sources]
https://github.com/containers/bubblewrap
https://slsa.dev/spec/v1.2/verifying-artifacts
https://www.anthropic.com/research/emergent-misalignment-reward-hacking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in the 15-minute delivery
Give the narrow answer first. The method is useful even when the underlying principle is familiar. Never turn unavailable evidence into a claim of universal security.
[Sources]
Repository: research/DOSSIER.md
Repository: QUESTIONS.md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1115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zozo123/nyc-talk"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containers/bubblewrap" TargetMode="External"/><Relationship Id="rId2" Type="http://schemas.openxmlformats.org/officeDocument/2006/relationships/hyperlink" Target="https://slsa.dev/spec/v1.2/verifying-artifacts" TargetMode="External"/><Relationship Id="rId3" Type="http://schemas.openxmlformats.org/officeDocument/2006/relationships/hyperlink" Target="https://www.anthropic.com/research/emergent-misalignment-reward-hacking" TargetMode="External"/><Relationship Id="rId4" Type="http://schemas.openxmlformats.org/officeDocument/2006/relationships/hyperlink" Target="https://github.com/zozo123/nyc-talk" TargetMode="External"/><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29768"/>
            <a:ext cx="10972800" cy="320040"/>
          </a:xfrm>
          <a:prstGeom prst="rect">
            <a:avLst/>
          </a:prstGeom>
          <a:noFill/>
          <a:ln/>
        </p:spPr>
        <p:txBody>
          <a:bodyPr wrap="square" lIns="0" tIns="0" rIns="0" bIns="0" rtlCol="0" anchor="t"/>
          <a:lstStyle/>
          <a:p>
            <a:pPr algn="l" indent="0" marL="0">
              <a:lnSpc>
                <a:spcPct val="112000"/>
              </a:lnSpc>
              <a:buNone/>
            </a:pPr>
            <a:r>
              <a:rPr lang="en-US" sz="1300" b="1" dirty="0">
                <a:solidFill>
                  <a:srgbClr val="8FE3CB"/>
                </a:solidFill>
                <a:latin typeface="Aptos" pitchFamily="34" charset="0"/>
                <a:ea typeface="Aptos" pitchFamily="34" charset="-122"/>
                <a:cs typeface="Aptos" pitchFamily="34" charset="-120"/>
              </a:rPr>
              <a:t>AI AGENT SECURITY SUMMIT / NEW YORK / OCT 21, 2026</a:t>
            </a:r>
            <a:endParaRPr lang="en-US" sz="1300" dirty="0"/>
          </a:p>
        </p:txBody>
      </p:sp>
      <p:sp>
        <p:nvSpPr>
          <p:cNvPr id="3" name="Text 1"/>
          <p:cNvSpPr txBox="1"/>
          <p:nvPr/>
        </p:nvSpPr>
        <p:spPr>
          <a:xfrm>
            <a:off x="548640" y="1234440"/>
            <a:ext cx="8686800" cy="2560320"/>
          </a:xfrm>
          <a:prstGeom prst="rect">
            <a:avLst/>
          </a:prstGeom>
          <a:noFill/>
          <a:ln/>
        </p:spPr>
        <p:txBody>
          <a:bodyPr wrap="square" lIns="0" tIns="0" rIns="0" bIns="0" rtlCol="0" anchor="t"/>
          <a:lstStyle/>
          <a:p>
            <a:pPr algn="l" indent="0" marL="0">
              <a:lnSpc>
                <a:spcPct val="112000"/>
              </a:lnSpc>
              <a:buNone/>
            </a:pPr>
            <a:r>
              <a:rPr lang="en-US" sz="4300" b="1" dirty="0">
                <a:solidFill>
                  <a:srgbClr val="F2F3EE"/>
                </a:solidFill>
                <a:latin typeface="Aptos" pitchFamily="34" charset="0"/>
                <a:ea typeface="Aptos" pitchFamily="34" charset="-122"/>
                <a:cs typeface="Aptos" pitchFamily="34" charset="-120"/>
              </a:rPr>
              <a:t>Your Agent Escaped</a:t>
            </a:r>
            <a:endParaRPr lang="en-US" sz="4300" dirty="0"/>
          </a:p>
          <a:p>
            <a:pPr algn="l" indent="0" marL="0">
              <a:lnSpc>
                <a:spcPct val="112000"/>
              </a:lnSpc>
              <a:buNone/>
            </a:pPr>
            <a:r>
              <a:rPr lang="en-US" sz="4300" b="1" dirty="0">
                <a:solidFill>
                  <a:srgbClr val="F2F3EE"/>
                </a:solidFill>
                <a:latin typeface="Aptos" pitchFamily="34" charset="0"/>
                <a:ea typeface="Aptos" pitchFamily="34" charset="-122"/>
                <a:cs typeface="Aptos" pitchFamily="34" charset="-120"/>
              </a:rPr>
              <a:t>Without Escaping</a:t>
            </a:r>
            <a:endParaRPr lang="en-US" sz="4300" dirty="0"/>
          </a:p>
          <a:p>
            <a:pPr algn="l" indent="0" marL="0">
              <a:lnSpc>
                <a:spcPct val="112000"/>
              </a:lnSpc>
              <a:buNone/>
            </a:pPr>
            <a:r>
              <a:rPr lang="en-US" sz="4300" b="1" dirty="0">
                <a:solidFill>
                  <a:srgbClr val="F2F3EE"/>
                </a:solidFill>
                <a:latin typeface="Aptos" pitchFamily="34" charset="0"/>
                <a:ea typeface="Aptos" pitchFamily="34" charset="-122"/>
                <a:cs typeface="Aptos" pitchFamily="34" charset="-120"/>
              </a:rPr>
              <a:t>the Sandbox</a:t>
            </a:r>
            <a:endParaRPr lang="en-US" sz="4300" dirty="0"/>
          </a:p>
        </p:txBody>
      </p:sp>
      <p:sp>
        <p:nvSpPr>
          <p:cNvPr id="4" name="Shape 2"/>
          <p:cNvSpPr/>
          <p:nvPr/>
        </p:nvSpPr>
        <p:spPr>
          <a:xfrm>
            <a:off x="548640" y="4197096"/>
            <a:ext cx="11018520" cy="0"/>
          </a:xfrm>
          <a:prstGeom prst="line">
            <a:avLst/>
          </a:prstGeom>
          <a:noFill/>
          <a:ln w="12700">
            <a:solidFill>
              <a:srgbClr val="40515B"/>
            </a:solidFill>
            <a:prstDash val="solid"/>
          </a:ln>
        </p:spPr>
      </p:sp>
      <p:sp>
        <p:nvSpPr>
          <p:cNvPr id="5" name="Text 3"/>
          <p:cNvSpPr txBox="1"/>
          <p:nvPr/>
        </p:nvSpPr>
        <p:spPr>
          <a:xfrm>
            <a:off x="548640" y="4544568"/>
            <a:ext cx="9692640" cy="978408"/>
          </a:xfrm>
          <a:prstGeom prst="rect">
            <a:avLst/>
          </a:prstGeom>
          <a:noFill/>
          <a:ln/>
        </p:spPr>
        <p:txBody>
          <a:bodyPr wrap="square" lIns="0" tIns="0" rIns="0" bIns="0" rtlCol="0" anchor="t"/>
          <a:lstStyle/>
          <a:p>
            <a:pPr algn="l" indent="0" marL="0">
              <a:lnSpc>
                <a:spcPct val="112000"/>
              </a:lnSpc>
              <a:buNone/>
            </a:pPr>
            <a:r>
              <a:rPr lang="en-US" sz="2500" dirty="0">
                <a:solidFill>
                  <a:srgbClr val="8FE3CB"/>
                </a:solidFill>
                <a:latin typeface="Aptos" pitchFamily="34" charset="0"/>
                <a:ea typeface="Aptos" pitchFamily="34" charset="-122"/>
                <a:cs typeface="Aptos" pitchFamily="34" charset="-120"/>
              </a:rPr>
              <a:t>We verified the checker.</a:t>
            </a:r>
            <a:endParaRPr lang="en-US" sz="2500" dirty="0"/>
          </a:p>
          <a:p>
            <a:pPr algn="l" indent="0" marL="0">
              <a:lnSpc>
                <a:spcPct val="112000"/>
              </a:lnSpc>
              <a:buNone/>
            </a:pPr>
            <a:r>
              <a:rPr lang="en-US" sz="2500" dirty="0">
                <a:solidFill>
                  <a:srgbClr val="8FE3CB"/>
                </a:solidFill>
                <a:latin typeface="Aptos" pitchFamily="34" charset="0"/>
                <a:ea typeface="Aptos" pitchFamily="34" charset="-122"/>
                <a:cs typeface="Aptos" pitchFamily="34" charset="-120"/>
              </a:rPr>
              <a:t>The worker controlled what it trusted.</a:t>
            </a:r>
            <a:endParaRPr lang="en-US" sz="2500" dirty="0"/>
          </a:p>
        </p:txBody>
      </p:sp>
      <p:sp>
        <p:nvSpPr>
          <p:cNvPr id="6" name="Text 4"/>
          <p:cNvSpPr txBox="1"/>
          <p:nvPr/>
        </p:nvSpPr>
        <p:spPr>
          <a:xfrm>
            <a:off x="548640" y="6172200"/>
            <a:ext cx="9144000" cy="310896"/>
          </a:xfrm>
          <a:prstGeom prst="rect">
            <a:avLst/>
          </a:prstGeom>
          <a:noFill/>
          <a:ln/>
        </p:spPr>
        <p:txBody>
          <a:bodyPr wrap="square" lIns="0" tIns="0" rIns="0" bIns="0" rtlCol="0" anchor="t"/>
          <a:lstStyle/>
          <a:p>
            <a:pPr algn="l" indent="0" marL="0">
              <a:lnSpc>
                <a:spcPct val="112000"/>
              </a:lnSpc>
              <a:buNone/>
            </a:pPr>
            <a:r>
              <a:rPr lang="en-US" sz="1600" dirty="0">
                <a:solidFill>
                  <a:srgbClr val="ACB9C2"/>
                </a:solidFill>
                <a:latin typeface="Aptos" pitchFamily="34" charset="0"/>
                <a:ea typeface="Aptos" pitchFamily="34" charset="-122"/>
                <a:cs typeface="Aptos" pitchFamily="34" charset="-120"/>
              </a:rPr>
              <a:t>Yossi Eliaz, PhD  /  Incredibuild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THE THREAT MODEL</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sandbox gives a worker useful permissions.</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Synthetic fixtures. Recorded observations; no live model call.</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02</a:t>
            </a:r>
            <a:endParaRPr lang="en-US" sz="1200" dirty="0"/>
          </a:p>
        </p:txBody>
      </p:sp>
      <p:sp>
        <p:nvSpPr>
          <p:cNvPr id="7" name="Shape 5"/>
          <p:cNvSpPr/>
          <p:nvPr/>
        </p:nvSpPr>
        <p:spPr>
          <a:xfrm>
            <a:off x="548640" y="2057400"/>
            <a:ext cx="2788920" cy="3063240"/>
          </a:xfrm>
          <a:prstGeom prst="rect">
            <a:avLst/>
          </a:prstGeom>
          <a:solidFill>
            <a:srgbClr val="1B2329"/>
          </a:solidFill>
          <a:ln w="12700">
            <a:solidFill>
              <a:srgbClr val="1B2329"/>
            </a:solidFill>
            <a:prstDash val="solid"/>
          </a:ln>
        </p:spPr>
      </p:sp>
      <p:sp>
        <p:nvSpPr>
          <p:cNvPr id="8" name="Text 6"/>
          <p:cNvSpPr txBox="1"/>
          <p:nvPr/>
        </p:nvSpPr>
        <p:spPr>
          <a:xfrm>
            <a:off x="804672" y="2368296"/>
            <a:ext cx="2240280" cy="27432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WORKER</a:t>
            </a:r>
            <a:endParaRPr lang="en-US" sz="1200" dirty="0"/>
          </a:p>
        </p:txBody>
      </p:sp>
      <p:sp>
        <p:nvSpPr>
          <p:cNvPr id="9" name="Text 7"/>
          <p:cNvSpPr txBox="1"/>
          <p:nvPr/>
        </p:nvSpPr>
        <p:spPr>
          <a:xfrm>
            <a:off x="804672" y="2962656"/>
            <a:ext cx="2240280" cy="1417320"/>
          </a:xfrm>
          <a:prstGeom prst="rect">
            <a:avLst/>
          </a:prstGeom>
          <a:noFill/>
          <a:ln/>
        </p:spPr>
        <p:txBody>
          <a:bodyPr wrap="square" lIns="0" tIns="0" rIns="0" bIns="0" rtlCol="0" anchor="t"/>
          <a:lstStyle/>
          <a:p>
            <a:pPr algn="l" indent="0" marL="0">
              <a:lnSpc>
                <a:spcPct val="112000"/>
              </a:lnSpc>
              <a:buNone/>
            </a:pPr>
            <a:r>
              <a:rPr lang="en-US" sz="2600" b="1" dirty="0">
                <a:solidFill>
                  <a:srgbClr val="F2F3EE"/>
                </a:solidFill>
                <a:latin typeface="Aptos" pitchFamily="34" charset="0"/>
                <a:ea typeface="Aptos" pitchFamily="34" charset="-122"/>
                <a:cs typeface="Aptos" pitchFamily="34" charset="-120"/>
              </a:rPr>
              <a:t>Worker code</a:t>
            </a:r>
            <a:endParaRPr lang="en-US" sz="2600" dirty="0"/>
          </a:p>
          <a:p>
            <a:pPr algn="l" indent="0" marL="0">
              <a:lnSpc>
                <a:spcPct val="112000"/>
              </a:lnSpc>
              <a:buNone/>
            </a:pPr>
            <a:r>
              <a:rPr lang="en-US" sz="2600" b="1" dirty="0">
                <a:solidFill>
                  <a:srgbClr val="F2F3EE"/>
                </a:solidFill>
                <a:latin typeface="Aptos" pitchFamily="34" charset="0"/>
                <a:ea typeface="Aptos" pitchFamily="34" charset="-122"/>
                <a:cs typeface="Aptos" pitchFamily="34" charset="-120"/>
              </a:rPr>
              <a:t>in an isolated</a:t>
            </a:r>
            <a:endParaRPr lang="en-US" sz="2600" dirty="0"/>
          </a:p>
          <a:p>
            <a:pPr algn="l" indent="0" marL="0">
              <a:lnSpc>
                <a:spcPct val="112000"/>
              </a:lnSpc>
              <a:buNone/>
            </a:pPr>
            <a:r>
              <a:rPr lang="en-US" sz="2600" b="1" dirty="0">
                <a:solidFill>
                  <a:srgbClr val="F2F3EE"/>
                </a:solidFill>
                <a:latin typeface="Aptos" pitchFamily="34" charset="0"/>
                <a:ea typeface="Aptos" pitchFamily="34" charset="-122"/>
                <a:cs typeface="Aptos" pitchFamily="34" charset="-120"/>
              </a:rPr>
              <a:t>process</a:t>
            </a:r>
            <a:endParaRPr lang="en-US" sz="2600" dirty="0"/>
          </a:p>
        </p:txBody>
      </p:sp>
      <p:sp>
        <p:nvSpPr>
          <p:cNvPr id="10" name="Shape 8"/>
          <p:cNvSpPr/>
          <p:nvPr/>
        </p:nvSpPr>
        <p:spPr>
          <a:xfrm>
            <a:off x="3346704" y="2304288"/>
            <a:ext cx="667512" cy="0"/>
          </a:xfrm>
          <a:prstGeom prst="line">
            <a:avLst/>
          </a:prstGeom>
          <a:noFill/>
          <a:ln w="12700">
            <a:solidFill>
              <a:srgbClr val="40515B"/>
            </a:solidFill>
            <a:prstDash val="solid"/>
          </a:ln>
        </p:spPr>
      </p:sp>
      <p:sp>
        <p:nvSpPr>
          <p:cNvPr id="11" name="Text 9"/>
          <p:cNvSpPr txBox="1"/>
          <p:nvPr/>
        </p:nvSpPr>
        <p:spPr>
          <a:xfrm>
            <a:off x="4178808" y="2039112"/>
            <a:ext cx="2971800" cy="384048"/>
          </a:xfrm>
          <a:prstGeom prst="rect">
            <a:avLst/>
          </a:prstGeom>
          <a:noFill/>
          <a:ln/>
        </p:spPr>
        <p:txBody>
          <a:bodyPr wrap="square" lIns="0" tIns="0" rIns="0" bIns="0" rtlCol="0" anchor="t"/>
          <a:lstStyle/>
          <a:p>
            <a:pPr algn="l" indent="0" marL="0">
              <a:lnSpc>
                <a:spcPct val="112000"/>
              </a:lnSpc>
              <a:buNone/>
            </a:pPr>
            <a:r>
              <a:rPr lang="en-US" sz="2300" dirty="0">
                <a:solidFill>
                  <a:srgbClr val="F2F3EE"/>
                </a:solidFill>
                <a:latin typeface="Aptos" pitchFamily="34" charset="0"/>
                <a:ea typeface="Aptos" pitchFamily="34" charset="-122"/>
                <a:cs typeface="Aptos" pitchFamily="34" charset="-120"/>
              </a:rPr>
              <a:t>Credential</a:t>
            </a:r>
            <a:endParaRPr lang="en-US" sz="2300" dirty="0"/>
          </a:p>
        </p:txBody>
      </p:sp>
      <p:sp>
        <p:nvSpPr>
          <p:cNvPr id="12" name="Text 10"/>
          <p:cNvSpPr txBox="1"/>
          <p:nvPr/>
        </p:nvSpPr>
        <p:spPr>
          <a:xfrm>
            <a:off x="7626096" y="2039112"/>
            <a:ext cx="3383280" cy="384048"/>
          </a:xfrm>
          <a:prstGeom prst="rect">
            <a:avLst/>
          </a:prstGeom>
          <a:noFill/>
          <a:ln/>
        </p:spPr>
        <p:txBody>
          <a:bodyPr wrap="square" lIns="0" tIns="0" rIns="0" bIns="0" rtlCol="0" anchor="t"/>
          <a:lstStyle/>
          <a:p>
            <a:pPr algn="l" indent="0" marL="0">
              <a:lnSpc>
                <a:spcPct val="112000"/>
              </a:lnSpc>
              <a:buNone/>
            </a:pPr>
            <a:r>
              <a:rPr lang="en-US" sz="2300" dirty="0">
                <a:solidFill>
                  <a:srgbClr val="FFC77A"/>
                </a:solidFill>
                <a:latin typeface="Aptos" pitchFamily="34" charset="0"/>
                <a:ea typeface="Aptos" pitchFamily="34" charset="-122"/>
                <a:cs typeface="Aptos" pitchFamily="34" charset="-120"/>
              </a:rPr>
              <a:t>Another project</a:t>
            </a:r>
            <a:endParaRPr lang="en-US" sz="2300" dirty="0"/>
          </a:p>
        </p:txBody>
      </p:sp>
      <p:sp>
        <p:nvSpPr>
          <p:cNvPr id="13" name="Shape 11"/>
          <p:cNvSpPr/>
          <p:nvPr/>
        </p:nvSpPr>
        <p:spPr>
          <a:xfrm>
            <a:off x="3346704" y="3072384"/>
            <a:ext cx="667512" cy="0"/>
          </a:xfrm>
          <a:prstGeom prst="line">
            <a:avLst/>
          </a:prstGeom>
          <a:noFill/>
          <a:ln w="12700">
            <a:solidFill>
              <a:srgbClr val="40515B"/>
            </a:solidFill>
            <a:prstDash val="solid"/>
          </a:ln>
        </p:spPr>
      </p:sp>
      <p:sp>
        <p:nvSpPr>
          <p:cNvPr id="14" name="Text 12"/>
          <p:cNvSpPr txBox="1"/>
          <p:nvPr/>
        </p:nvSpPr>
        <p:spPr>
          <a:xfrm>
            <a:off x="4178808" y="2807208"/>
            <a:ext cx="2971800" cy="384048"/>
          </a:xfrm>
          <a:prstGeom prst="rect">
            <a:avLst/>
          </a:prstGeom>
          <a:noFill/>
          <a:ln/>
        </p:spPr>
        <p:txBody>
          <a:bodyPr wrap="square" lIns="0" tIns="0" rIns="0" bIns="0" rtlCol="0" anchor="t"/>
          <a:lstStyle/>
          <a:p>
            <a:pPr algn="l" indent="0" marL="0">
              <a:lnSpc>
                <a:spcPct val="112000"/>
              </a:lnSpc>
              <a:buNone/>
            </a:pPr>
            <a:r>
              <a:rPr lang="en-US" sz="2300" dirty="0">
                <a:solidFill>
                  <a:srgbClr val="F2F3EE"/>
                </a:solidFill>
                <a:latin typeface="Aptos" pitchFamily="34" charset="0"/>
                <a:ea typeface="Aptos" pitchFamily="34" charset="-122"/>
                <a:cs typeface="Aptos" pitchFamily="34" charset="-120"/>
              </a:rPr>
              <a:t>Mounted files</a:t>
            </a:r>
            <a:endParaRPr lang="en-US" sz="2300" dirty="0"/>
          </a:p>
        </p:txBody>
      </p:sp>
      <p:sp>
        <p:nvSpPr>
          <p:cNvPr id="15" name="Text 13"/>
          <p:cNvSpPr txBox="1"/>
          <p:nvPr/>
        </p:nvSpPr>
        <p:spPr>
          <a:xfrm>
            <a:off x="7626096" y="2807208"/>
            <a:ext cx="3383280" cy="384048"/>
          </a:xfrm>
          <a:prstGeom prst="rect">
            <a:avLst/>
          </a:prstGeom>
          <a:noFill/>
          <a:ln/>
        </p:spPr>
        <p:txBody>
          <a:bodyPr wrap="square" lIns="0" tIns="0" rIns="0" bIns="0" rtlCol="0" anchor="t"/>
          <a:lstStyle/>
          <a:p>
            <a:pPr algn="l" indent="0" marL="0">
              <a:lnSpc>
                <a:spcPct val="112000"/>
              </a:lnSpc>
              <a:buNone/>
            </a:pPr>
            <a:r>
              <a:rPr lang="en-US" sz="2300" dirty="0">
                <a:solidFill>
                  <a:srgbClr val="FFC77A"/>
                </a:solidFill>
                <a:latin typeface="Aptos" pitchFamily="34" charset="0"/>
                <a:ea typeface="Aptos" pitchFamily="34" charset="-122"/>
                <a:cs typeface="Aptos" pitchFamily="34" charset="-120"/>
              </a:rPr>
              <a:t>The next job</a:t>
            </a:r>
            <a:endParaRPr lang="en-US" sz="2300" dirty="0"/>
          </a:p>
        </p:txBody>
      </p:sp>
      <p:sp>
        <p:nvSpPr>
          <p:cNvPr id="16" name="Shape 14"/>
          <p:cNvSpPr/>
          <p:nvPr/>
        </p:nvSpPr>
        <p:spPr>
          <a:xfrm>
            <a:off x="3346704" y="3840480"/>
            <a:ext cx="667512" cy="0"/>
          </a:xfrm>
          <a:prstGeom prst="line">
            <a:avLst/>
          </a:prstGeom>
          <a:noFill/>
          <a:ln w="12700">
            <a:solidFill>
              <a:srgbClr val="40515B"/>
            </a:solidFill>
            <a:prstDash val="solid"/>
          </a:ln>
        </p:spPr>
      </p:sp>
      <p:sp>
        <p:nvSpPr>
          <p:cNvPr id="17" name="Text 15"/>
          <p:cNvSpPr txBox="1"/>
          <p:nvPr/>
        </p:nvSpPr>
        <p:spPr>
          <a:xfrm>
            <a:off x="4178808" y="3575304"/>
            <a:ext cx="2971800" cy="384048"/>
          </a:xfrm>
          <a:prstGeom prst="rect">
            <a:avLst/>
          </a:prstGeom>
          <a:noFill/>
          <a:ln/>
        </p:spPr>
        <p:txBody>
          <a:bodyPr wrap="square" lIns="0" tIns="0" rIns="0" bIns="0" rtlCol="0" anchor="t"/>
          <a:lstStyle/>
          <a:p>
            <a:pPr algn="l" indent="0" marL="0">
              <a:lnSpc>
                <a:spcPct val="112000"/>
              </a:lnSpc>
              <a:buNone/>
            </a:pPr>
            <a:r>
              <a:rPr lang="en-US" sz="2300" dirty="0">
                <a:solidFill>
                  <a:srgbClr val="F2F3EE"/>
                </a:solidFill>
                <a:latin typeface="Aptos" pitchFamily="34" charset="0"/>
                <a:ea typeface="Aptos" pitchFamily="34" charset="-122"/>
                <a:cs typeface="Aptos" pitchFamily="34" charset="-120"/>
              </a:rPr>
              <a:t>Publish request</a:t>
            </a:r>
            <a:endParaRPr lang="en-US" sz="2300" dirty="0"/>
          </a:p>
        </p:txBody>
      </p:sp>
      <p:sp>
        <p:nvSpPr>
          <p:cNvPr id="18" name="Text 16"/>
          <p:cNvSpPr txBox="1"/>
          <p:nvPr/>
        </p:nvSpPr>
        <p:spPr>
          <a:xfrm>
            <a:off x="7626096" y="3575304"/>
            <a:ext cx="3383280" cy="384048"/>
          </a:xfrm>
          <a:prstGeom prst="rect">
            <a:avLst/>
          </a:prstGeom>
          <a:noFill/>
          <a:ln/>
        </p:spPr>
        <p:txBody>
          <a:bodyPr wrap="square" lIns="0" tIns="0" rIns="0" bIns="0" rtlCol="0" anchor="t"/>
          <a:lstStyle/>
          <a:p>
            <a:pPr algn="l" indent="0" marL="0">
              <a:lnSpc>
                <a:spcPct val="112000"/>
              </a:lnSpc>
              <a:buNone/>
            </a:pPr>
            <a:r>
              <a:rPr lang="en-US" sz="2300" dirty="0">
                <a:solidFill>
                  <a:srgbClr val="FFC77A"/>
                </a:solidFill>
                <a:latin typeface="Aptos" pitchFamily="34" charset="0"/>
                <a:ea typeface="Aptos" pitchFamily="34" charset="-122"/>
                <a:cs typeface="Aptos" pitchFamily="34" charset="-120"/>
              </a:rPr>
              <a:t>Another account</a:t>
            </a:r>
            <a:endParaRPr lang="en-US" sz="2300" dirty="0"/>
          </a:p>
        </p:txBody>
      </p:sp>
      <p:sp>
        <p:nvSpPr>
          <p:cNvPr id="19" name="Shape 17"/>
          <p:cNvSpPr/>
          <p:nvPr/>
        </p:nvSpPr>
        <p:spPr>
          <a:xfrm>
            <a:off x="3346704" y="4608576"/>
            <a:ext cx="667512" cy="0"/>
          </a:xfrm>
          <a:prstGeom prst="line">
            <a:avLst/>
          </a:prstGeom>
          <a:noFill/>
          <a:ln w="12700">
            <a:solidFill>
              <a:srgbClr val="40515B"/>
            </a:solidFill>
            <a:prstDash val="solid"/>
          </a:ln>
        </p:spPr>
      </p:sp>
      <p:sp>
        <p:nvSpPr>
          <p:cNvPr id="20" name="Text 18"/>
          <p:cNvSpPr txBox="1"/>
          <p:nvPr/>
        </p:nvSpPr>
        <p:spPr>
          <a:xfrm>
            <a:off x="4178808" y="4343400"/>
            <a:ext cx="2971800" cy="384048"/>
          </a:xfrm>
          <a:prstGeom prst="rect">
            <a:avLst/>
          </a:prstGeom>
          <a:noFill/>
          <a:ln/>
        </p:spPr>
        <p:txBody>
          <a:bodyPr wrap="square" lIns="0" tIns="0" rIns="0" bIns="0" rtlCol="0" anchor="t"/>
          <a:lstStyle/>
          <a:p>
            <a:pPr algn="l" indent="0" marL="0">
              <a:lnSpc>
                <a:spcPct val="112000"/>
              </a:lnSpc>
              <a:buNone/>
            </a:pPr>
            <a:r>
              <a:rPr lang="en-US" sz="2300" dirty="0">
                <a:solidFill>
                  <a:srgbClr val="F2F3EE"/>
                </a:solidFill>
                <a:latin typeface="Aptos" pitchFamily="34" charset="0"/>
                <a:ea typeface="Aptos" pitchFamily="34" charset="-122"/>
                <a:cs typeface="Aptos" pitchFamily="34" charset="-120"/>
              </a:rPr>
              <a:t>Verifier inputs</a:t>
            </a:r>
            <a:endParaRPr lang="en-US" sz="2300" dirty="0"/>
          </a:p>
        </p:txBody>
      </p:sp>
      <p:sp>
        <p:nvSpPr>
          <p:cNvPr id="21" name="Text 19"/>
          <p:cNvSpPr txBox="1"/>
          <p:nvPr/>
        </p:nvSpPr>
        <p:spPr>
          <a:xfrm>
            <a:off x="7626096" y="4343400"/>
            <a:ext cx="3383280" cy="384048"/>
          </a:xfrm>
          <a:prstGeom prst="rect">
            <a:avLst/>
          </a:prstGeom>
          <a:noFill/>
          <a:ln/>
        </p:spPr>
        <p:txBody>
          <a:bodyPr wrap="square" lIns="0" tIns="0" rIns="0" bIns="0" rtlCol="0" anchor="t"/>
          <a:lstStyle/>
          <a:p>
            <a:pPr algn="l" indent="0" marL="0">
              <a:lnSpc>
                <a:spcPct val="112000"/>
              </a:lnSpc>
              <a:buNone/>
            </a:pPr>
            <a:r>
              <a:rPr lang="en-US" sz="2300" dirty="0">
                <a:solidFill>
                  <a:srgbClr val="FFC77A"/>
                </a:solidFill>
                <a:latin typeface="Aptos" pitchFamily="34" charset="0"/>
                <a:ea typeface="Aptos" pitchFamily="34" charset="-122"/>
                <a:cs typeface="Aptos" pitchFamily="34" charset="-120"/>
              </a:rPr>
              <a:t>Release approval</a:t>
            </a:r>
            <a:endParaRPr lang="en-US" sz="2300" dirty="0"/>
          </a:p>
        </p:txBody>
      </p:sp>
      <p:sp>
        <p:nvSpPr>
          <p:cNvPr id="22" name="Text 20"/>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The controller, its keys and its reference criteria are trusted.</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01 / INHERITED CREDENTIALS</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injected token can read another project.</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Recorded Linux lab: credentials.before / after / positive / expired / wrong-audience</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03</a:t>
            </a:r>
            <a:endParaRPr lang="en-US" sz="1200" dirty="0"/>
          </a:p>
        </p:txBody>
      </p:sp>
      <p:sp>
        <p:nvSpPr>
          <p:cNvPr id="7" name="Shape 5"/>
          <p:cNvSpPr/>
          <p:nvPr/>
        </p:nvSpPr>
        <p:spPr>
          <a:xfrm>
            <a:off x="548640" y="1984248"/>
            <a:ext cx="5349240" cy="3200400"/>
          </a:xfrm>
          <a:prstGeom prst="rect">
            <a:avLst/>
          </a:prstGeom>
          <a:solidFill>
            <a:srgbClr val="1B2329"/>
          </a:solidFill>
          <a:ln w="12700">
            <a:solidFill>
              <a:srgbClr val="1B2329"/>
            </a:solidFill>
            <a:prstDash val="solid"/>
          </a:ln>
        </p:spPr>
      </p:sp>
      <p:sp>
        <p:nvSpPr>
          <p:cNvPr id="8" name="Text 6"/>
          <p:cNvSpPr txBox="1"/>
          <p:nvPr/>
        </p:nvSpPr>
        <p:spPr>
          <a:xfrm>
            <a:off x="749808" y="2167128"/>
            <a:ext cx="4946904" cy="256032"/>
          </a:xfrm>
          <a:prstGeom prst="rect">
            <a:avLst/>
          </a:prstGeom>
          <a:noFill/>
          <a:ln/>
        </p:spPr>
        <p:txBody>
          <a:bodyPr wrap="square" lIns="0" tIns="0" rIns="0" bIns="0" rtlCol="0" anchor="t"/>
          <a:lstStyle/>
          <a:p>
            <a:pPr algn="l" indent="0" marL="0">
              <a:lnSpc>
                <a:spcPct val="112000"/>
              </a:lnSpc>
              <a:buNone/>
            </a:pPr>
            <a:r>
              <a:rPr lang="en-US" sz="1100" b="1" dirty="0">
                <a:solidFill>
                  <a:srgbClr val="FFC77A"/>
                </a:solidFill>
                <a:latin typeface="Aptos" pitchFamily="34" charset="0"/>
                <a:ea typeface="Aptos" pitchFamily="34" charset="-122"/>
                <a:cs typeface="Aptos" pitchFamily="34" charset="-120"/>
              </a:rPr>
              <a:t>RUNNER CREDENTIAL / OBSERVED HTTP</a:t>
            </a:r>
            <a:endParaRPr lang="en-US" sz="1100" dirty="0"/>
          </a:p>
        </p:txBody>
      </p:sp>
      <p:sp>
        <p:nvSpPr>
          <p:cNvPr id="9" name="Text 7"/>
          <p:cNvSpPr txBox="1"/>
          <p:nvPr/>
        </p:nvSpPr>
        <p:spPr>
          <a:xfrm>
            <a:off x="749808" y="2679192"/>
            <a:ext cx="4946904" cy="2350008"/>
          </a:xfrm>
          <a:prstGeom prst="rect">
            <a:avLst/>
          </a:prstGeom>
          <a:noFill/>
          <a:ln/>
        </p:spPr>
        <p:txBody>
          <a:bodyPr wrap="square" lIns="0" tIns="0" rIns="0" bIns="0" rtlCol="0" anchor="t"/>
          <a:lstStyle/>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Bearer fixture-runner</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GET /projects/other/private</a:t>
            </a: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200</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SYNTHETIC-PRIVATE-FIXTURE</a:t>
            </a:r>
            <a:endParaRPr lang="en-US" sz="1900" dirty="0"/>
          </a:p>
        </p:txBody>
      </p:sp>
      <p:sp>
        <p:nvSpPr>
          <p:cNvPr id="10" name="Shape 8"/>
          <p:cNvSpPr/>
          <p:nvPr/>
        </p:nvSpPr>
        <p:spPr>
          <a:xfrm>
            <a:off x="6099048" y="1984248"/>
            <a:ext cx="5532120" cy="3200400"/>
          </a:xfrm>
          <a:prstGeom prst="rect">
            <a:avLst/>
          </a:prstGeom>
          <a:solidFill>
            <a:srgbClr val="1B2329"/>
          </a:solidFill>
          <a:ln w="12700">
            <a:solidFill>
              <a:srgbClr val="1B2329"/>
            </a:solidFill>
            <a:prstDash val="solid"/>
          </a:ln>
        </p:spPr>
      </p:sp>
      <p:sp>
        <p:nvSpPr>
          <p:cNvPr id="11" name="Text 9"/>
          <p:cNvSpPr txBox="1"/>
          <p:nvPr/>
        </p:nvSpPr>
        <p:spPr>
          <a:xfrm>
            <a:off x="6300216" y="2167128"/>
            <a:ext cx="5129784" cy="256032"/>
          </a:xfrm>
          <a:prstGeom prst="rect">
            <a:avLst/>
          </a:prstGeom>
          <a:noFill/>
          <a:ln/>
        </p:spPr>
        <p:txBody>
          <a:bodyPr wrap="square" lIns="0" tIns="0" rIns="0" bIns="0" rtlCol="0" anchor="t"/>
          <a:lstStyle/>
          <a:p>
            <a:pPr algn="l" indent="0" marL="0">
              <a:lnSpc>
                <a:spcPct val="112000"/>
              </a:lnSpc>
              <a:buNone/>
            </a:pPr>
            <a:r>
              <a:rPr lang="en-US" sz="1100" b="1" dirty="0">
                <a:solidFill>
                  <a:srgbClr val="8FE3CB"/>
                </a:solidFill>
                <a:latin typeface="Aptos" pitchFamily="34" charset="0"/>
                <a:ea typeface="Aptos" pitchFamily="34" charset="-122"/>
                <a:cs typeface="Aptos" pitchFamily="34" charset="-120"/>
              </a:rPr>
              <a:t>TASK CREDENTIAL / OBSERVED HTTP</a:t>
            </a:r>
            <a:endParaRPr lang="en-US" sz="1100" dirty="0"/>
          </a:p>
        </p:txBody>
      </p:sp>
      <p:sp>
        <p:nvSpPr>
          <p:cNvPr id="12" name="Text 10"/>
          <p:cNvSpPr txBox="1"/>
          <p:nvPr/>
        </p:nvSpPr>
        <p:spPr>
          <a:xfrm>
            <a:off x="6300216" y="2679192"/>
            <a:ext cx="5129784" cy="2350008"/>
          </a:xfrm>
          <a:prstGeom prst="rect">
            <a:avLst/>
          </a:prstGeom>
          <a:noFill/>
          <a:ln/>
        </p:spPr>
        <p:txBody>
          <a:bodyPr wrap="square" lIns="0" tIns="0" rIns="0" bIns="0" rtlCol="0" anchor="t"/>
          <a:lstStyle/>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Bearer fixture-task</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GET /projects/other/private</a:t>
            </a: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403</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GET /input/parser-fix   200</a:t>
            </a:r>
            <a:endParaRPr lang="en-US" sz="1900" dirty="0"/>
          </a:p>
        </p:txBody>
      </p:sp>
      <p:sp>
        <p:nvSpPr>
          <p:cNvPr id="13" name="Text 11"/>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Project scope blocks the read. Expiry limits how long the token works.</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02 / DANGEROUS MOUNTS</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A permitted write changes the next job.</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Recorded Linux lab: mount.before / mount.after / mount.positive</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04</a:t>
            </a:r>
            <a:endParaRPr lang="en-US" sz="1200" dirty="0"/>
          </a:p>
        </p:txBody>
      </p:sp>
      <p:sp>
        <p:nvSpPr>
          <p:cNvPr id="7" name="Shape 5"/>
          <p:cNvSpPr/>
          <p:nvPr/>
        </p:nvSpPr>
        <p:spPr>
          <a:xfrm>
            <a:off x="548640" y="1984248"/>
            <a:ext cx="5349240" cy="3200400"/>
          </a:xfrm>
          <a:prstGeom prst="rect">
            <a:avLst/>
          </a:prstGeom>
          <a:solidFill>
            <a:srgbClr val="1B2329"/>
          </a:solidFill>
          <a:ln w="12700">
            <a:solidFill>
              <a:srgbClr val="1B2329"/>
            </a:solidFill>
            <a:prstDash val="solid"/>
          </a:ln>
        </p:spPr>
      </p:sp>
      <p:sp>
        <p:nvSpPr>
          <p:cNvPr id="8" name="Text 6"/>
          <p:cNvSpPr txBox="1"/>
          <p:nvPr/>
        </p:nvSpPr>
        <p:spPr>
          <a:xfrm>
            <a:off x="749808" y="2167128"/>
            <a:ext cx="4946904" cy="256032"/>
          </a:xfrm>
          <a:prstGeom prst="rect">
            <a:avLst/>
          </a:prstGeom>
          <a:noFill/>
          <a:ln/>
        </p:spPr>
        <p:txBody>
          <a:bodyPr wrap="square" lIns="0" tIns="0" rIns="0" bIns="0" rtlCol="0" anchor="t"/>
          <a:lstStyle/>
          <a:p>
            <a:pPr algn="l" indent="0" marL="0">
              <a:lnSpc>
                <a:spcPct val="112000"/>
              </a:lnSpc>
              <a:buNone/>
            </a:pPr>
            <a:r>
              <a:rPr lang="en-US" sz="1100" b="1" dirty="0">
                <a:solidFill>
                  <a:srgbClr val="FFC77A"/>
                </a:solidFill>
                <a:latin typeface="Aptos" pitchFamily="34" charset="0"/>
                <a:ea typeface="Aptos" pitchFamily="34" charset="-122"/>
                <a:cs typeface="Aptos" pitchFamily="34" charset="-120"/>
              </a:rPr>
              <a:t>WRITABLE BIND / OBSERVED</a:t>
            </a:r>
            <a:endParaRPr lang="en-US" sz="1100" dirty="0"/>
          </a:p>
        </p:txBody>
      </p:sp>
      <p:sp>
        <p:nvSpPr>
          <p:cNvPr id="9" name="Text 7"/>
          <p:cNvSpPr txBox="1"/>
          <p:nvPr/>
        </p:nvSpPr>
        <p:spPr>
          <a:xfrm>
            <a:off x="749808" y="2679192"/>
            <a:ext cx="4946904" cy="2350008"/>
          </a:xfrm>
          <a:prstGeom prst="rect">
            <a:avLst/>
          </a:prstGeom>
          <a:noFill/>
          <a:ln/>
        </p:spPr>
        <p:txBody>
          <a:bodyPr wrap="square" lIns="0" tIns="0" rIns="0" bIns="0" rtlCol="0" anchor="t"/>
          <a:lstStyle/>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/shared/next-job.json</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write_text(...)</a:t>
            </a: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WRITE_SUCCEEDED</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Host fixture changed.</a:t>
            </a:r>
            <a:endParaRPr lang="en-US" sz="1900" dirty="0"/>
          </a:p>
        </p:txBody>
      </p:sp>
      <p:sp>
        <p:nvSpPr>
          <p:cNvPr id="10" name="Shape 8"/>
          <p:cNvSpPr/>
          <p:nvPr/>
        </p:nvSpPr>
        <p:spPr>
          <a:xfrm>
            <a:off x="6099048" y="1984248"/>
            <a:ext cx="5532120" cy="3200400"/>
          </a:xfrm>
          <a:prstGeom prst="rect">
            <a:avLst/>
          </a:prstGeom>
          <a:solidFill>
            <a:srgbClr val="1B2329"/>
          </a:solidFill>
          <a:ln w="12700">
            <a:solidFill>
              <a:srgbClr val="1B2329"/>
            </a:solidFill>
            <a:prstDash val="solid"/>
          </a:ln>
        </p:spPr>
      </p:sp>
      <p:sp>
        <p:nvSpPr>
          <p:cNvPr id="11" name="Text 9"/>
          <p:cNvSpPr txBox="1"/>
          <p:nvPr/>
        </p:nvSpPr>
        <p:spPr>
          <a:xfrm>
            <a:off x="6300216" y="2167128"/>
            <a:ext cx="5129784" cy="256032"/>
          </a:xfrm>
          <a:prstGeom prst="rect">
            <a:avLst/>
          </a:prstGeom>
          <a:noFill/>
          <a:ln/>
        </p:spPr>
        <p:txBody>
          <a:bodyPr wrap="square" lIns="0" tIns="0" rIns="0" bIns="0" rtlCol="0" anchor="t"/>
          <a:lstStyle/>
          <a:p>
            <a:pPr algn="l" indent="0" marL="0">
              <a:lnSpc>
                <a:spcPct val="112000"/>
              </a:lnSpc>
              <a:buNone/>
            </a:pPr>
            <a:r>
              <a:rPr lang="en-US" sz="1100" b="1" dirty="0">
                <a:solidFill>
                  <a:srgbClr val="8FE3CB"/>
                </a:solidFill>
                <a:latin typeface="Aptos" pitchFamily="34" charset="0"/>
                <a:ea typeface="Aptos" pitchFamily="34" charset="-122"/>
                <a:cs typeface="Aptos" pitchFamily="34" charset="-120"/>
              </a:rPr>
              <a:t>READ-ONLY BIND / OBSERVED</a:t>
            </a:r>
            <a:endParaRPr lang="en-US" sz="1100" dirty="0"/>
          </a:p>
        </p:txBody>
      </p:sp>
      <p:sp>
        <p:nvSpPr>
          <p:cNvPr id="12" name="Text 10"/>
          <p:cNvSpPr txBox="1"/>
          <p:nvPr/>
        </p:nvSpPr>
        <p:spPr>
          <a:xfrm>
            <a:off x="6300216" y="2679192"/>
            <a:ext cx="5129784" cy="2350008"/>
          </a:xfrm>
          <a:prstGeom prst="rect">
            <a:avLst/>
          </a:prstGeom>
          <a:noFill/>
          <a:ln/>
        </p:spPr>
        <p:txBody>
          <a:bodyPr wrap="square" lIns="0" tIns="0" rIns="0" bIns="0" rtlCol="0" anchor="t"/>
          <a:lstStyle/>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/shared/next-job.json</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write_text(...)</a:t>
            </a: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WRITE_DENIED</a:t>
            </a:r>
            <a:endParaRPr lang="en-US" sz="1900" dirty="0"/>
          </a:p>
          <a:p>
            <a:pPr algn="l" indent="0" marL="0">
              <a:lnSpc>
                <a:spcPct val="112000"/>
              </a:lnSpc>
              <a:buNone/>
            </a:pPr>
            <a:endParaRPr lang="en-US" sz="1900" dirty="0"/>
          </a:p>
          <a:p>
            <a:pPr algn="l" indent="0" marL="0">
              <a:lnSpc>
                <a:spcPct val="112000"/>
              </a:lnSpc>
              <a:buNone/>
            </a:pPr>
            <a:r>
              <a:rPr lang="en-US" sz="1900" dirty="0">
                <a:solidFill>
                  <a:srgbClr val="F2F3EE"/>
                </a:solidFill>
                <a:latin typeface="DejaVu Sans Mono" pitchFamily="34" charset="0"/>
                <a:ea typeface="DejaVu Sans Mono" pitchFamily="34" charset="-122"/>
                <a:cs typeface="DejaVu Sans Mono" pitchFamily="34" charset="-120"/>
              </a:rPr>
              <a:t>/output/patch.txt still works.</a:t>
            </a:r>
            <a:endParaRPr lang="en-US" sz="1900" dirty="0"/>
          </a:p>
        </p:txBody>
      </p:sp>
      <p:sp>
        <p:nvSpPr>
          <p:cNvPr id="13" name="Text 11"/>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Mount only the task input and output; omit the next job's state.</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03 / ALLOWED ENDPOINT</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An allowed service can receive the wrong upload.</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Recorded Linux lab: egress.*; the service is loopback-only, not a public SaaS test.</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05</a:t>
            </a:r>
            <a:endParaRPr lang="en-US" sz="1200" dirty="0"/>
          </a:p>
        </p:txBody>
      </p:sp>
      <p:sp>
        <p:nvSpPr>
          <p:cNvPr id="7" name="Shape 5"/>
          <p:cNvSpPr/>
          <p:nvPr/>
        </p:nvSpPr>
        <p:spPr>
          <a:xfrm>
            <a:off x="548640" y="1984248"/>
            <a:ext cx="5349240" cy="3200400"/>
          </a:xfrm>
          <a:prstGeom prst="rect">
            <a:avLst/>
          </a:prstGeom>
          <a:solidFill>
            <a:srgbClr val="1B2329"/>
          </a:solidFill>
          <a:ln w="12700">
            <a:solidFill>
              <a:srgbClr val="1B2329"/>
            </a:solidFill>
            <a:prstDash val="solid"/>
          </a:ln>
        </p:spPr>
      </p:sp>
      <p:sp>
        <p:nvSpPr>
          <p:cNvPr id="8" name="Text 6"/>
          <p:cNvSpPr txBox="1"/>
          <p:nvPr/>
        </p:nvSpPr>
        <p:spPr>
          <a:xfrm>
            <a:off x="749808" y="2167128"/>
            <a:ext cx="4946904" cy="256032"/>
          </a:xfrm>
          <a:prstGeom prst="rect">
            <a:avLst/>
          </a:prstGeom>
          <a:noFill/>
          <a:ln/>
        </p:spPr>
        <p:txBody>
          <a:bodyPr wrap="square" lIns="0" tIns="0" rIns="0" bIns="0" rtlCol="0" anchor="t"/>
          <a:lstStyle/>
          <a:p>
            <a:pPr algn="l" indent="0" marL="0">
              <a:lnSpc>
                <a:spcPct val="112000"/>
              </a:lnSpc>
              <a:buNone/>
            </a:pPr>
            <a:r>
              <a:rPr lang="en-US" sz="1100" b="1" dirty="0">
                <a:solidFill>
                  <a:srgbClr val="FFC77A"/>
                </a:solidFill>
                <a:latin typeface="Aptos" pitchFamily="34" charset="0"/>
                <a:ea typeface="Aptos" pitchFamily="34" charset="-122"/>
                <a:cs typeface="Aptos" pitchFamily="34" charset="-120"/>
              </a:rPr>
              <a:t>WORKER CHOOSES THE UPLOAD / HTTP</a:t>
            </a:r>
            <a:endParaRPr lang="en-US" sz="1100" dirty="0"/>
          </a:p>
        </p:txBody>
      </p:sp>
      <p:sp>
        <p:nvSpPr>
          <p:cNvPr id="9" name="Text 7"/>
          <p:cNvSpPr txBox="1"/>
          <p:nvPr/>
        </p:nvSpPr>
        <p:spPr>
          <a:xfrm>
            <a:off x="749808" y="2679192"/>
            <a:ext cx="4946904" cy="235000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POST /accounts/other/uploads</a:t>
            </a:r>
            <a:endParaRPr lang="en-US" sz="1800" dirty="0"/>
          </a:p>
          <a:p>
            <a:pPr algn="l" indent="0" marL="0">
              <a:lnSpc>
                <a:spcPct val="112000"/>
              </a:lnSpc>
              <a:buNone/>
            </a:pP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{"data": "SYNTHETIC-..."}</a:t>
            </a:r>
            <a:endParaRPr lang="en-US" sz="1800" dirty="0"/>
          </a:p>
          <a:p>
            <a:pPr algn="l" indent="0" marL="0">
              <a:lnSpc>
                <a:spcPct val="112000"/>
              </a:lnSpc>
              <a:buNone/>
            </a:pP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201</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Stored under other account.</a:t>
            </a:r>
            <a:endParaRPr lang="en-US" sz="1800" dirty="0"/>
          </a:p>
        </p:txBody>
      </p:sp>
      <p:sp>
        <p:nvSpPr>
          <p:cNvPr id="10" name="Shape 8"/>
          <p:cNvSpPr/>
          <p:nvPr/>
        </p:nvSpPr>
        <p:spPr>
          <a:xfrm>
            <a:off x="6099048" y="1984248"/>
            <a:ext cx="5532120" cy="3200400"/>
          </a:xfrm>
          <a:prstGeom prst="rect">
            <a:avLst/>
          </a:prstGeom>
          <a:solidFill>
            <a:srgbClr val="1B2329"/>
          </a:solidFill>
          <a:ln w="12700">
            <a:solidFill>
              <a:srgbClr val="1B2329"/>
            </a:solidFill>
            <a:prstDash val="solid"/>
          </a:ln>
        </p:spPr>
      </p:sp>
      <p:sp>
        <p:nvSpPr>
          <p:cNvPr id="11" name="Text 9"/>
          <p:cNvSpPr txBox="1"/>
          <p:nvPr/>
        </p:nvSpPr>
        <p:spPr>
          <a:xfrm>
            <a:off x="6300216" y="2167128"/>
            <a:ext cx="5129784" cy="256032"/>
          </a:xfrm>
          <a:prstGeom prst="rect">
            <a:avLst/>
          </a:prstGeom>
          <a:noFill/>
          <a:ln/>
        </p:spPr>
        <p:txBody>
          <a:bodyPr wrap="square" lIns="0" tIns="0" rIns="0" bIns="0" rtlCol="0" anchor="t"/>
          <a:lstStyle/>
          <a:p>
            <a:pPr algn="l" indent="0" marL="0">
              <a:lnSpc>
                <a:spcPct val="112000"/>
              </a:lnSpc>
              <a:buNone/>
            </a:pPr>
            <a:r>
              <a:rPr lang="en-US" sz="1100" b="1" dirty="0">
                <a:solidFill>
                  <a:srgbClr val="8FE3CB"/>
                </a:solidFill>
                <a:latin typeface="Aptos" pitchFamily="34" charset="0"/>
                <a:ea typeface="Aptos" pitchFamily="34" charset="-122"/>
                <a:cs typeface="Aptos" pitchFamily="34" charset="-120"/>
              </a:rPr>
              <a:t>BROKER FIXES THE ENVELOPE</a:t>
            </a:r>
            <a:endParaRPr lang="en-US" sz="1100" dirty="0"/>
          </a:p>
        </p:txBody>
      </p:sp>
      <p:sp>
        <p:nvSpPr>
          <p:cNvPr id="12" name="Text 10"/>
          <p:cNvSpPr txBox="1"/>
          <p:nvPr/>
        </p:nvSpPr>
        <p:spPr>
          <a:xfrm>
            <a:off x="6300216" y="2679192"/>
            <a:ext cx="5129784" cy="235000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operation: publish_report</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task: parser-fix</a:t>
            </a:r>
            <a:endParaRPr lang="en-US" sz="1800" dirty="0"/>
          </a:p>
          <a:p>
            <a:pPr algn="l" indent="0" marL="0">
              <a:lnSpc>
                <a:spcPct val="112000"/>
              </a:lnSpc>
              <a:buNone/>
            </a:pP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Extra fields -&gt; DENIED</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Direct route -&gt; UNREACHABLE</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Team report -&gt; DELIVERED</a:t>
            </a:r>
            <a:endParaRPr lang="en-US" sz="1800" dirty="0"/>
          </a:p>
        </p:txBody>
      </p:sp>
      <p:sp>
        <p:nvSpPr>
          <p:cNvPr id="13" name="Text 11"/>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The broker owns the destination and payload; isolation removes bypass.</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04 / VERIFIER TAMPERING / SETUP</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checker stays unchanged throughout the test.</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Factory policy model: admin:none is a CLI input, not a deployed HTTP request.</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06</a:t>
            </a:r>
            <a:endParaRPr lang="en-US" sz="1200" dirty="0"/>
          </a:p>
        </p:txBody>
      </p:sp>
      <p:sp>
        <p:nvSpPr>
          <p:cNvPr id="7" name="Shape 5"/>
          <p:cNvSpPr/>
          <p:nvPr/>
        </p:nvSpPr>
        <p:spPr>
          <a:xfrm>
            <a:off x="548640" y="1938528"/>
            <a:ext cx="5349240" cy="1508760"/>
          </a:xfrm>
          <a:prstGeom prst="rect">
            <a:avLst/>
          </a:prstGeom>
          <a:solidFill>
            <a:srgbClr val="1B2329"/>
          </a:solidFill>
          <a:ln w="12700">
            <a:solidFill>
              <a:srgbClr val="1B2329"/>
            </a:solidFill>
            <a:prstDash val="solid"/>
          </a:ln>
        </p:spPr>
      </p:sp>
      <p:sp>
        <p:nvSpPr>
          <p:cNvPr id="8" name="Text 6"/>
          <p:cNvSpPr txBox="1"/>
          <p:nvPr/>
        </p:nvSpPr>
        <p:spPr>
          <a:xfrm>
            <a:off x="749808" y="2121408"/>
            <a:ext cx="4946904" cy="256032"/>
          </a:xfrm>
          <a:prstGeom prst="rect">
            <a:avLst/>
          </a:prstGeom>
          <a:noFill/>
          <a:ln/>
        </p:spPr>
        <p:txBody>
          <a:bodyPr wrap="square" lIns="0" tIns="0" rIns="0" bIns="0" rtlCol="0" anchor="t"/>
          <a:lstStyle/>
          <a:p>
            <a:pPr algn="l" indent="0" marL="0">
              <a:lnSpc>
                <a:spcPct val="112000"/>
              </a:lnSpc>
              <a:buNone/>
            </a:pPr>
            <a:r>
              <a:rPr lang="en-US" sz="1100" b="1" dirty="0">
                <a:solidFill>
                  <a:srgbClr val="8FE3CB"/>
                </a:solidFill>
                <a:latin typeface="Aptos" pitchFamily="34" charset="0"/>
                <a:ea typeface="Aptos" pitchFamily="34" charset="-122"/>
                <a:cs typeface="Aptos" pitchFamily="34" charset="-120"/>
              </a:rPr>
              <a:t>CONTROLLER POLICY</a:t>
            </a:r>
            <a:endParaRPr lang="en-US" sz="1100" dirty="0"/>
          </a:p>
        </p:txBody>
      </p:sp>
      <p:sp>
        <p:nvSpPr>
          <p:cNvPr id="9" name="Text 7"/>
          <p:cNvSpPr txBox="1"/>
          <p:nvPr/>
        </p:nvSpPr>
        <p:spPr>
          <a:xfrm>
            <a:off x="749808" y="2633472"/>
            <a:ext cx="4946904" cy="658368"/>
          </a:xfrm>
          <a:prstGeom prst="rect">
            <a:avLst/>
          </a:prstGeom>
          <a:noFill/>
          <a:ln/>
        </p:spPr>
        <p:txBody>
          <a:bodyPr wrap="square" lIns="0" tIns="0" rIns="0" bIns="0" rtlCol="0" anchor="t"/>
          <a:lstStyle/>
          <a:p>
            <a:pPr algn="l" indent="0" marL="0">
              <a:lnSpc>
                <a:spcPct val="112000"/>
              </a:lnSpc>
              <a:buNone/>
            </a:pPr>
            <a:r>
              <a:rPr lang="en-US" sz="2300" dirty="0">
                <a:solidFill>
                  <a:srgbClr val="F2F3EE"/>
                </a:solidFill>
                <a:latin typeface="DejaVu Sans Mono" pitchFamily="34" charset="0"/>
                <a:ea typeface="DejaVu Sans Mono" pitchFamily="34" charset="-122"/>
                <a:cs typeface="DejaVu Sans Mono" pitchFamily="34" charset="-120"/>
              </a:rPr>
              <a:t>admin:none  -&gt;  401</a:t>
            </a:r>
            <a:endParaRPr lang="en-US" sz="2300" dirty="0"/>
          </a:p>
        </p:txBody>
      </p:sp>
      <p:sp>
        <p:nvSpPr>
          <p:cNvPr id="10" name="Shape 8"/>
          <p:cNvSpPr/>
          <p:nvPr/>
        </p:nvSpPr>
        <p:spPr>
          <a:xfrm>
            <a:off x="6099048" y="1938528"/>
            <a:ext cx="5532120" cy="1508760"/>
          </a:xfrm>
          <a:prstGeom prst="rect">
            <a:avLst/>
          </a:prstGeom>
          <a:solidFill>
            <a:srgbClr val="1B2329"/>
          </a:solidFill>
          <a:ln w="12700">
            <a:solidFill>
              <a:srgbClr val="1B2329"/>
            </a:solidFill>
            <a:prstDash val="solid"/>
          </a:ln>
        </p:spPr>
      </p:sp>
      <p:sp>
        <p:nvSpPr>
          <p:cNvPr id="11" name="Text 9"/>
          <p:cNvSpPr txBox="1"/>
          <p:nvPr/>
        </p:nvSpPr>
        <p:spPr>
          <a:xfrm>
            <a:off x="6300216" y="2121408"/>
            <a:ext cx="5129784" cy="256032"/>
          </a:xfrm>
          <a:prstGeom prst="rect">
            <a:avLst/>
          </a:prstGeom>
          <a:noFill/>
          <a:ln/>
        </p:spPr>
        <p:txBody>
          <a:bodyPr wrap="square" lIns="0" tIns="0" rIns="0" bIns="0" rtlCol="0" anchor="t"/>
          <a:lstStyle/>
          <a:p>
            <a:pPr algn="l" indent="0" marL="0">
              <a:lnSpc>
                <a:spcPct val="112000"/>
              </a:lnSpc>
              <a:buNone/>
            </a:pPr>
            <a:r>
              <a:rPr lang="en-US" sz="1100" b="1" dirty="0">
                <a:solidFill>
                  <a:srgbClr val="FFC77A"/>
                </a:solidFill>
                <a:latin typeface="Aptos" pitchFamily="34" charset="0"/>
                <a:ea typeface="Aptos" pitchFamily="34" charset="-122"/>
                <a:cs typeface="Aptos" pitchFamily="34" charset="-120"/>
              </a:rPr>
              <a:t>OBSERVED CANDIDATE</a:t>
            </a:r>
            <a:endParaRPr lang="en-US" sz="1100" dirty="0"/>
          </a:p>
        </p:txBody>
      </p:sp>
      <p:sp>
        <p:nvSpPr>
          <p:cNvPr id="12" name="Text 10"/>
          <p:cNvSpPr txBox="1"/>
          <p:nvPr/>
        </p:nvSpPr>
        <p:spPr>
          <a:xfrm>
            <a:off x="6300216" y="2633472"/>
            <a:ext cx="5129784" cy="658368"/>
          </a:xfrm>
          <a:prstGeom prst="rect">
            <a:avLst/>
          </a:prstGeom>
          <a:noFill/>
          <a:ln/>
        </p:spPr>
        <p:txBody>
          <a:bodyPr wrap="square" lIns="0" tIns="0" rIns="0" bIns="0" rtlCol="0" anchor="t"/>
          <a:lstStyle/>
          <a:p>
            <a:pPr algn="l" indent="0" marL="0">
              <a:lnSpc>
                <a:spcPct val="112000"/>
              </a:lnSpc>
              <a:buNone/>
            </a:pPr>
            <a:r>
              <a:rPr lang="en-US" sz="2300" dirty="0">
                <a:solidFill>
                  <a:srgbClr val="F2F3EE"/>
                </a:solidFill>
                <a:latin typeface="DejaVu Sans Mono" pitchFamily="34" charset="0"/>
                <a:ea typeface="DejaVu Sans Mono" pitchFamily="34" charset="-122"/>
                <a:cs typeface="DejaVu Sans Mono" pitchFamily="34" charset="-120"/>
              </a:rPr>
              <a:t>admin:none  -&gt;  200</a:t>
            </a:r>
            <a:endParaRPr lang="en-US" sz="2300" dirty="0"/>
          </a:p>
        </p:txBody>
      </p:sp>
      <p:sp>
        <p:nvSpPr>
          <p:cNvPr id="13" name="Shape 11"/>
          <p:cNvSpPr/>
          <p:nvPr/>
        </p:nvSpPr>
        <p:spPr>
          <a:xfrm>
            <a:off x="548640" y="3712464"/>
            <a:ext cx="11082528" cy="1536192"/>
          </a:xfrm>
          <a:prstGeom prst="rect">
            <a:avLst/>
          </a:prstGeom>
          <a:solidFill>
            <a:srgbClr val="1B2329"/>
          </a:solidFill>
          <a:ln w="12700">
            <a:solidFill>
              <a:srgbClr val="1B2329"/>
            </a:solidFill>
            <a:prstDash val="solid"/>
          </a:ln>
        </p:spPr>
      </p:sp>
      <p:sp>
        <p:nvSpPr>
          <p:cNvPr id="14" name="Text 12"/>
          <p:cNvSpPr txBox="1"/>
          <p:nvPr/>
        </p:nvSpPr>
        <p:spPr>
          <a:xfrm>
            <a:off x="749808" y="3895344"/>
            <a:ext cx="10680192" cy="256032"/>
          </a:xfrm>
          <a:prstGeom prst="rect">
            <a:avLst/>
          </a:prstGeom>
          <a:noFill/>
          <a:ln/>
        </p:spPr>
        <p:txBody>
          <a:bodyPr wrap="square" lIns="0" tIns="0" rIns="0" bIns="0" rtlCol="0" anchor="t"/>
          <a:lstStyle/>
          <a:p>
            <a:pPr algn="l" indent="0" marL="0">
              <a:lnSpc>
                <a:spcPct val="112000"/>
              </a:lnSpc>
              <a:buNone/>
            </a:pPr>
            <a:r>
              <a:rPr lang="en-US" sz="1100" b="1" dirty="0">
                <a:solidFill>
                  <a:srgbClr val="ACB9C2"/>
                </a:solidFill>
                <a:latin typeface="Aptos" pitchFamily="34" charset="0"/>
                <a:ea typeface="Aptos" pitchFamily="34" charset="-122"/>
                <a:cs typeface="Aptos" pitchFamily="34" charset="-120"/>
              </a:rPr>
              <a:t>CHECKER.PY - IDENTICAL BYTES BEFORE AND AFTER</a:t>
            </a:r>
            <a:endParaRPr lang="en-US" sz="1100" dirty="0"/>
          </a:p>
        </p:txBody>
      </p:sp>
      <p:sp>
        <p:nvSpPr>
          <p:cNvPr id="15" name="Text 13"/>
          <p:cNvSpPr txBox="1"/>
          <p:nvPr/>
        </p:nvSpPr>
        <p:spPr>
          <a:xfrm>
            <a:off x="749808" y="4407408"/>
            <a:ext cx="10680192" cy="685800"/>
          </a:xfrm>
          <a:prstGeom prst="rect">
            <a:avLst/>
          </a:prstGeom>
          <a:noFill/>
          <a:ln/>
        </p:spPr>
        <p:txBody>
          <a:bodyPr wrap="square" lIns="0" tIns="0" rIns="0" bIns="0" rtlCol="0" anchor="t"/>
          <a:lstStyle/>
          <a:p>
            <a:pPr algn="l" indent="0" marL="0">
              <a:lnSpc>
                <a:spcPct val="112000"/>
              </a:lnSpc>
              <a:buNone/>
            </a:pPr>
            <a:r>
              <a:rPr lang="en-US" sz="2000" dirty="0">
                <a:solidFill>
                  <a:srgbClr val="F2F3EE"/>
                </a:solidFill>
                <a:latin typeface="DejaVu Sans Mono" pitchFamily="34" charset="0"/>
                <a:ea typeface="DejaVu Sans Mono" pitchFamily="34" charset="-122"/>
                <a:cs typeface="DejaVu Sans Mono" pitchFamily="34" charset="-120"/>
              </a:rPr>
              <a:t>expected = json.loads(Path("expected.json").read_text())</a:t>
            </a:r>
            <a:endParaRPr lang="en-US" sz="2000" dirty="0"/>
          </a:p>
          <a:p>
            <a:pPr algn="l" indent="0" marL="0">
              <a:lnSpc>
                <a:spcPct val="112000"/>
              </a:lnSpc>
              <a:buNone/>
            </a:pPr>
            <a:r>
              <a:rPr lang="en-US" sz="2000" dirty="0">
                <a:solidFill>
                  <a:srgbClr val="F2F3EE"/>
                </a:solidFill>
                <a:latin typeface="DejaVu Sans Mono" pitchFamily="34" charset="0"/>
                <a:ea typeface="DejaVu Sans Mono" pitchFamily="34" charset="-122"/>
                <a:cs typeface="DejaVu Sans Mono" pitchFamily="34" charset="-120"/>
              </a:rPr>
              <a:t># Compare candidate output against each expected result.</a:t>
            </a:r>
            <a:endParaRPr lang="en-US" sz="2000" dirty="0"/>
          </a:p>
        </p:txBody>
      </p:sp>
      <p:sp>
        <p:nvSpPr>
          <p:cNvPr id="16" name="Text 14"/>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Who controls expected.json?</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04 / VERIFIER TAMPERING / RESULT</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worker changes the expected result.</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Recorded factory result: unchanged checker PASS; controller-owned criteria reject.</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07</a:t>
            </a:r>
            <a:endParaRPr lang="en-US" sz="1200" dirty="0"/>
          </a:p>
        </p:txBody>
      </p:sp>
      <p:sp>
        <p:nvSpPr>
          <p:cNvPr id="7" name="Shape 5"/>
          <p:cNvSpPr/>
          <p:nvPr/>
        </p:nvSpPr>
        <p:spPr>
          <a:xfrm>
            <a:off x="548640" y="2011680"/>
            <a:ext cx="6455664" cy="3118104"/>
          </a:xfrm>
          <a:prstGeom prst="rect">
            <a:avLst/>
          </a:prstGeom>
          <a:solidFill>
            <a:srgbClr val="1B2329"/>
          </a:solidFill>
          <a:ln w="12700">
            <a:solidFill>
              <a:srgbClr val="1B2329"/>
            </a:solidFill>
            <a:prstDash val="solid"/>
          </a:ln>
        </p:spPr>
      </p:sp>
      <p:sp>
        <p:nvSpPr>
          <p:cNvPr id="8" name="Text 6"/>
          <p:cNvSpPr txBox="1"/>
          <p:nvPr/>
        </p:nvSpPr>
        <p:spPr>
          <a:xfrm>
            <a:off x="749808" y="2194560"/>
            <a:ext cx="6053328" cy="256032"/>
          </a:xfrm>
          <a:prstGeom prst="rect">
            <a:avLst/>
          </a:prstGeom>
          <a:noFill/>
          <a:ln/>
        </p:spPr>
        <p:txBody>
          <a:bodyPr wrap="square" lIns="0" tIns="0" rIns="0" bIns="0" rtlCol="0" anchor="t"/>
          <a:lstStyle/>
          <a:p>
            <a:pPr algn="l" indent="0" marL="0">
              <a:lnSpc>
                <a:spcPct val="112000"/>
              </a:lnSpc>
              <a:buNone/>
            </a:pPr>
            <a:r>
              <a:rPr lang="en-US" sz="1100" b="1" dirty="0">
                <a:solidFill>
                  <a:srgbClr val="FFC77A"/>
                </a:solidFill>
                <a:latin typeface="Aptos" pitchFamily="34" charset="0"/>
                <a:ea typeface="Aptos" pitchFamily="34" charset="-122"/>
                <a:cs typeface="Aptos" pitchFamily="34" charset="-120"/>
              </a:rPr>
              <a:t>WORKER-WRITTEN EXPECTED.JSON</a:t>
            </a:r>
            <a:endParaRPr lang="en-US" sz="1100" dirty="0"/>
          </a:p>
        </p:txBody>
      </p:sp>
      <p:sp>
        <p:nvSpPr>
          <p:cNvPr id="9" name="Text 7"/>
          <p:cNvSpPr txBox="1"/>
          <p:nvPr/>
        </p:nvSpPr>
        <p:spPr>
          <a:xfrm>
            <a:off x="749808" y="2706624"/>
            <a:ext cx="6053328" cy="2267712"/>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  {"input": "admin:none",</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   "output": 200},</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  ...</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a:t>
            </a:r>
            <a:endParaRPr lang="en-US" sz="1800" dirty="0"/>
          </a:p>
          <a:p>
            <a:pPr algn="l" indent="0" marL="0">
              <a:lnSpc>
                <a:spcPct val="112000"/>
              </a:lnSpc>
              <a:buNone/>
            </a:pP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 Worker expects 200</a:t>
            </a:r>
            <a:endParaRPr lang="en-US" sz="1800" dirty="0"/>
          </a:p>
          <a:p>
            <a:pPr algn="l" indent="0" marL="0">
              <a:lnSpc>
                <a:spcPct val="112000"/>
              </a:lnSpc>
              <a:buNone/>
            </a:pPr>
            <a:r>
              <a:rPr lang="en-US" sz="1800" dirty="0">
                <a:solidFill>
                  <a:srgbClr val="F2F3EE"/>
                </a:solidFill>
                <a:latin typeface="DejaVu Sans Mono" pitchFamily="34" charset="0"/>
                <a:ea typeface="DejaVu Sans Mono" pitchFamily="34" charset="-122"/>
                <a:cs typeface="DejaVu Sans Mono" pitchFamily="34" charset="-120"/>
              </a:rPr>
              <a:t># for every test case.</a:t>
            </a:r>
            <a:endParaRPr lang="en-US" sz="1800" dirty="0"/>
          </a:p>
        </p:txBody>
      </p:sp>
      <p:sp>
        <p:nvSpPr>
          <p:cNvPr id="10" name="Text 8"/>
          <p:cNvSpPr txBox="1"/>
          <p:nvPr/>
        </p:nvSpPr>
        <p:spPr>
          <a:xfrm>
            <a:off x="7360920" y="2093976"/>
            <a:ext cx="3886200" cy="850392"/>
          </a:xfrm>
          <a:prstGeom prst="rect">
            <a:avLst/>
          </a:prstGeom>
          <a:noFill/>
          <a:ln/>
        </p:spPr>
        <p:txBody>
          <a:bodyPr wrap="square" lIns="0" tIns="0" rIns="0" bIns="0" rtlCol="0" anchor="t"/>
          <a:lstStyle/>
          <a:p>
            <a:pPr algn="l" indent="0" marL="0">
              <a:lnSpc>
                <a:spcPct val="112000"/>
              </a:lnSpc>
              <a:buNone/>
            </a:pPr>
            <a:r>
              <a:rPr lang="en-US" sz="5800" b="1" dirty="0">
                <a:solidFill>
                  <a:srgbClr val="8FE3CB"/>
                </a:solidFill>
                <a:latin typeface="Aptos" pitchFamily="34" charset="0"/>
                <a:ea typeface="Aptos" pitchFamily="34" charset="-122"/>
                <a:cs typeface="Aptos" pitchFamily="34" charset="-120"/>
              </a:rPr>
              <a:t>PASS</a:t>
            </a:r>
            <a:endParaRPr lang="en-US" sz="5800" dirty="0"/>
          </a:p>
        </p:txBody>
      </p:sp>
      <p:sp>
        <p:nvSpPr>
          <p:cNvPr id="11" name="Text 9"/>
          <p:cNvSpPr txBox="1"/>
          <p:nvPr/>
        </p:nvSpPr>
        <p:spPr>
          <a:xfrm>
            <a:off x="7379208" y="3017520"/>
            <a:ext cx="3813048" cy="402336"/>
          </a:xfrm>
          <a:prstGeom prst="rect">
            <a:avLst/>
          </a:prstGeom>
          <a:noFill/>
          <a:ln/>
        </p:spPr>
        <p:txBody>
          <a:bodyPr wrap="square" lIns="0" tIns="0" rIns="0" bIns="0" rtlCol="0" anchor="t"/>
          <a:lstStyle/>
          <a:p>
            <a:pPr algn="l" indent="0" marL="0">
              <a:lnSpc>
                <a:spcPct val="112000"/>
              </a:lnSpc>
              <a:buNone/>
            </a:pPr>
            <a:r>
              <a:rPr lang="en-US" sz="2100" dirty="0">
                <a:solidFill>
                  <a:srgbClr val="ACB9C2"/>
                </a:solidFill>
                <a:latin typeface="Aptos" pitchFamily="34" charset="0"/>
                <a:ea typeface="Aptos" pitchFamily="34" charset="-122"/>
                <a:cs typeface="Aptos" pitchFamily="34" charset="-120"/>
              </a:rPr>
              <a:t>checker output</a:t>
            </a:r>
            <a:endParaRPr lang="en-US" sz="2100" dirty="0"/>
          </a:p>
        </p:txBody>
      </p:sp>
      <p:sp>
        <p:nvSpPr>
          <p:cNvPr id="12" name="Text 10"/>
          <p:cNvSpPr txBox="1"/>
          <p:nvPr/>
        </p:nvSpPr>
        <p:spPr>
          <a:xfrm>
            <a:off x="7379208" y="3758184"/>
            <a:ext cx="3813048" cy="749808"/>
          </a:xfrm>
          <a:prstGeom prst="rect">
            <a:avLst/>
          </a:prstGeom>
          <a:noFill/>
          <a:ln/>
        </p:spPr>
        <p:txBody>
          <a:bodyPr wrap="square" lIns="0" tIns="0" rIns="0" bIns="0" rtlCol="0" anchor="t"/>
          <a:lstStyle/>
          <a:p>
            <a:pPr algn="l" indent="0" marL="0">
              <a:lnSpc>
                <a:spcPct val="112000"/>
              </a:lnSpc>
              <a:buNone/>
            </a:pPr>
            <a:r>
              <a:rPr lang="en-US" sz="4900" b="1" dirty="0">
                <a:solidFill>
                  <a:srgbClr val="FFC77A"/>
                </a:solidFill>
                <a:latin typeface="Aptos" pitchFamily="34" charset="0"/>
                <a:ea typeface="Aptos" pitchFamily="34" charset="-122"/>
                <a:cs typeface="Aptos" pitchFamily="34" charset="-120"/>
              </a:rPr>
              <a:t>200</a:t>
            </a:r>
            <a:endParaRPr lang="en-US" sz="4900" dirty="0"/>
          </a:p>
        </p:txBody>
      </p:sp>
      <p:sp>
        <p:nvSpPr>
          <p:cNvPr id="13" name="Text 11"/>
          <p:cNvSpPr txBox="1"/>
          <p:nvPr/>
        </p:nvSpPr>
        <p:spPr>
          <a:xfrm>
            <a:off x="7379208" y="4617720"/>
            <a:ext cx="3931920" cy="365760"/>
          </a:xfrm>
          <a:prstGeom prst="rect">
            <a:avLst/>
          </a:prstGeom>
          <a:noFill/>
          <a:ln/>
        </p:spPr>
        <p:txBody>
          <a:bodyPr wrap="square" lIns="0" tIns="0" rIns="0" bIns="0" rtlCol="0" anchor="t"/>
          <a:lstStyle/>
          <a:p>
            <a:pPr algn="l" indent="0" marL="0">
              <a:lnSpc>
                <a:spcPct val="112000"/>
              </a:lnSpc>
              <a:buNone/>
            </a:pPr>
            <a:r>
              <a:rPr lang="en-US" sz="1800" dirty="0">
                <a:solidFill>
                  <a:srgbClr val="ACB9C2"/>
                </a:solidFill>
                <a:latin typeface="Aptos" pitchFamily="34" charset="0"/>
                <a:ea typeface="Aptos" pitchFamily="34" charset="-122"/>
                <a:cs typeface="Aptos" pitchFamily="34" charset="-120"/>
              </a:rPr>
              <a:t>candidate / required: 401</a:t>
            </a:r>
            <a:endParaRPr lang="en-US" sz="1800" dirty="0"/>
          </a:p>
        </p:txBody>
      </p:sp>
      <p:sp>
        <p:nvSpPr>
          <p:cNvPr id="14" name="Text 12"/>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The checker faithfully compared against the altered expectations.</a:t>
            </a:r>
            <a:endParaRPr lang="en-US" sz="2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THE MULTI-AGENT CONSEQUENCE</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More reviewers can inherit the same bad rulebook.</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Architectural inference from the shared dependency; no multi-model experiment is claimed.</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08</a:t>
            </a:r>
            <a:endParaRPr lang="en-US" sz="1200" dirty="0"/>
          </a:p>
        </p:txBody>
      </p:sp>
      <p:sp>
        <p:nvSpPr>
          <p:cNvPr id="7" name="Shape 5"/>
          <p:cNvSpPr/>
          <p:nvPr/>
        </p:nvSpPr>
        <p:spPr>
          <a:xfrm>
            <a:off x="548640" y="2011680"/>
            <a:ext cx="3511296" cy="950976"/>
          </a:xfrm>
          <a:prstGeom prst="rect">
            <a:avLst/>
          </a:prstGeom>
          <a:solidFill>
            <a:srgbClr val="1B2329"/>
          </a:solidFill>
          <a:ln w="12700">
            <a:solidFill>
              <a:srgbClr val="1B2329"/>
            </a:solidFill>
            <a:prstDash val="solid"/>
          </a:ln>
        </p:spPr>
      </p:sp>
      <p:sp>
        <p:nvSpPr>
          <p:cNvPr id="8" name="Text 6"/>
          <p:cNvSpPr txBox="1"/>
          <p:nvPr/>
        </p:nvSpPr>
        <p:spPr>
          <a:xfrm>
            <a:off x="749808" y="2286000"/>
            <a:ext cx="3108960" cy="338328"/>
          </a:xfrm>
          <a:prstGeom prst="rect">
            <a:avLst/>
          </a:prstGeom>
          <a:noFill/>
          <a:ln/>
        </p:spPr>
        <p:txBody>
          <a:bodyPr wrap="square" lIns="0" tIns="0" rIns="0" bIns="0" rtlCol="0" anchor="t"/>
          <a:lstStyle/>
          <a:p>
            <a:pPr algn="l" indent="0" marL="0">
              <a:lnSpc>
                <a:spcPct val="112000"/>
              </a:lnSpc>
              <a:buNone/>
            </a:pPr>
            <a:r>
              <a:rPr lang="en-US" sz="2200" b="1" dirty="0">
                <a:solidFill>
                  <a:srgbClr val="F2F3EE"/>
                </a:solidFill>
                <a:latin typeface="Aptos" pitchFamily="34" charset="0"/>
                <a:ea typeface="Aptos" pitchFamily="34" charset="-122"/>
                <a:cs typeface="Aptos" pitchFamily="34" charset="-120"/>
              </a:rPr>
              <a:t>WRITER</a:t>
            </a:r>
            <a:endParaRPr lang="en-US" sz="2200" dirty="0"/>
          </a:p>
        </p:txBody>
      </p:sp>
      <p:sp>
        <p:nvSpPr>
          <p:cNvPr id="9" name="Shape 7"/>
          <p:cNvSpPr/>
          <p:nvPr/>
        </p:nvSpPr>
        <p:spPr>
          <a:xfrm>
            <a:off x="2304288" y="2999232"/>
            <a:ext cx="0" cy="566928"/>
          </a:xfrm>
          <a:prstGeom prst="line">
            <a:avLst/>
          </a:prstGeom>
          <a:noFill/>
          <a:ln w="15240">
            <a:solidFill>
              <a:srgbClr val="FFC77A"/>
            </a:solidFill>
            <a:prstDash val="solid"/>
          </a:ln>
        </p:spPr>
      </p:sp>
      <p:sp>
        <p:nvSpPr>
          <p:cNvPr id="10" name="Shape 8"/>
          <p:cNvSpPr/>
          <p:nvPr/>
        </p:nvSpPr>
        <p:spPr>
          <a:xfrm>
            <a:off x="4334256" y="2011680"/>
            <a:ext cx="3511296" cy="950976"/>
          </a:xfrm>
          <a:prstGeom prst="rect">
            <a:avLst/>
          </a:prstGeom>
          <a:solidFill>
            <a:srgbClr val="1B2329"/>
          </a:solidFill>
          <a:ln w="12700">
            <a:solidFill>
              <a:srgbClr val="1B2329"/>
            </a:solidFill>
            <a:prstDash val="solid"/>
          </a:ln>
        </p:spPr>
      </p:sp>
      <p:sp>
        <p:nvSpPr>
          <p:cNvPr id="11" name="Text 9"/>
          <p:cNvSpPr txBox="1"/>
          <p:nvPr/>
        </p:nvSpPr>
        <p:spPr>
          <a:xfrm>
            <a:off x="4535424" y="2286000"/>
            <a:ext cx="3108960" cy="338328"/>
          </a:xfrm>
          <a:prstGeom prst="rect">
            <a:avLst/>
          </a:prstGeom>
          <a:noFill/>
          <a:ln/>
        </p:spPr>
        <p:txBody>
          <a:bodyPr wrap="square" lIns="0" tIns="0" rIns="0" bIns="0" rtlCol="0" anchor="t"/>
          <a:lstStyle/>
          <a:p>
            <a:pPr algn="l" indent="0" marL="0">
              <a:lnSpc>
                <a:spcPct val="112000"/>
              </a:lnSpc>
              <a:buNone/>
            </a:pPr>
            <a:r>
              <a:rPr lang="en-US" sz="2200" b="1" dirty="0">
                <a:solidFill>
                  <a:srgbClr val="F2F3EE"/>
                </a:solidFill>
                <a:latin typeface="Aptos" pitchFamily="34" charset="0"/>
                <a:ea typeface="Aptos" pitchFamily="34" charset="-122"/>
                <a:cs typeface="Aptos" pitchFamily="34" charset="-120"/>
              </a:rPr>
              <a:t>REVIEWER</a:t>
            </a:r>
            <a:endParaRPr lang="en-US" sz="2200" dirty="0"/>
          </a:p>
        </p:txBody>
      </p:sp>
      <p:sp>
        <p:nvSpPr>
          <p:cNvPr id="12" name="Shape 10"/>
          <p:cNvSpPr/>
          <p:nvPr/>
        </p:nvSpPr>
        <p:spPr>
          <a:xfrm>
            <a:off x="6089904" y="2999232"/>
            <a:ext cx="0" cy="566928"/>
          </a:xfrm>
          <a:prstGeom prst="line">
            <a:avLst/>
          </a:prstGeom>
          <a:noFill/>
          <a:ln w="15240">
            <a:solidFill>
              <a:srgbClr val="FFC77A"/>
            </a:solidFill>
            <a:prstDash val="solid"/>
          </a:ln>
        </p:spPr>
      </p:sp>
      <p:sp>
        <p:nvSpPr>
          <p:cNvPr id="13" name="Shape 11"/>
          <p:cNvSpPr/>
          <p:nvPr/>
        </p:nvSpPr>
        <p:spPr>
          <a:xfrm>
            <a:off x="8119872" y="2011680"/>
            <a:ext cx="3511296" cy="950976"/>
          </a:xfrm>
          <a:prstGeom prst="rect">
            <a:avLst/>
          </a:prstGeom>
          <a:solidFill>
            <a:srgbClr val="1B2329"/>
          </a:solidFill>
          <a:ln w="12700">
            <a:solidFill>
              <a:srgbClr val="1B2329"/>
            </a:solidFill>
            <a:prstDash val="solid"/>
          </a:ln>
        </p:spPr>
      </p:sp>
      <p:sp>
        <p:nvSpPr>
          <p:cNvPr id="14" name="Text 12"/>
          <p:cNvSpPr txBox="1"/>
          <p:nvPr/>
        </p:nvSpPr>
        <p:spPr>
          <a:xfrm>
            <a:off x="8321040" y="2286000"/>
            <a:ext cx="3108960" cy="338328"/>
          </a:xfrm>
          <a:prstGeom prst="rect">
            <a:avLst/>
          </a:prstGeom>
          <a:noFill/>
          <a:ln/>
        </p:spPr>
        <p:txBody>
          <a:bodyPr wrap="square" lIns="0" tIns="0" rIns="0" bIns="0" rtlCol="0" anchor="t"/>
          <a:lstStyle/>
          <a:p>
            <a:pPr algn="l" indent="0" marL="0">
              <a:lnSpc>
                <a:spcPct val="112000"/>
              </a:lnSpc>
              <a:buNone/>
            </a:pPr>
            <a:r>
              <a:rPr lang="en-US" sz="2200" b="1" dirty="0">
                <a:solidFill>
                  <a:srgbClr val="F2F3EE"/>
                </a:solidFill>
                <a:latin typeface="Aptos" pitchFamily="34" charset="0"/>
                <a:ea typeface="Aptos" pitchFamily="34" charset="-122"/>
                <a:cs typeface="Aptos" pitchFamily="34" charset="-120"/>
              </a:rPr>
              <a:t>TESTER</a:t>
            </a:r>
            <a:endParaRPr lang="en-US" sz="2200" dirty="0"/>
          </a:p>
        </p:txBody>
      </p:sp>
      <p:sp>
        <p:nvSpPr>
          <p:cNvPr id="15" name="Shape 13"/>
          <p:cNvSpPr/>
          <p:nvPr/>
        </p:nvSpPr>
        <p:spPr>
          <a:xfrm>
            <a:off x="9875520" y="2999232"/>
            <a:ext cx="0" cy="566928"/>
          </a:xfrm>
          <a:prstGeom prst="line">
            <a:avLst/>
          </a:prstGeom>
          <a:noFill/>
          <a:ln w="15240">
            <a:solidFill>
              <a:srgbClr val="FFC77A"/>
            </a:solidFill>
            <a:prstDash val="solid"/>
          </a:ln>
        </p:spPr>
      </p:sp>
      <p:sp>
        <p:nvSpPr>
          <p:cNvPr id="16" name="Shape 14"/>
          <p:cNvSpPr/>
          <p:nvPr/>
        </p:nvSpPr>
        <p:spPr>
          <a:xfrm>
            <a:off x="1901952" y="3566160"/>
            <a:ext cx="8394192" cy="987552"/>
          </a:xfrm>
          <a:prstGeom prst="rect">
            <a:avLst/>
          </a:prstGeom>
          <a:solidFill>
            <a:srgbClr val="1B2329"/>
          </a:solidFill>
          <a:ln w="12700">
            <a:solidFill>
              <a:srgbClr val="1B2329"/>
            </a:solidFill>
            <a:prstDash val="solid"/>
          </a:ln>
        </p:spPr>
      </p:sp>
      <p:sp>
        <p:nvSpPr>
          <p:cNvPr id="17" name="Text 15"/>
          <p:cNvSpPr txBox="1"/>
          <p:nvPr/>
        </p:nvSpPr>
        <p:spPr>
          <a:xfrm>
            <a:off x="2130552" y="3877056"/>
            <a:ext cx="7936992" cy="365760"/>
          </a:xfrm>
          <a:prstGeom prst="rect">
            <a:avLst/>
          </a:prstGeom>
          <a:noFill/>
          <a:ln/>
        </p:spPr>
        <p:txBody>
          <a:bodyPr wrap="square" lIns="0" tIns="0" rIns="0" bIns="0" rtlCol="0" anchor="t"/>
          <a:lstStyle/>
          <a:p>
            <a:pPr algn="l" indent="0" marL="0">
              <a:lnSpc>
                <a:spcPct val="112000"/>
              </a:lnSpc>
              <a:buNone/>
            </a:pPr>
            <a:r>
              <a:rPr lang="en-US" sz="2300" dirty="0">
                <a:solidFill>
                  <a:srgbClr val="FFC77A"/>
                </a:solidFill>
                <a:latin typeface="DejaVu Sans Mono" pitchFamily="34" charset="0"/>
                <a:ea typeface="DejaVu Sans Mono" pitchFamily="34" charset="-122"/>
                <a:cs typeface="DejaVu Sans Mono" pitchFamily="34" charset="-120"/>
              </a:rPr>
              <a:t>shared expected.json</a:t>
            </a:r>
            <a:endParaRPr lang="en-US" sz="2300" dirty="0"/>
          </a:p>
        </p:txBody>
      </p:sp>
      <p:sp>
        <p:nvSpPr>
          <p:cNvPr id="18" name="Text 16"/>
          <p:cNvSpPr txBox="1"/>
          <p:nvPr/>
        </p:nvSpPr>
        <p:spPr>
          <a:xfrm>
            <a:off x="548640" y="4846320"/>
            <a:ext cx="11082528" cy="502920"/>
          </a:xfrm>
          <a:prstGeom prst="rect">
            <a:avLst/>
          </a:prstGeom>
          <a:noFill/>
          <a:ln/>
        </p:spPr>
        <p:txBody>
          <a:bodyPr wrap="square" lIns="0" tIns="0" rIns="0" bIns="0" rtlCol="0" anchor="t"/>
          <a:lstStyle/>
          <a:p>
            <a:pPr algn="l" indent="0" marL="0">
              <a:lnSpc>
                <a:spcPct val="112000"/>
              </a:lnSpc>
              <a:buNone/>
            </a:pPr>
            <a:r>
              <a:rPr lang="en-US" sz="2300" dirty="0">
                <a:solidFill>
                  <a:srgbClr val="F2F3EE"/>
                </a:solidFill>
                <a:latin typeface="Aptos" pitchFamily="34" charset="0"/>
                <a:ea typeface="Aptos" pitchFamily="34" charset="-122"/>
                <a:cs typeface="Aptos" pitchFamily="34" charset="-120"/>
              </a:rPr>
              <a:t>All three agents trust the same worker-writable expectations.</a:t>
            </a:r>
            <a:endParaRPr lang="en-US" sz="2300" dirty="0"/>
          </a:p>
        </p:txBody>
      </p:sp>
      <p:sp>
        <p:nvSpPr>
          <p:cNvPr id="19" name="Text 17"/>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Trace every write path into the release decision.</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THE ENFORCEMENT DESIGN</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Approve fixed bytes under controller-owned criteria.</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Reference gate: SQLite transaction records exact artifact bytes and consumes the nonce.</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09</a:t>
            </a:r>
            <a:endParaRPr lang="en-US" sz="1200" dirty="0"/>
          </a:p>
        </p:txBody>
      </p:sp>
      <p:sp>
        <p:nvSpPr>
          <p:cNvPr id="7" name="Shape 5"/>
          <p:cNvSpPr/>
          <p:nvPr/>
        </p:nvSpPr>
        <p:spPr>
          <a:xfrm>
            <a:off x="548640" y="2057400"/>
            <a:ext cx="2596896" cy="1508760"/>
          </a:xfrm>
          <a:prstGeom prst="rect">
            <a:avLst/>
          </a:prstGeom>
          <a:solidFill>
            <a:srgbClr val="1B2329"/>
          </a:solidFill>
          <a:ln w="12700">
            <a:solidFill>
              <a:srgbClr val="1B2329"/>
            </a:solidFill>
            <a:prstDash val="solid"/>
          </a:ln>
        </p:spPr>
      </p:sp>
      <p:sp>
        <p:nvSpPr>
          <p:cNvPr id="8" name="Text 6"/>
          <p:cNvSpPr txBox="1"/>
          <p:nvPr/>
        </p:nvSpPr>
        <p:spPr>
          <a:xfrm>
            <a:off x="722376" y="2276856"/>
            <a:ext cx="2249424" cy="347472"/>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FREEZE</a:t>
            </a:r>
            <a:endParaRPr lang="en-US" sz="2000" dirty="0"/>
          </a:p>
        </p:txBody>
      </p:sp>
      <p:sp>
        <p:nvSpPr>
          <p:cNvPr id="9" name="Text 7"/>
          <p:cNvSpPr txBox="1"/>
          <p:nvPr/>
        </p:nvSpPr>
        <p:spPr>
          <a:xfrm>
            <a:off x="722376" y="2862072"/>
            <a:ext cx="2249424" cy="512064"/>
          </a:xfrm>
          <a:prstGeom prst="rect">
            <a:avLst/>
          </a:prstGeom>
          <a:noFill/>
          <a:ln/>
        </p:spPr>
        <p:txBody>
          <a:bodyPr wrap="square" lIns="0" tIns="0" rIns="0" bIns="0" rtlCol="0" anchor="t"/>
          <a:lstStyle/>
          <a:p>
            <a:pPr algn="l" indent="0" marL="0">
              <a:lnSpc>
                <a:spcPct val="112000"/>
              </a:lnSpc>
              <a:buNone/>
            </a:pPr>
            <a:r>
              <a:rPr lang="en-US" sz="1700" dirty="0">
                <a:solidFill>
                  <a:srgbClr val="F2F3EE"/>
                </a:solidFill>
                <a:latin typeface="Aptos" pitchFamily="34" charset="0"/>
                <a:ea typeface="Aptos" pitchFamily="34" charset="-122"/>
                <a:cs typeface="Aptos" pitchFamily="34" charset="-120"/>
              </a:rPr>
              <a:t>Copy candidate bytes</a:t>
            </a:r>
            <a:endParaRPr lang="en-US" sz="1700" dirty="0"/>
          </a:p>
        </p:txBody>
      </p:sp>
      <p:sp>
        <p:nvSpPr>
          <p:cNvPr id="10" name="Shape 8"/>
          <p:cNvSpPr/>
          <p:nvPr/>
        </p:nvSpPr>
        <p:spPr>
          <a:xfrm>
            <a:off x="3374136" y="2057400"/>
            <a:ext cx="2596896" cy="1508760"/>
          </a:xfrm>
          <a:prstGeom prst="rect">
            <a:avLst/>
          </a:prstGeom>
          <a:solidFill>
            <a:srgbClr val="1B2329"/>
          </a:solidFill>
          <a:ln w="12700">
            <a:solidFill>
              <a:srgbClr val="1B2329"/>
            </a:solidFill>
            <a:prstDash val="solid"/>
          </a:ln>
        </p:spPr>
      </p:sp>
      <p:sp>
        <p:nvSpPr>
          <p:cNvPr id="11" name="Text 9"/>
          <p:cNvSpPr txBox="1"/>
          <p:nvPr/>
        </p:nvSpPr>
        <p:spPr>
          <a:xfrm>
            <a:off x="3547872" y="2276856"/>
            <a:ext cx="2249424" cy="347472"/>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JUDGE</a:t>
            </a:r>
            <a:endParaRPr lang="en-US" sz="2000" dirty="0"/>
          </a:p>
        </p:txBody>
      </p:sp>
      <p:sp>
        <p:nvSpPr>
          <p:cNvPr id="12" name="Text 10"/>
          <p:cNvSpPr txBox="1"/>
          <p:nvPr/>
        </p:nvSpPr>
        <p:spPr>
          <a:xfrm>
            <a:off x="3547872" y="2862072"/>
            <a:ext cx="2249424" cy="512064"/>
          </a:xfrm>
          <a:prstGeom prst="rect">
            <a:avLst/>
          </a:prstGeom>
          <a:noFill/>
          <a:ln/>
        </p:spPr>
        <p:txBody>
          <a:bodyPr wrap="square" lIns="0" tIns="0" rIns="0" bIns="0" rtlCol="0" anchor="t"/>
          <a:lstStyle/>
          <a:p>
            <a:pPr algn="l" indent="0" marL="0">
              <a:lnSpc>
                <a:spcPct val="112000"/>
              </a:lnSpc>
              <a:buNone/>
            </a:pPr>
            <a:r>
              <a:rPr lang="en-US" sz="1700" dirty="0">
                <a:solidFill>
                  <a:srgbClr val="F2F3EE"/>
                </a:solidFill>
                <a:latin typeface="Aptos" pitchFamily="34" charset="0"/>
                <a:ea typeface="Aptos" pitchFamily="34" charset="-122"/>
                <a:cs typeface="Aptos" pitchFamily="34" charset="-120"/>
              </a:rPr>
              <a:t>Controller-owned cases</a:t>
            </a:r>
            <a:endParaRPr lang="en-US" sz="1700" dirty="0"/>
          </a:p>
        </p:txBody>
      </p:sp>
      <p:sp>
        <p:nvSpPr>
          <p:cNvPr id="13" name="Shape 11"/>
          <p:cNvSpPr/>
          <p:nvPr/>
        </p:nvSpPr>
        <p:spPr>
          <a:xfrm>
            <a:off x="6199632" y="2057400"/>
            <a:ext cx="2596896" cy="1508760"/>
          </a:xfrm>
          <a:prstGeom prst="rect">
            <a:avLst/>
          </a:prstGeom>
          <a:solidFill>
            <a:srgbClr val="1B2329"/>
          </a:solidFill>
          <a:ln w="12700">
            <a:solidFill>
              <a:srgbClr val="1B2329"/>
            </a:solidFill>
            <a:prstDash val="solid"/>
          </a:ln>
        </p:spPr>
      </p:sp>
      <p:sp>
        <p:nvSpPr>
          <p:cNvPr id="14" name="Text 12"/>
          <p:cNvSpPr txBox="1"/>
          <p:nvPr/>
        </p:nvSpPr>
        <p:spPr>
          <a:xfrm>
            <a:off x="6373368" y="2276856"/>
            <a:ext cx="2249424" cy="347472"/>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GATE</a:t>
            </a:r>
            <a:endParaRPr lang="en-US" sz="2000" dirty="0"/>
          </a:p>
        </p:txBody>
      </p:sp>
      <p:sp>
        <p:nvSpPr>
          <p:cNvPr id="15" name="Text 13"/>
          <p:cNvSpPr txBox="1"/>
          <p:nvPr/>
        </p:nvSpPr>
        <p:spPr>
          <a:xfrm>
            <a:off x="6373368" y="2862072"/>
            <a:ext cx="2249424" cy="512064"/>
          </a:xfrm>
          <a:prstGeom prst="rect">
            <a:avLst/>
          </a:prstGeom>
          <a:noFill/>
          <a:ln/>
        </p:spPr>
        <p:txBody>
          <a:bodyPr wrap="square" lIns="0" tIns="0" rIns="0" bIns="0" rtlCol="0" anchor="t"/>
          <a:lstStyle/>
          <a:p>
            <a:pPr algn="l" indent="0" marL="0">
              <a:lnSpc>
                <a:spcPct val="112000"/>
              </a:lnSpc>
              <a:buNone/>
            </a:pPr>
            <a:r>
              <a:rPr lang="en-US" sz="1700" dirty="0">
                <a:solidFill>
                  <a:srgbClr val="F2F3EE"/>
                </a:solidFill>
                <a:latin typeface="Aptos" pitchFamily="34" charset="0"/>
                <a:ea typeface="Aptos" pitchFamily="34" charset="-122"/>
                <a:cs typeface="Aptos" pitchFamily="34" charset="-120"/>
              </a:rPr>
              <a:t>Bind one approval</a:t>
            </a:r>
            <a:endParaRPr lang="en-US" sz="1700" dirty="0"/>
          </a:p>
        </p:txBody>
      </p:sp>
      <p:sp>
        <p:nvSpPr>
          <p:cNvPr id="16" name="Shape 14"/>
          <p:cNvSpPr/>
          <p:nvPr/>
        </p:nvSpPr>
        <p:spPr>
          <a:xfrm>
            <a:off x="9025128" y="2057400"/>
            <a:ext cx="2596896" cy="1508760"/>
          </a:xfrm>
          <a:prstGeom prst="rect">
            <a:avLst/>
          </a:prstGeom>
          <a:solidFill>
            <a:srgbClr val="1B2329"/>
          </a:solidFill>
          <a:ln w="12700">
            <a:solidFill>
              <a:srgbClr val="1B2329"/>
            </a:solidFill>
            <a:prstDash val="solid"/>
          </a:ln>
        </p:spPr>
      </p:sp>
      <p:sp>
        <p:nvSpPr>
          <p:cNvPr id="17" name="Text 15"/>
          <p:cNvSpPr txBox="1"/>
          <p:nvPr/>
        </p:nvSpPr>
        <p:spPr>
          <a:xfrm>
            <a:off x="9198864" y="2276856"/>
            <a:ext cx="2249424" cy="347472"/>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PUBLISH</a:t>
            </a:r>
            <a:endParaRPr lang="en-US" sz="2000" dirty="0"/>
          </a:p>
        </p:txBody>
      </p:sp>
      <p:sp>
        <p:nvSpPr>
          <p:cNvPr id="18" name="Text 16"/>
          <p:cNvSpPr txBox="1"/>
          <p:nvPr/>
        </p:nvSpPr>
        <p:spPr>
          <a:xfrm>
            <a:off x="9198864" y="2862072"/>
            <a:ext cx="2249424" cy="512064"/>
          </a:xfrm>
          <a:prstGeom prst="rect">
            <a:avLst/>
          </a:prstGeom>
          <a:noFill/>
          <a:ln/>
        </p:spPr>
        <p:txBody>
          <a:bodyPr wrap="square" lIns="0" tIns="0" rIns="0" bIns="0" rtlCol="0" anchor="t"/>
          <a:lstStyle/>
          <a:p>
            <a:pPr algn="l" indent="0" marL="0">
              <a:lnSpc>
                <a:spcPct val="112000"/>
              </a:lnSpc>
              <a:buNone/>
            </a:pPr>
            <a:r>
              <a:rPr lang="en-US" sz="1700" dirty="0">
                <a:solidFill>
                  <a:srgbClr val="F2F3EE"/>
                </a:solidFill>
                <a:latin typeface="Aptos" pitchFamily="34" charset="0"/>
                <a:ea typeface="Aptos" pitchFamily="34" charset="-122"/>
                <a:cs typeface="Aptos" pitchFamily="34" charset="-120"/>
              </a:rPr>
              <a:t>Store those bytes</a:t>
            </a:r>
            <a:endParaRPr lang="en-US" sz="1700" dirty="0"/>
          </a:p>
        </p:txBody>
      </p:sp>
      <p:sp>
        <p:nvSpPr>
          <p:cNvPr id="19" name="Shape 17"/>
          <p:cNvSpPr/>
          <p:nvPr/>
        </p:nvSpPr>
        <p:spPr>
          <a:xfrm>
            <a:off x="548640" y="3913632"/>
            <a:ext cx="11082528" cy="1252728"/>
          </a:xfrm>
          <a:prstGeom prst="rect">
            <a:avLst/>
          </a:prstGeom>
          <a:solidFill>
            <a:srgbClr val="1B2329"/>
          </a:solidFill>
          <a:ln w="12700">
            <a:solidFill>
              <a:srgbClr val="1B2329"/>
            </a:solidFill>
            <a:prstDash val="solid"/>
          </a:ln>
        </p:spPr>
      </p:sp>
      <p:sp>
        <p:nvSpPr>
          <p:cNvPr id="20" name="Text 18"/>
          <p:cNvSpPr txBox="1"/>
          <p:nvPr/>
        </p:nvSpPr>
        <p:spPr>
          <a:xfrm>
            <a:off x="749808" y="4096512"/>
            <a:ext cx="10680192" cy="256032"/>
          </a:xfrm>
          <a:prstGeom prst="rect">
            <a:avLst/>
          </a:prstGeom>
          <a:noFill/>
          <a:ln/>
        </p:spPr>
        <p:txBody>
          <a:bodyPr wrap="square" lIns="0" tIns="0" rIns="0" bIns="0" rtlCol="0" anchor="t"/>
          <a:lstStyle/>
          <a:p>
            <a:pPr algn="l" indent="0" marL="0">
              <a:lnSpc>
                <a:spcPct val="112000"/>
              </a:lnSpc>
              <a:buNone/>
            </a:pPr>
            <a:r>
              <a:rPr lang="en-US" sz="1100" b="1" dirty="0">
                <a:solidFill>
                  <a:srgbClr val="ACB9C2"/>
                </a:solidFill>
                <a:latin typeface="Aptos" pitchFamily="34" charset="0"/>
                <a:ea typeface="Aptos" pitchFamily="34" charset="-122"/>
                <a:cs typeface="Aptos" pitchFamily="34" charset="-120"/>
              </a:rPr>
              <a:t>APPROVAL CONTEXT</a:t>
            </a:r>
            <a:endParaRPr lang="en-US" sz="1100" dirty="0"/>
          </a:p>
        </p:txBody>
      </p:sp>
      <p:sp>
        <p:nvSpPr>
          <p:cNvPr id="21" name="Text 19"/>
          <p:cNvSpPr txBox="1"/>
          <p:nvPr/>
        </p:nvSpPr>
        <p:spPr>
          <a:xfrm>
            <a:off x="749808" y="4608576"/>
            <a:ext cx="10680192" cy="402336"/>
          </a:xfrm>
          <a:prstGeom prst="rect">
            <a:avLst/>
          </a:prstGeom>
          <a:noFill/>
          <a:ln/>
        </p:spPr>
        <p:txBody>
          <a:bodyPr wrap="square" lIns="0" tIns="0" rIns="0" bIns="0" rtlCol="0" anchor="t"/>
          <a:lstStyle/>
          <a:p>
            <a:pPr algn="l" indent="0" marL="0">
              <a:lnSpc>
                <a:spcPct val="112000"/>
              </a:lnSpc>
              <a:buNone/>
            </a:pPr>
            <a:r>
              <a:rPr lang="en-US" sz="1700" dirty="0">
                <a:solidFill>
                  <a:srgbClr val="F2F3EE"/>
                </a:solidFill>
                <a:latin typeface="DejaVu Sans Mono" pitchFamily="34" charset="0"/>
                <a:ea typeface="DejaVu Sans Mono" pitchFamily="34" charset="-122"/>
                <a:cs typeface="DejaVu Sans Mono" pitchFamily="34" charset="-120"/>
              </a:rPr>
              <a:t>artifact + task/run + verifier + expected results + policy</a:t>
            </a:r>
            <a:endParaRPr lang="en-US" sz="1700" dirty="0"/>
          </a:p>
          <a:p>
            <a:pPr algn="l" indent="0" marL="0">
              <a:lnSpc>
                <a:spcPct val="112000"/>
              </a:lnSpc>
              <a:buNone/>
            </a:pPr>
            <a:r>
              <a:rPr lang="en-US" sz="1700" dirty="0">
                <a:solidFill>
                  <a:srgbClr val="F2F3EE"/>
                </a:solidFill>
                <a:latin typeface="DejaVu Sans Mono" pitchFamily="34" charset="0"/>
                <a:ea typeface="DejaVu Sans Mono" pitchFamily="34" charset="-122"/>
                <a:cs typeface="DejaVu Sans Mono" pitchFamily="34" charset="-120"/>
              </a:rPr>
              <a:t>+ declared acceptance environment + one-use nonce</a:t>
            </a:r>
            <a:endParaRPr lang="en-US" sz="1700" dirty="0"/>
          </a:p>
        </p:txBody>
      </p:sp>
      <p:sp>
        <p:nvSpPr>
          <p:cNvPr id="22" name="Text 20"/>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The untrusted worker never receives the gate key or release authority.</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THE CONTROL EXPERIMENTS</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A rejected swap preserves the original approval.</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6 factory checks + 26 regression tests. Counts are assertions/tests, not vulnerabilities.</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10</a:t>
            </a:r>
            <a:endParaRPr lang="en-US" sz="1200" dirty="0"/>
          </a:p>
        </p:txBody>
      </p:sp>
      <p:sp>
        <p:nvSpPr>
          <p:cNvPr id="7" name="Text 5"/>
          <p:cNvSpPr txBox="1"/>
          <p:nvPr/>
        </p:nvSpPr>
        <p:spPr>
          <a:xfrm>
            <a:off x="768096" y="1883664"/>
            <a:ext cx="6217920" cy="274320"/>
          </a:xfrm>
          <a:prstGeom prst="rect">
            <a:avLst/>
          </a:prstGeom>
          <a:noFill/>
          <a:ln/>
        </p:spPr>
        <p:txBody>
          <a:bodyPr wrap="square" lIns="0" tIns="0" rIns="0" bIns="0" rtlCol="0" anchor="t"/>
          <a:lstStyle/>
          <a:p>
            <a:pPr algn="l" indent="0" marL="0">
              <a:lnSpc>
                <a:spcPct val="112000"/>
              </a:lnSpc>
              <a:buNone/>
            </a:pPr>
            <a:r>
              <a:rPr lang="en-US" sz="1200" b="1" dirty="0">
                <a:solidFill>
                  <a:srgbClr val="ACB9C2"/>
                </a:solidFill>
                <a:latin typeface="Aptos" pitchFamily="34" charset="0"/>
                <a:ea typeface="Aptos" pitchFamily="34" charset="-122"/>
                <a:cs typeface="Aptos" pitchFamily="34" charset="-120"/>
              </a:rPr>
              <a:t>OBSERVATION</a:t>
            </a:r>
            <a:endParaRPr lang="en-US" sz="1200" dirty="0"/>
          </a:p>
        </p:txBody>
      </p:sp>
      <p:sp>
        <p:nvSpPr>
          <p:cNvPr id="8" name="Text 6"/>
          <p:cNvSpPr txBox="1"/>
          <p:nvPr/>
        </p:nvSpPr>
        <p:spPr>
          <a:xfrm>
            <a:off x="7479792" y="1883664"/>
            <a:ext cx="3493008" cy="274320"/>
          </a:xfrm>
          <a:prstGeom prst="rect">
            <a:avLst/>
          </a:prstGeom>
          <a:noFill/>
          <a:ln/>
        </p:spPr>
        <p:txBody>
          <a:bodyPr wrap="square" lIns="0" tIns="0" rIns="0" bIns="0" rtlCol="0" anchor="t"/>
          <a:lstStyle/>
          <a:p>
            <a:pPr algn="l" indent="0" marL="0">
              <a:lnSpc>
                <a:spcPct val="112000"/>
              </a:lnSpc>
              <a:buNone/>
            </a:pPr>
            <a:r>
              <a:rPr lang="en-US" sz="1200" b="1" dirty="0">
                <a:solidFill>
                  <a:srgbClr val="ACB9C2"/>
                </a:solidFill>
                <a:latin typeface="Aptos" pitchFamily="34" charset="0"/>
                <a:ea typeface="Aptos" pitchFamily="34" charset="-122"/>
                <a:cs typeface="Aptos" pitchFamily="34" charset="-120"/>
              </a:rPr>
              <a:t>RESULT</a:t>
            </a:r>
            <a:endParaRPr lang="en-US" sz="1200" dirty="0"/>
          </a:p>
        </p:txBody>
      </p:sp>
      <p:sp>
        <p:nvSpPr>
          <p:cNvPr id="9" name="Shape 7"/>
          <p:cNvSpPr/>
          <p:nvPr/>
        </p:nvSpPr>
        <p:spPr>
          <a:xfrm>
            <a:off x="548640" y="2276856"/>
            <a:ext cx="11082528" cy="493776"/>
          </a:xfrm>
          <a:prstGeom prst="rect">
            <a:avLst/>
          </a:prstGeom>
          <a:solidFill>
            <a:srgbClr val="1B2329"/>
          </a:solidFill>
          <a:ln w="12700">
            <a:solidFill>
              <a:srgbClr val="1B2329"/>
            </a:solidFill>
            <a:prstDash val="solid"/>
          </a:ln>
        </p:spPr>
      </p:sp>
      <p:sp>
        <p:nvSpPr>
          <p:cNvPr id="10" name="Text 8"/>
          <p:cNvSpPr txBox="1"/>
          <p:nvPr/>
        </p:nvSpPr>
        <p:spPr>
          <a:xfrm>
            <a:off x="768096" y="2331720"/>
            <a:ext cx="6492240" cy="374904"/>
          </a:xfrm>
          <a:prstGeom prst="rect">
            <a:avLst/>
          </a:prstGeom>
          <a:noFill/>
          <a:ln/>
        </p:spPr>
        <p:txBody>
          <a:bodyPr wrap="square" lIns="0" tIns="0" rIns="0" bIns="0" rtlCol="0" anchor="t"/>
          <a:lstStyle/>
          <a:p>
            <a:pPr algn="l" indent="0" marL="0">
              <a:lnSpc>
                <a:spcPct val="112000"/>
              </a:lnSpc>
              <a:buNone/>
            </a:pPr>
            <a:r>
              <a:rPr lang="en-US" sz="2000" dirty="0">
                <a:solidFill>
                  <a:srgbClr val="F2F3EE"/>
                </a:solidFill>
                <a:latin typeface="Aptos" pitchFamily="34" charset="0"/>
                <a:ea typeface="Aptos" pitchFamily="34" charset="-122"/>
                <a:cs typeface="Aptos" pitchFamily="34" charset="-120"/>
              </a:rPr>
              <a:t>Correct candidate under fixed criteria</a:t>
            </a:r>
            <a:endParaRPr lang="en-US" sz="2000" dirty="0"/>
          </a:p>
        </p:txBody>
      </p:sp>
      <p:sp>
        <p:nvSpPr>
          <p:cNvPr id="11" name="Text 9"/>
          <p:cNvSpPr txBox="1"/>
          <p:nvPr/>
        </p:nvSpPr>
        <p:spPr>
          <a:xfrm>
            <a:off x="7479792" y="2331720"/>
            <a:ext cx="3913632" cy="374904"/>
          </a:xfrm>
          <a:prstGeom prst="rect">
            <a:avLst/>
          </a:prstGeom>
          <a:noFill/>
          <a:ln/>
        </p:spPr>
        <p:txBody>
          <a:bodyPr wrap="square" lIns="0" tIns="0" rIns="0" bIns="0" rtlCol="0" anchor="t"/>
          <a:lstStyle/>
          <a:p>
            <a:pPr algn="l" indent="0" marL="0">
              <a:lnSpc>
                <a:spcPct val="112000"/>
              </a:lnSpc>
              <a:buNone/>
            </a:pPr>
            <a:r>
              <a:rPr lang="en-US" sz="1800" dirty="0">
                <a:solidFill>
                  <a:srgbClr val="8FE3CB"/>
                </a:solidFill>
                <a:latin typeface="DejaVu Sans Mono" pitchFamily="34" charset="0"/>
                <a:ea typeface="DejaVu Sans Mono" pitchFamily="34" charset="-122"/>
                <a:cs typeface="DejaVu Sans Mono" pitchFamily="34" charset="-120"/>
              </a:rPr>
              <a:t>PUBLISHED</a:t>
            </a:r>
            <a:endParaRPr lang="en-US" sz="1800" dirty="0"/>
          </a:p>
        </p:txBody>
      </p:sp>
      <p:sp>
        <p:nvSpPr>
          <p:cNvPr id="12" name="Text 10"/>
          <p:cNvSpPr txBox="1"/>
          <p:nvPr/>
        </p:nvSpPr>
        <p:spPr>
          <a:xfrm>
            <a:off x="768096" y="2852928"/>
            <a:ext cx="6492240" cy="374904"/>
          </a:xfrm>
          <a:prstGeom prst="rect">
            <a:avLst/>
          </a:prstGeom>
          <a:noFill/>
          <a:ln/>
        </p:spPr>
        <p:txBody>
          <a:bodyPr wrap="square" lIns="0" tIns="0" rIns="0" bIns="0" rtlCol="0" anchor="t"/>
          <a:lstStyle/>
          <a:p>
            <a:pPr algn="l" indent="0" marL="0">
              <a:lnSpc>
                <a:spcPct val="112000"/>
              </a:lnSpc>
              <a:buNone/>
            </a:pPr>
            <a:r>
              <a:rPr lang="en-US" sz="2000" dirty="0">
                <a:solidFill>
                  <a:srgbClr val="F2F3EE"/>
                </a:solidFill>
                <a:latin typeface="Aptos" pitchFamily="34" charset="0"/>
                <a:ea typeface="Aptos" pitchFamily="34" charset="-122"/>
                <a:cs typeface="Aptos" pitchFamily="34" charset="-120"/>
              </a:rPr>
              <a:t>Original bytes after rejected fresh swap</a:t>
            </a:r>
            <a:endParaRPr lang="en-US" sz="2000" dirty="0"/>
          </a:p>
        </p:txBody>
      </p:sp>
      <p:sp>
        <p:nvSpPr>
          <p:cNvPr id="13" name="Text 11"/>
          <p:cNvSpPr txBox="1"/>
          <p:nvPr/>
        </p:nvSpPr>
        <p:spPr>
          <a:xfrm>
            <a:off x="7479792" y="2852928"/>
            <a:ext cx="3913632" cy="374904"/>
          </a:xfrm>
          <a:prstGeom prst="rect">
            <a:avLst/>
          </a:prstGeom>
          <a:noFill/>
          <a:ln/>
        </p:spPr>
        <p:txBody>
          <a:bodyPr wrap="square" lIns="0" tIns="0" rIns="0" bIns="0" rtlCol="0" anchor="t"/>
          <a:lstStyle/>
          <a:p>
            <a:pPr algn="l" indent="0" marL="0">
              <a:lnSpc>
                <a:spcPct val="112000"/>
              </a:lnSpc>
              <a:buNone/>
            </a:pPr>
            <a:r>
              <a:rPr lang="en-US" sz="1800" dirty="0">
                <a:solidFill>
                  <a:srgbClr val="8FE3CB"/>
                </a:solidFill>
                <a:latin typeface="DejaVu Sans Mono" pitchFamily="34" charset="0"/>
                <a:ea typeface="DejaVu Sans Mono" pitchFamily="34" charset="-122"/>
                <a:cs typeface="DejaVu Sans Mono" pitchFamily="34" charset="-120"/>
              </a:rPr>
              <a:t>PUBLISHED</a:t>
            </a:r>
            <a:endParaRPr lang="en-US" sz="1800" dirty="0"/>
          </a:p>
        </p:txBody>
      </p:sp>
      <p:sp>
        <p:nvSpPr>
          <p:cNvPr id="14" name="Shape 12"/>
          <p:cNvSpPr/>
          <p:nvPr/>
        </p:nvSpPr>
        <p:spPr>
          <a:xfrm>
            <a:off x="548640" y="3319272"/>
            <a:ext cx="11082528" cy="493776"/>
          </a:xfrm>
          <a:prstGeom prst="rect">
            <a:avLst/>
          </a:prstGeom>
          <a:solidFill>
            <a:srgbClr val="1B2329"/>
          </a:solidFill>
          <a:ln w="12700">
            <a:solidFill>
              <a:srgbClr val="1B2329"/>
            </a:solidFill>
            <a:prstDash val="solid"/>
          </a:ln>
        </p:spPr>
      </p:sp>
      <p:sp>
        <p:nvSpPr>
          <p:cNvPr id="15" name="Text 13"/>
          <p:cNvSpPr txBox="1"/>
          <p:nvPr/>
        </p:nvSpPr>
        <p:spPr>
          <a:xfrm>
            <a:off x="768096" y="3374136"/>
            <a:ext cx="6492240" cy="374904"/>
          </a:xfrm>
          <a:prstGeom prst="rect">
            <a:avLst/>
          </a:prstGeom>
          <a:noFill/>
          <a:ln/>
        </p:spPr>
        <p:txBody>
          <a:bodyPr wrap="square" lIns="0" tIns="0" rIns="0" bIns="0" rtlCol="0" anchor="t"/>
          <a:lstStyle/>
          <a:p>
            <a:pPr algn="l" indent="0" marL="0">
              <a:lnSpc>
                <a:spcPct val="112000"/>
              </a:lnSpc>
              <a:buNone/>
            </a:pPr>
            <a:r>
              <a:rPr lang="en-US" sz="2000" dirty="0">
                <a:solidFill>
                  <a:srgbClr val="F2F3EE"/>
                </a:solidFill>
                <a:latin typeface="Aptos" pitchFamily="34" charset="0"/>
                <a:ea typeface="Aptos" pitchFamily="34" charset="-122"/>
                <a:cs typeface="Aptos" pitchFamily="34" charset="-120"/>
              </a:rPr>
              <a:t>Incorrect candidate under fixed criteria</a:t>
            </a:r>
            <a:endParaRPr lang="en-US" sz="2000" dirty="0"/>
          </a:p>
        </p:txBody>
      </p:sp>
      <p:sp>
        <p:nvSpPr>
          <p:cNvPr id="16" name="Text 14"/>
          <p:cNvSpPr txBox="1"/>
          <p:nvPr/>
        </p:nvSpPr>
        <p:spPr>
          <a:xfrm>
            <a:off x="7479792" y="3374136"/>
            <a:ext cx="3913632" cy="374904"/>
          </a:xfrm>
          <a:prstGeom prst="rect">
            <a:avLst/>
          </a:prstGeom>
          <a:noFill/>
          <a:ln/>
        </p:spPr>
        <p:txBody>
          <a:bodyPr wrap="square" lIns="0" tIns="0" rIns="0" bIns="0" rtlCol="0" anchor="t"/>
          <a:lstStyle/>
          <a:p>
            <a:pPr algn="l" indent="0" marL="0">
              <a:lnSpc>
                <a:spcPct val="112000"/>
              </a:lnSpc>
              <a:buNone/>
            </a:pPr>
            <a:r>
              <a:rPr lang="en-US" sz="1800" dirty="0">
                <a:solidFill>
                  <a:srgbClr val="FFC77A"/>
                </a:solidFill>
                <a:latin typeface="DejaVu Sans Mono" pitchFamily="34" charset="0"/>
                <a:ea typeface="DejaVu Sans Mono" pitchFamily="34" charset="-122"/>
                <a:cs typeface="DejaVu Sans Mono" pitchFamily="34" charset="-120"/>
              </a:rPr>
              <a:t>NOT PUBLISHED</a:t>
            </a:r>
            <a:endParaRPr lang="en-US" sz="1800" dirty="0"/>
          </a:p>
        </p:txBody>
      </p:sp>
      <p:sp>
        <p:nvSpPr>
          <p:cNvPr id="17" name="Text 15"/>
          <p:cNvSpPr txBox="1"/>
          <p:nvPr/>
        </p:nvSpPr>
        <p:spPr>
          <a:xfrm>
            <a:off x="768096" y="3895344"/>
            <a:ext cx="6492240" cy="374904"/>
          </a:xfrm>
          <a:prstGeom prst="rect">
            <a:avLst/>
          </a:prstGeom>
          <a:noFill/>
          <a:ln/>
        </p:spPr>
        <p:txBody>
          <a:bodyPr wrap="square" lIns="0" tIns="0" rIns="0" bIns="0" rtlCol="0" anchor="t"/>
          <a:lstStyle/>
          <a:p>
            <a:pPr algn="l" indent="0" marL="0">
              <a:lnSpc>
                <a:spcPct val="112000"/>
              </a:lnSpc>
              <a:buNone/>
            </a:pPr>
            <a:r>
              <a:rPr lang="en-US" sz="2000" dirty="0">
                <a:solidFill>
                  <a:srgbClr val="F2F3EE"/>
                </a:solidFill>
                <a:latin typeface="Aptos" pitchFamily="34" charset="0"/>
                <a:ea typeface="Aptos" pitchFamily="34" charset="-122"/>
                <a:cs typeface="Aptos" pitchFamily="34" charset="-120"/>
              </a:rPr>
              <a:t>Different artifact / fresh approval</a:t>
            </a:r>
            <a:endParaRPr lang="en-US" sz="2000" dirty="0"/>
          </a:p>
        </p:txBody>
      </p:sp>
      <p:sp>
        <p:nvSpPr>
          <p:cNvPr id="18" name="Text 16"/>
          <p:cNvSpPr txBox="1"/>
          <p:nvPr/>
        </p:nvSpPr>
        <p:spPr>
          <a:xfrm>
            <a:off x="7479792" y="3895344"/>
            <a:ext cx="3913632" cy="374904"/>
          </a:xfrm>
          <a:prstGeom prst="rect">
            <a:avLst/>
          </a:prstGeom>
          <a:noFill/>
          <a:ln/>
        </p:spPr>
        <p:txBody>
          <a:bodyPr wrap="square" lIns="0" tIns="0" rIns="0" bIns="0" rtlCol="0" anchor="t"/>
          <a:lstStyle/>
          <a:p>
            <a:pPr algn="l" indent="0" marL="0">
              <a:lnSpc>
                <a:spcPct val="112000"/>
              </a:lnSpc>
              <a:buNone/>
            </a:pPr>
            <a:r>
              <a:rPr lang="en-US" sz="1800" dirty="0">
                <a:solidFill>
                  <a:srgbClr val="FFC77A"/>
                </a:solidFill>
                <a:latin typeface="DejaVu Sans Mono" pitchFamily="34" charset="0"/>
                <a:ea typeface="DejaVu Sans Mono" pitchFamily="34" charset="-122"/>
                <a:cs typeface="DejaVu Sans Mono" pitchFamily="34" charset="-120"/>
              </a:rPr>
              <a:t>DENIED</a:t>
            </a:r>
            <a:endParaRPr lang="en-US" sz="1800" dirty="0"/>
          </a:p>
        </p:txBody>
      </p:sp>
      <p:sp>
        <p:nvSpPr>
          <p:cNvPr id="19" name="Shape 17"/>
          <p:cNvSpPr/>
          <p:nvPr/>
        </p:nvSpPr>
        <p:spPr>
          <a:xfrm>
            <a:off x="548640" y="4361688"/>
            <a:ext cx="11082528" cy="493776"/>
          </a:xfrm>
          <a:prstGeom prst="rect">
            <a:avLst/>
          </a:prstGeom>
          <a:solidFill>
            <a:srgbClr val="1B2329"/>
          </a:solidFill>
          <a:ln w="12700">
            <a:solidFill>
              <a:srgbClr val="1B2329"/>
            </a:solidFill>
            <a:prstDash val="solid"/>
          </a:ln>
        </p:spPr>
      </p:sp>
      <p:sp>
        <p:nvSpPr>
          <p:cNvPr id="20" name="Text 18"/>
          <p:cNvSpPr txBox="1"/>
          <p:nvPr/>
        </p:nvSpPr>
        <p:spPr>
          <a:xfrm>
            <a:off x="768096" y="4416552"/>
            <a:ext cx="6492240" cy="374904"/>
          </a:xfrm>
          <a:prstGeom prst="rect">
            <a:avLst/>
          </a:prstGeom>
          <a:noFill/>
          <a:ln/>
        </p:spPr>
        <p:txBody>
          <a:bodyPr wrap="square" lIns="0" tIns="0" rIns="0" bIns="0" rtlCol="0" anchor="t"/>
          <a:lstStyle/>
          <a:p>
            <a:pPr algn="l" indent="0" marL="0">
              <a:lnSpc>
                <a:spcPct val="112000"/>
              </a:lnSpc>
              <a:buNone/>
            </a:pPr>
            <a:r>
              <a:rPr lang="en-US" sz="2000" dirty="0">
                <a:solidFill>
                  <a:srgbClr val="F2F3EE"/>
                </a:solidFill>
                <a:latin typeface="Aptos" pitchFamily="34" charset="0"/>
                <a:ea typeface="Aptos" pitchFamily="34" charset="-122"/>
                <a:cs typeface="Aptos" pitchFamily="34" charset="-120"/>
              </a:rPr>
              <a:t>Already-consumed approval</a:t>
            </a:r>
            <a:endParaRPr lang="en-US" sz="2000" dirty="0"/>
          </a:p>
        </p:txBody>
      </p:sp>
      <p:sp>
        <p:nvSpPr>
          <p:cNvPr id="21" name="Text 19"/>
          <p:cNvSpPr txBox="1"/>
          <p:nvPr/>
        </p:nvSpPr>
        <p:spPr>
          <a:xfrm>
            <a:off x="7479792" y="4416552"/>
            <a:ext cx="3913632" cy="374904"/>
          </a:xfrm>
          <a:prstGeom prst="rect">
            <a:avLst/>
          </a:prstGeom>
          <a:noFill/>
          <a:ln/>
        </p:spPr>
        <p:txBody>
          <a:bodyPr wrap="square" lIns="0" tIns="0" rIns="0" bIns="0" rtlCol="0" anchor="t"/>
          <a:lstStyle/>
          <a:p>
            <a:pPr algn="l" indent="0" marL="0">
              <a:lnSpc>
                <a:spcPct val="112000"/>
              </a:lnSpc>
              <a:buNone/>
            </a:pPr>
            <a:r>
              <a:rPr lang="en-US" sz="1800" dirty="0">
                <a:solidFill>
                  <a:srgbClr val="FFC77A"/>
                </a:solidFill>
                <a:latin typeface="DejaVu Sans Mono" pitchFamily="34" charset="0"/>
                <a:ea typeface="DejaVu Sans Mono" pitchFamily="34" charset="-122"/>
                <a:cs typeface="DejaVu Sans Mono" pitchFamily="34" charset="-120"/>
              </a:rPr>
              <a:t>DENIED</a:t>
            </a:r>
            <a:endParaRPr lang="en-US" sz="1800" dirty="0"/>
          </a:p>
        </p:txBody>
      </p:sp>
      <p:sp>
        <p:nvSpPr>
          <p:cNvPr id="22" name="Text 20"/>
          <p:cNvSpPr txBox="1"/>
          <p:nvPr/>
        </p:nvSpPr>
        <p:spPr>
          <a:xfrm>
            <a:off x="768096" y="4937760"/>
            <a:ext cx="6492240" cy="374904"/>
          </a:xfrm>
          <a:prstGeom prst="rect">
            <a:avLst/>
          </a:prstGeom>
          <a:noFill/>
          <a:ln/>
        </p:spPr>
        <p:txBody>
          <a:bodyPr wrap="square" lIns="0" tIns="0" rIns="0" bIns="0" rtlCol="0" anchor="t"/>
          <a:lstStyle/>
          <a:p>
            <a:pPr algn="l" indent="0" marL="0">
              <a:lnSpc>
                <a:spcPct val="112000"/>
              </a:lnSpc>
              <a:buNone/>
            </a:pPr>
            <a:r>
              <a:rPr lang="en-US" sz="2000" dirty="0">
                <a:solidFill>
                  <a:srgbClr val="F2F3EE"/>
                </a:solidFill>
                <a:latin typeface="Aptos" pitchFamily="34" charset="0"/>
                <a:ea typeface="Aptos" pitchFamily="34" charset="-122"/>
                <a:cs typeface="Aptos" pitchFamily="34" charset="-120"/>
              </a:rPr>
              <a:t>Missing or malformed result</a:t>
            </a:r>
            <a:endParaRPr lang="en-US" sz="2000" dirty="0"/>
          </a:p>
        </p:txBody>
      </p:sp>
      <p:sp>
        <p:nvSpPr>
          <p:cNvPr id="23" name="Text 21"/>
          <p:cNvSpPr txBox="1"/>
          <p:nvPr/>
        </p:nvSpPr>
        <p:spPr>
          <a:xfrm>
            <a:off x="7479792" y="4937760"/>
            <a:ext cx="3913632" cy="374904"/>
          </a:xfrm>
          <a:prstGeom prst="rect">
            <a:avLst/>
          </a:prstGeom>
          <a:noFill/>
          <a:ln/>
        </p:spPr>
        <p:txBody>
          <a:bodyPr wrap="square" lIns="0" tIns="0" rIns="0" bIns="0" rtlCol="0" anchor="t"/>
          <a:lstStyle/>
          <a:p>
            <a:pPr algn="l" indent="0" marL="0">
              <a:lnSpc>
                <a:spcPct val="112000"/>
              </a:lnSpc>
              <a:buNone/>
            </a:pPr>
            <a:r>
              <a:rPr lang="en-US" sz="1800" dirty="0">
                <a:solidFill>
                  <a:srgbClr val="FFC77A"/>
                </a:solidFill>
                <a:latin typeface="DejaVu Sans Mono" pitchFamily="34" charset="0"/>
                <a:ea typeface="DejaVu Sans Mono" pitchFamily="34" charset="-122"/>
                <a:cs typeface="DejaVu Sans Mono" pitchFamily="34" charset="-120"/>
              </a:rPr>
              <a:t>NO APPROVAL</a:t>
            </a:r>
            <a:endParaRPr lang="en-US" sz="1800" dirty="0"/>
          </a:p>
        </p:txBody>
      </p:sp>
      <p:sp>
        <p:nvSpPr>
          <p:cNvPr id="24" name="Text 22"/>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Change one condition at a time. Preserve a working positive control.</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APPLY THIS TO YOUR OWN DEPLOYMENT</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Inspect four concrete decisions outside the worker.</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A deployment review checklist; each control still requires validation in your environment.</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11</a:t>
            </a:r>
            <a:endParaRPr lang="en-US" sz="1200" dirty="0"/>
          </a:p>
        </p:txBody>
      </p:sp>
      <p:sp>
        <p:nvSpPr>
          <p:cNvPr id="7" name="Text 5"/>
          <p:cNvSpPr txBox="1"/>
          <p:nvPr/>
        </p:nvSpPr>
        <p:spPr>
          <a:xfrm>
            <a:off x="548640" y="2002536"/>
            <a:ext cx="713232" cy="393192"/>
          </a:xfrm>
          <a:prstGeom prst="rect">
            <a:avLst/>
          </a:prstGeom>
          <a:noFill/>
          <a:ln/>
        </p:spPr>
        <p:txBody>
          <a:bodyPr wrap="square" lIns="0" tIns="0" rIns="0" bIns="0" rtlCol="0" anchor="t"/>
          <a:lstStyle/>
          <a:p>
            <a:pPr algn="l" indent="0" marL="0">
              <a:lnSpc>
                <a:spcPct val="112000"/>
              </a:lnSpc>
              <a:buNone/>
            </a:pPr>
            <a:r>
              <a:rPr lang="en-US" sz="2300" dirty="0">
                <a:solidFill>
                  <a:srgbClr val="8FE3CB"/>
                </a:solidFill>
                <a:latin typeface="DejaVu Sans Mono" pitchFamily="34" charset="0"/>
                <a:ea typeface="DejaVu Sans Mono" pitchFamily="34" charset="-122"/>
                <a:cs typeface="DejaVu Sans Mono" pitchFamily="34" charset="-120"/>
              </a:rPr>
              <a:t>01</a:t>
            </a:r>
            <a:endParaRPr lang="en-US" sz="2300" dirty="0"/>
          </a:p>
        </p:txBody>
      </p:sp>
      <p:sp>
        <p:nvSpPr>
          <p:cNvPr id="8" name="Text 6"/>
          <p:cNvSpPr txBox="1"/>
          <p:nvPr/>
        </p:nvSpPr>
        <p:spPr>
          <a:xfrm>
            <a:off x="1508760" y="2002536"/>
            <a:ext cx="2743200" cy="457200"/>
          </a:xfrm>
          <a:prstGeom prst="rect">
            <a:avLst/>
          </a:prstGeom>
          <a:noFill/>
          <a:ln/>
        </p:spPr>
        <p:txBody>
          <a:bodyPr wrap="square" lIns="0" tIns="0" rIns="0" bIns="0" rtlCol="0" anchor="t"/>
          <a:lstStyle/>
          <a:p>
            <a:pPr algn="l" indent="0" marL="0">
              <a:lnSpc>
                <a:spcPct val="112000"/>
              </a:lnSpc>
              <a:buNone/>
            </a:pPr>
            <a:r>
              <a:rPr lang="en-US" sz="2400" b="1" dirty="0">
                <a:solidFill>
                  <a:srgbClr val="F2F3EE"/>
                </a:solidFill>
                <a:latin typeface="Aptos" pitchFamily="34" charset="0"/>
                <a:ea typeface="Aptos" pitchFamily="34" charset="-122"/>
                <a:cs typeface="Aptos" pitchFamily="34" charset="-120"/>
              </a:rPr>
              <a:t>Credential</a:t>
            </a:r>
            <a:endParaRPr lang="en-US" sz="2400" dirty="0"/>
          </a:p>
        </p:txBody>
      </p:sp>
      <p:sp>
        <p:nvSpPr>
          <p:cNvPr id="9" name="Text 7"/>
          <p:cNvSpPr txBox="1"/>
          <p:nvPr/>
        </p:nvSpPr>
        <p:spPr>
          <a:xfrm>
            <a:off x="4471416" y="2002536"/>
            <a:ext cx="7159752" cy="612648"/>
          </a:xfrm>
          <a:prstGeom prst="rect">
            <a:avLst/>
          </a:prstGeom>
          <a:noFill/>
          <a:ln/>
        </p:spPr>
        <p:txBody>
          <a:bodyPr wrap="square" lIns="0" tIns="0" rIns="0" bIns="0" rtlCol="0" anchor="t"/>
          <a:lstStyle/>
          <a:p>
            <a:pPr algn="l" indent="0" marL="0">
              <a:lnSpc>
                <a:spcPct val="112000"/>
              </a:lnSpc>
              <a:buNone/>
            </a:pPr>
            <a:r>
              <a:rPr lang="en-US" sz="2200" dirty="0">
                <a:solidFill>
                  <a:srgbClr val="F2F3EE"/>
                </a:solidFill>
                <a:latin typeface="Aptos" pitchFamily="34" charset="0"/>
                <a:ea typeface="Aptos" pitchFamily="34" charset="-122"/>
                <a:cs typeface="Aptos" pitchFamily="34" charset="-120"/>
              </a:rPr>
              <a:t>What else can its token read or change?</a:t>
            </a:r>
            <a:endParaRPr lang="en-US" sz="2200" dirty="0"/>
          </a:p>
        </p:txBody>
      </p:sp>
      <p:sp>
        <p:nvSpPr>
          <p:cNvPr id="10" name="Shape 8"/>
          <p:cNvSpPr/>
          <p:nvPr/>
        </p:nvSpPr>
        <p:spPr>
          <a:xfrm>
            <a:off x="1508760" y="2624328"/>
            <a:ext cx="10122408" cy="0"/>
          </a:xfrm>
          <a:prstGeom prst="line">
            <a:avLst/>
          </a:prstGeom>
          <a:noFill/>
          <a:ln w="7620">
            <a:solidFill>
              <a:srgbClr val="40515B"/>
            </a:solidFill>
            <a:prstDash val="solid"/>
          </a:ln>
        </p:spPr>
      </p:sp>
      <p:sp>
        <p:nvSpPr>
          <p:cNvPr id="11" name="Text 9"/>
          <p:cNvSpPr txBox="1"/>
          <p:nvPr/>
        </p:nvSpPr>
        <p:spPr>
          <a:xfrm>
            <a:off x="548640" y="2816352"/>
            <a:ext cx="713232" cy="393192"/>
          </a:xfrm>
          <a:prstGeom prst="rect">
            <a:avLst/>
          </a:prstGeom>
          <a:noFill/>
          <a:ln/>
        </p:spPr>
        <p:txBody>
          <a:bodyPr wrap="square" lIns="0" tIns="0" rIns="0" bIns="0" rtlCol="0" anchor="t"/>
          <a:lstStyle/>
          <a:p>
            <a:pPr algn="l" indent="0" marL="0">
              <a:lnSpc>
                <a:spcPct val="112000"/>
              </a:lnSpc>
              <a:buNone/>
            </a:pPr>
            <a:r>
              <a:rPr lang="en-US" sz="2300" dirty="0">
                <a:solidFill>
                  <a:srgbClr val="8FE3CB"/>
                </a:solidFill>
                <a:latin typeface="DejaVu Sans Mono" pitchFamily="34" charset="0"/>
                <a:ea typeface="DejaVu Sans Mono" pitchFamily="34" charset="-122"/>
                <a:cs typeface="DejaVu Sans Mono" pitchFamily="34" charset="-120"/>
              </a:rPr>
              <a:t>02</a:t>
            </a:r>
            <a:endParaRPr lang="en-US" sz="2300" dirty="0"/>
          </a:p>
        </p:txBody>
      </p:sp>
      <p:sp>
        <p:nvSpPr>
          <p:cNvPr id="12" name="Text 10"/>
          <p:cNvSpPr txBox="1"/>
          <p:nvPr/>
        </p:nvSpPr>
        <p:spPr>
          <a:xfrm>
            <a:off x="1508760" y="2816352"/>
            <a:ext cx="2743200" cy="457200"/>
          </a:xfrm>
          <a:prstGeom prst="rect">
            <a:avLst/>
          </a:prstGeom>
          <a:noFill/>
          <a:ln/>
        </p:spPr>
        <p:txBody>
          <a:bodyPr wrap="square" lIns="0" tIns="0" rIns="0" bIns="0" rtlCol="0" anchor="t"/>
          <a:lstStyle/>
          <a:p>
            <a:pPr algn="l" indent="0" marL="0">
              <a:lnSpc>
                <a:spcPct val="112000"/>
              </a:lnSpc>
              <a:buNone/>
            </a:pPr>
            <a:r>
              <a:rPr lang="en-US" sz="2400" b="1" dirty="0">
                <a:solidFill>
                  <a:srgbClr val="F2F3EE"/>
                </a:solidFill>
                <a:latin typeface="Aptos" pitchFamily="34" charset="0"/>
                <a:ea typeface="Aptos" pitchFamily="34" charset="-122"/>
                <a:cs typeface="Aptos" pitchFamily="34" charset="-120"/>
              </a:rPr>
              <a:t>Filesystem</a:t>
            </a:r>
            <a:endParaRPr lang="en-US" sz="2400" dirty="0"/>
          </a:p>
        </p:txBody>
      </p:sp>
      <p:sp>
        <p:nvSpPr>
          <p:cNvPr id="13" name="Text 11"/>
          <p:cNvSpPr txBox="1"/>
          <p:nvPr/>
        </p:nvSpPr>
        <p:spPr>
          <a:xfrm>
            <a:off x="4471416" y="2816352"/>
            <a:ext cx="7159752" cy="612648"/>
          </a:xfrm>
          <a:prstGeom prst="rect">
            <a:avLst/>
          </a:prstGeom>
          <a:noFill/>
          <a:ln/>
        </p:spPr>
        <p:txBody>
          <a:bodyPr wrap="square" lIns="0" tIns="0" rIns="0" bIns="0" rtlCol="0" anchor="t"/>
          <a:lstStyle/>
          <a:p>
            <a:pPr algn="l" indent="0" marL="0">
              <a:lnSpc>
                <a:spcPct val="112000"/>
              </a:lnSpc>
              <a:buNone/>
            </a:pPr>
            <a:r>
              <a:rPr lang="en-US" sz="2200" dirty="0">
                <a:solidFill>
                  <a:srgbClr val="F2F3EE"/>
                </a:solidFill>
                <a:latin typeface="Aptos" pitchFamily="34" charset="0"/>
                <a:ea typeface="Aptos" pitchFamily="34" charset="-122"/>
                <a:cs typeface="Aptos" pitchFamily="34" charset="-120"/>
              </a:rPr>
              <a:t>Whose state is writable or carried forward?</a:t>
            </a:r>
            <a:endParaRPr lang="en-US" sz="2200" dirty="0"/>
          </a:p>
        </p:txBody>
      </p:sp>
      <p:sp>
        <p:nvSpPr>
          <p:cNvPr id="14" name="Shape 12"/>
          <p:cNvSpPr/>
          <p:nvPr/>
        </p:nvSpPr>
        <p:spPr>
          <a:xfrm>
            <a:off x="1508760" y="3438144"/>
            <a:ext cx="10122408" cy="0"/>
          </a:xfrm>
          <a:prstGeom prst="line">
            <a:avLst/>
          </a:prstGeom>
          <a:noFill/>
          <a:ln w="7620">
            <a:solidFill>
              <a:srgbClr val="40515B"/>
            </a:solidFill>
            <a:prstDash val="solid"/>
          </a:ln>
        </p:spPr>
      </p:sp>
      <p:sp>
        <p:nvSpPr>
          <p:cNvPr id="15" name="Text 13"/>
          <p:cNvSpPr txBox="1"/>
          <p:nvPr/>
        </p:nvSpPr>
        <p:spPr>
          <a:xfrm>
            <a:off x="548640" y="3630168"/>
            <a:ext cx="713232" cy="393192"/>
          </a:xfrm>
          <a:prstGeom prst="rect">
            <a:avLst/>
          </a:prstGeom>
          <a:noFill/>
          <a:ln/>
        </p:spPr>
        <p:txBody>
          <a:bodyPr wrap="square" lIns="0" tIns="0" rIns="0" bIns="0" rtlCol="0" anchor="t"/>
          <a:lstStyle/>
          <a:p>
            <a:pPr algn="l" indent="0" marL="0">
              <a:lnSpc>
                <a:spcPct val="112000"/>
              </a:lnSpc>
              <a:buNone/>
            </a:pPr>
            <a:r>
              <a:rPr lang="en-US" sz="2300" dirty="0">
                <a:solidFill>
                  <a:srgbClr val="8FE3CB"/>
                </a:solidFill>
                <a:latin typeface="DejaVu Sans Mono" pitchFamily="34" charset="0"/>
                <a:ea typeface="DejaVu Sans Mono" pitchFamily="34" charset="-122"/>
                <a:cs typeface="DejaVu Sans Mono" pitchFamily="34" charset="-120"/>
              </a:rPr>
              <a:t>03</a:t>
            </a:r>
            <a:endParaRPr lang="en-US" sz="2300" dirty="0"/>
          </a:p>
        </p:txBody>
      </p:sp>
      <p:sp>
        <p:nvSpPr>
          <p:cNvPr id="16" name="Text 14"/>
          <p:cNvSpPr txBox="1"/>
          <p:nvPr/>
        </p:nvSpPr>
        <p:spPr>
          <a:xfrm>
            <a:off x="1508760" y="3630168"/>
            <a:ext cx="2743200" cy="457200"/>
          </a:xfrm>
          <a:prstGeom prst="rect">
            <a:avLst/>
          </a:prstGeom>
          <a:noFill/>
          <a:ln/>
        </p:spPr>
        <p:txBody>
          <a:bodyPr wrap="square" lIns="0" tIns="0" rIns="0" bIns="0" rtlCol="0" anchor="t"/>
          <a:lstStyle/>
          <a:p>
            <a:pPr algn="l" indent="0" marL="0">
              <a:lnSpc>
                <a:spcPct val="112000"/>
              </a:lnSpc>
              <a:buNone/>
            </a:pPr>
            <a:r>
              <a:rPr lang="en-US" sz="2400" b="1" dirty="0">
                <a:solidFill>
                  <a:srgbClr val="F2F3EE"/>
                </a:solidFill>
                <a:latin typeface="Aptos" pitchFamily="34" charset="0"/>
                <a:ea typeface="Aptos" pitchFamily="34" charset="-122"/>
                <a:cs typeface="Aptos" pitchFamily="34" charset="-120"/>
              </a:rPr>
              <a:t>Outbound action</a:t>
            </a:r>
            <a:endParaRPr lang="en-US" sz="2400" dirty="0"/>
          </a:p>
        </p:txBody>
      </p:sp>
      <p:sp>
        <p:nvSpPr>
          <p:cNvPr id="17" name="Text 15"/>
          <p:cNvSpPr txBox="1"/>
          <p:nvPr/>
        </p:nvSpPr>
        <p:spPr>
          <a:xfrm>
            <a:off x="4471416" y="3630168"/>
            <a:ext cx="7159752" cy="612648"/>
          </a:xfrm>
          <a:prstGeom prst="rect">
            <a:avLst/>
          </a:prstGeom>
          <a:noFill/>
          <a:ln/>
        </p:spPr>
        <p:txBody>
          <a:bodyPr wrap="square" lIns="0" tIns="0" rIns="0" bIns="0" rtlCol="0" anchor="t"/>
          <a:lstStyle/>
          <a:p>
            <a:pPr algn="l" indent="0" marL="0">
              <a:lnSpc>
                <a:spcPct val="112000"/>
              </a:lnSpc>
              <a:buNone/>
            </a:pPr>
            <a:r>
              <a:rPr lang="en-US" sz="2200" dirty="0">
                <a:solidFill>
                  <a:srgbClr val="F2F3EE"/>
                </a:solidFill>
                <a:latin typeface="Aptos" pitchFamily="34" charset="0"/>
                <a:ea typeface="Aptos" pitchFamily="34" charset="-122"/>
                <a:cs typeface="Aptos" pitchFamily="34" charset="-120"/>
              </a:rPr>
              <a:t>Who chooses destination, account and body?</a:t>
            </a:r>
            <a:endParaRPr lang="en-US" sz="2200" dirty="0"/>
          </a:p>
        </p:txBody>
      </p:sp>
      <p:sp>
        <p:nvSpPr>
          <p:cNvPr id="18" name="Shape 16"/>
          <p:cNvSpPr/>
          <p:nvPr/>
        </p:nvSpPr>
        <p:spPr>
          <a:xfrm>
            <a:off x="1508760" y="4251960"/>
            <a:ext cx="10122408" cy="0"/>
          </a:xfrm>
          <a:prstGeom prst="line">
            <a:avLst/>
          </a:prstGeom>
          <a:noFill/>
          <a:ln w="7620">
            <a:solidFill>
              <a:srgbClr val="40515B"/>
            </a:solidFill>
            <a:prstDash val="solid"/>
          </a:ln>
        </p:spPr>
      </p:sp>
      <p:sp>
        <p:nvSpPr>
          <p:cNvPr id="19" name="Text 17"/>
          <p:cNvSpPr txBox="1"/>
          <p:nvPr/>
        </p:nvSpPr>
        <p:spPr>
          <a:xfrm>
            <a:off x="548640" y="4443984"/>
            <a:ext cx="713232" cy="393192"/>
          </a:xfrm>
          <a:prstGeom prst="rect">
            <a:avLst/>
          </a:prstGeom>
          <a:noFill/>
          <a:ln/>
        </p:spPr>
        <p:txBody>
          <a:bodyPr wrap="square" lIns="0" tIns="0" rIns="0" bIns="0" rtlCol="0" anchor="t"/>
          <a:lstStyle/>
          <a:p>
            <a:pPr algn="l" indent="0" marL="0">
              <a:lnSpc>
                <a:spcPct val="112000"/>
              </a:lnSpc>
              <a:buNone/>
            </a:pPr>
            <a:r>
              <a:rPr lang="en-US" sz="2300" dirty="0">
                <a:solidFill>
                  <a:srgbClr val="8FE3CB"/>
                </a:solidFill>
                <a:latin typeface="DejaVu Sans Mono" pitchFamily="34" charset="0"/>
                <a:ea typeface="DejaVu Sans Mono" pitchFamily="34" charset="-122"/>
                <a:cs typeface="DejaVu Sans Mono" pitchFamily="34" charset="-120"/>
              </a:rPr>
              <a:t>04</a:t>
            </a:r>
            <a:endParaRPr lang="en-US" sz="2300" dirty="0"/>
          </a:p>
        </p:txBody>
      </p:sp>
      <p:sp>
        <p:nvSpPr>
          <p:cNvPr id="20" name="Text 18"/>
          <p:cNvSpPr txBox="1"/>
          <p:nvPr/>
        </p:nvSpPr>
        <p:spPr>
          <a:xfrm>
            <a:off x="1508760" y="4443984"/>
            <a:ext cx="2743200" cy="457200"/>
          </a:xfrm>
          <a:prstGeom prst="rect">
            <a:avLst/>
          </a:prstGeom>
          <a:noFill/>
          <a:ln/>
        </p:spPr>
        <p:txBody>
          <a:bodyPr wrap="square" lIns="0" tIns="0" rIns="0" bIns="0" rtlCol="0" anchor="t"/>
          <a:lstStyle/>
          <a:p>
            <a:pPr algn="l" indent="0" marL="0">
              <a:lnSpc>
                <a:spcPct val="112000"/>
              </a:lnSpc>
              <a:buNone/>
            </a:pPr>
            <a:r>
              <a:rPr lang="en-US" sz="2400" b="1" dirty="0">
                <a:solidFill>
                  <a:srgbClr val="F2F3EE"/>
                </a:solidFill>
                <a:latin typeface="Aptos" pitchFamily="34" charset="0"/>
                <a:ea typeface="Aptos" pitchFamily="34" charset="-122"/>
                <a:cs typeface="Aptos" pitchFamily="34" charset="-120"/>
              </a:rPr>
              <a:t>Release</a:t>
            </a:r>
            <a:endParaRPr lang="en-US" sz="2400" dirty="0"/>
          </a:p>
        </p:txBody>
      </p:sp>
      <p:sp>
        <p:nvSpPr>
          <p:cNvPr id="21" name="Text 19"/>
          <p:cNvSpPr txBox="1"/>
          <p:nvPr/>
        </p:nvSpPr>
        <p:spPr>
          <a:xfrm>
            <a:off x="4471416" y="4443984"/>
            <a:ext cx="7159752" cy="612648"/>
          </a:xfrm>
          <a:prstGeom prst="rect">
            <a:avLst/>
          </a:prstGeom>
          <a:noFill/>
          <a:ln/>
        </p:spPr>
        <p:txBody>
          <a:bodyPr wrap="square" lIns="0" tIns="0" rIns="0" bIns="0" rtlCol="0" anchor="t"/>
          <a:lstStyle/>
          <a:p>
            <a:pPr algn="l" indent="0" marL="0">
              <a:lnSpc>
                <a:spcPct val="112000"/>
              </a:lnSpc>
              <a:buNone/>
            </a:pPr>
            <a:r>
              <a:rPr lang="en-US" sz="2200" dirty="0">
                <a:solidFill>
                  <a:srgbClr val="F2F3EE"/>
                </a:solidFill>
                <a:latin typeface="Aptos" pitchFamily="34" charset="0"/>
                <a:ea typeface="Aptos" pitchFamily="34" charset="-122"/>
                <a:cs typeface="Aptos" pitchFamily="34" charset="-120"/>
              </a:rPr>
              <a:t>Who owns criteria, approval and published bytes?</a:t>
            </a:r>
            <a:endParaRPr lang="en-US" sz="2200" dirty="0"/>
          </a:p>
        </p:txBody>
      </p:sp>
      <p:sp>
        <p:nvSpPr>
          <p:cNvPr id="22" name="Shape 20"/>
          <p:cNvSpPr/>
          <p:nvPr/>
        </p:nvSpPr>
        <p:spPr>
          <a:xfrm>
            <a:off x="1508760" y="5065776"/>
            <a:ext cx="10122408" cy="0"/>
          </a:xfrm>
          <a:prstGeom prst="line">
            <a:avLst/>
          </a:prstGeom>
          <a:noFill/>
          <a:ln w="7620">
            <a:solidFill>
              <a:srgbClr val="40515B"/>
            </a:solidFill>
            <a:prstDash val="solid"/>
          </a:ln>
        </p:spPr>
      </p:sp>
      <p:sp>
        <p:nvSpPr>
          <p:cNvPr id="23" name="Text 21"/>
          <p:cNvSpPr txBox="1"/>
          <p:nvPr/>
        </p:nvSpPr>
        <p:spPr>
          <a:xfrm>
            <a:off x="548640" y="5513832"/>
            <a:ext cx="11064240" cy="603504"/>
          </a:xfrm>
          <a:prstGeom prst="rect">
            <a:avLst/>
          </a:prstGeom>
          <a:noFill/>
          <a:ln/>
        </p:spPr>
        <p:txBody>
          <a:bodyPr wrap="square" lIns="0" tIns="0" rIns="0" bIns="0" rtlCol="0" anchor="t"/>
          <a:lstStyle/>
          <a:p>
            <a:pPr algn="l" indent="0" marL="0">
              <a:lnSpc>
                <a:spcPct val="112000"/>
              </a:lnSpc>
              <a:buNone/>
            </a:pPr>
            <a:r>
              <a:rPr lang="en-US" sz="2300" b="1" dirty="0">
                <a:solidFill>
                  <a:srgbClr val="8FE3CB"/>
                </a:solidFill>
                <a:latin typeface="Aptos" pitchFamily="34" charset="0"/>
                <a:ea typeface="Aptos" pitchFamily="34" charset="-122"/>
                <a:cs typeface="Aptos" pitchFamily="34" charset="-120"/>
              </a:rPr>
              <a:t>After every denial, prove that the legitimate task still completes.</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THE QUESTION TO TAKE HOME</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release decision needs its own boundary.</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Source, evidence, exact commands and limitations: github.com/zozo123/nyc-talk</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12</a:t>
            </a:r>
            <a:endParaRPr lang="en-US" sz="1200" dirty="0"/>
          </a:p>
        </p:txBody>
      </p:sp>
      <p:sp>
        <p:nvSpPr>
          <p:cNvPr id="7" name="Text 5"/>
          <p:cNvSpPr txBox="1"/>
          <p:nvPr/>
        </p:nvSpPr>
        <p:spPr>
          <a:xfrm>
            <a:off x="548640" y="1828800"/>
            <a:ext cx="11064240" cy="2532888"/>
          </a:xfrm>
          <a:prstGeom prst="rect">
            <a:avLst/>
          </a:prstGeom>
          <a:noFill/>
          <a:ln/>
        </p:spPr>
        <p:txBody>
          <a:bodyPr wrap="square" lIns="0" tIns="0" rIns="0" bIns="0" rtlCol="0" anchor="t"/>
          <a:lstStyle/>
          <a:p>
            <a:pPr algn="l" indent="0" marL="0">
              <a:lnSpc>
                <a:spcPct val="112000"/>
              </a:lnSpc>
              <a:buNone/>
            </a:pPr>
            <a:r>
              <a:rPr lang="en-US" sz="4200" b="1" dirty="0">
                <a:solidFill>
                  <a:srgbClr val="F2F3EE"/>
                </a:solidFill>
                <a:latin typeface="Aptos" pitchFamily="34" charset="0"/>
                <a:ea typeface="Aptos" pitchFamily="34" charset="-122"/>
                <a:cs typeface="Aptos" pitchFamily="34" charset="-120"/>
              </a:rPr>
              <a:t>What can this worker</a:t>
            </a:r>
            <a:endParaRPr lang="en-US" sz="4200" dirty="0"/>
          </a:p>
          <a:p>
            <a:pPr algn="l" indent="0" marL="0">
              <a:lnSpc>
                <a:spcPct val="112000"/>
              </a:lnSpc>
              <a:buNone/>
            </a:pPr>
            <a:r>
              <a:rPr lang="en-US" sz="4200" b="1" dirty="0">
                <a:solidFill>
                  <a:srgbClr val="F2F3EE"/>
                </a:solidFill>
                <a:latin typeface="Aptos" pitchFamily="34" charset="0"/>
                <a:ea typeface="Aptos" pitchFamily="34" charset="-122"/>
                <a:cs typeface="Aptos" pitchFamily="34" charset="-120"/>
              </a:rPr>
              <a:t>make the rest of</a:t>
            </a:r>
            <a:endParaRPr lang="en-US" sz="4200" dirty="0"/>
          </a:p>
          <a:p>
            <a:pPr algn="l" indent="0" marL="0">
              <a:lnSpc>
                <a:spcPct val="112000"/>
              </a:lnSpc>
              <a:buNone/>
            </a:pPr>
            <a:r>
              <a:rPr lang="en-US" sz="4200" b="1" dirty="0">
                <a:solidFill>
                  <a:srgbClr val="F2F3EE"/>
                </a:solidFill>
                <a:latin typeface="Aptos" pitchFamily="34" charset="0"/>
                <a:ea typeface="Aptos" pitchFamily="34" charset="-122"/>
                <a:cs typeface="Aptos" pitchFamily="34" charset="-120"/>
              </a:rPr>
              <a:t>your system believe?</a:t>
            </a:r>
            <a:endParaRPr lang="en-US" sz="4200" dirty="0"/>
          </a:p>
        </p:txBody>
      </p:sp>
      <p:sp>
        <p:nvSpPr>
          <p:cNvPr id="8" name="Text 6"/>
          <p:cNvSpPr txBox="1"/>
          <p:nvPr/>
        </p:nvSpPr>
        <p:spPr>
          <a:xfrm>
            <a:off x="548640" y="4892040"/>
            <a:ext cx="10972800" cy="548640"/>
          </a:xfrm>
          <a:prstGeom prst="rect">
            <a:avLst/>
          </a:prstGeom>
          <a:noFill/>
          <a:ln/>
        </p:spPr>
        <p:txBody>
          <a:bodyPr wrap="square" lIns="0" tIns="0" rIns="0" bIns="0" rtlCol="0" anchor="t"/>
          <a:lstStyle/>
          <a:p>
            <a:pPr algn="l" indent="0" marL="0">
              <a:lnSpc>
                <a:spcPct val="112000"/>
              </a:lnSpc>
              <a:buNone/>
            </a:pPr>
            <a:r>
              <a:rPr lang="en-US" sz="2500" b="1" dirty="0">
                <a:solidFill>
                  <a:srgbClr val="8FE3CB"/>
                </a:solidFill>
                <a:latin typeface="Aptos" pitchFamily="34" charset="0"/>
                <a:ea typeface="Aptos" pitchFamily="34" charset="-122"/>
                <a:cs typeface="Aptos" pitchFamily="34" charset="-120"/>
              </a:rPr>
              <a:t>Keep the release decision outside its write authority.</a:t>
            </a:r>
            <a:endParaRPr lang="en-US" sz="2500" dirty="0"/>
          </a:p>
        </p:txBody>
      </p:sp>
      <p:sp>
        <p:nvSpPr>
          <p:cNvPr id="9" name="Text 7">
            <a:hlinkClick r:id="rId1" tooltip=""/>
          </p:cNvPr>
          <p:cNvSpPr txBox="1"/>
          <p:nvPr/>
        </p:nvSpPr>
        <p:spPr>
          <a:xfrm>
            <a:off x="548640" y="5751576"/>
            <a:ext cx="10881360" cy="365760"/>
          </a:xfrm>
          <a:prstGeom prst="rect">
            <a:avLst/>
          </a:prstGeom>
          <a:noFill/>
          <a:ln/>
        </p:spPr>
        <p:txBody>
          <a:bodyPr wrap="square" lIns="0" tIns="0" rIns="0" bIns="0" rtlCol="0" anchor="t"/>
          <a:lstStyle/>
          <a:p>
            <a:pPr algn="l" indent="0" marL="0">
              <a:lnSpc>
                <a:spcPct val="112000"/>
              </a:lnSpc>
              <a:buNone/>
            </a:pPr>
            <a:r>
              <a:rPr lang="en-US" sz="2000" u="sng" dirty="0">
                <a:solidFill>
                  <a:srgbClr val="ACB9C2"/>
                </a:solidFill>
                <a:latin typeface="DejaVu Sans Mono" pitchFamily="34" charset="0"/>
                <a:ea typeface="DejaVu Sans Mono" pitchFamily="34" charset="-122"/>
                <a:cs typeface="DejaVu Sans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github.com/zozo123/nyc-talk</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APPENDIX A / EXACT SCOPE</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experiments prove bounded properties.</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Synthetic fixtures. Recorded observations; no live model call.</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13</a:t>
            </a:r>
            <a:endParaRPr lang="en-US" sz="1200" dirty="0"/>
          </a:p>
        </p:txBody>
      </p:sp>
      <p:sp>
        <p:nvSpPr>
          <p:cNvPr id="7" name="Text 5"/>
          <p:cNvSpPr txBox="1"/>
          <p:nvPr/>
        </p:nvSpPr>
        <p:spPr>
          <a:xfrm>
            <a:off x="548640" y="1911096"/>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Isolation lab</a:t>
            </a:r>
            <a:endParaRPr lang="en-US" sz="1900" dirty="0"/>
          </a:p>
        </p:txBody>
      </p:sp>
      <p:sp>
        <p:nvSpPr>
          <p:cNvPr id="8" name="Text 6"/>
          <p:cNvSpPr txBox="1"/>
          <p:nvPr/>
        </p:nvSpPr>
        <p:spPr>
          <a:xfrm>
            <a:off x="3575304" y="1911096"/>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Real Linux user/PID/mount/network namespaces and bind mounts; synthetic HTTP on host loopback.</a:t>
            </a:r>
            <a:endParaRPr lang="en-US" sz="1800" dirty="0"/>
          </a:p>
        </p:txBody>
      </p:sp>
      <p:sp>
        <p:nvSpPr>
          <p:cNvPr id="9" name="Text 7"/>
          <p:cNvSpPr txBox="1"/>
          <p:nvPr/>
        </p:nvSpPr>
        <p:spPr>
          <a:xfrm>
            <a:off x="548640" y="3063240"/>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Admin factory</a:t>
            </a:r>
            <a:endParaRPr lang="en-US" sz="1900" dirty="0"/>
          </a:p>
        </p:txBody>
      </p:sp>
      <p:sp>
        <p:nvSpPr>
          <p:cNvPr id="10" name="Text 8"/>
          <p:cNvSpPr txBox="1"/>
          <p:nvPr/>
        </p:nvSpPr>
        <p:spPr>
          <a:xfrm>
            <a:off x="3575304" y="3063240"/>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Five CLI policy cases; local committed fixtures. Python -I is not an OS security boundary.</a:t>
            </a:r>
            <a:endParaRPr lang="en-US" sz="1800" dirty="0"/>
          </a:p>
        </p:txBody>
      </p:sp>
      <p:sp>
        <p:nvSpPr>
          <p:cNvPr id="11" name="Text 9"/>
          <p:cNvSpPr txBox="1"/>
          <p:nvPr/>
        </p:nvSpPr>
        <p:spPr>
          <a:xfrm>
            <a:off x="548640" y="4215384"/>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Trusted base</a:t>
            </a:r>
            <a:endParaRPr lang="en-US" sz="1900" dirty="0"/>
          </a:p>
        </p:txBody>
      </p:sp>
      <p:sp>
        <p:nvSpPr>
          <p:cNvPr id="12" name="Text 10"/>
          <p:cNvSpPr txBox="1"/>
          <p:nvPr/>
        </p:nvSpPr>
        <p:spPr>
          <a:xfrm>
            <a:off x="3575304" y="4215384"/>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Controller code, reference cases, keys, store and OS. No worker reachability into controller memory is claimed.</a:t>
            </a:r>
            <a:endParaRPr lang="en-US" sz="1800" dirty="0"/>
          </a:p>
        </p:txBody>
      </p:sp>
      <p:sp>
        <p:nvSpPr>
          <p:cNvPr id="13" name="Text 11"/>
          <p:cNvSpPr txBox="1"/>
          <p:nvPr/>
        </p:nvSpPr>
        <p:spPr>
          <a:xfrm>
            <a:off x="548640" y="5367528"/>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Out of scope</a:t>
            </a:r>
            <a:endParaRPr lang="en-US" sz="1900" dirty="0"/>
          </a:p>
        </p:txBody>
      </p:sp>
      <p:sp>
        <p:nvSpPr>
          <p:cNvPr id="14" name="Text 12"/>
          <p:cNvSpPr txBox="1"/>
          <p:nvPr/>
        </p:nvSpPr>
        <p:spPr>
          <a:xfrm>
            <a:off x="3575304" y="5367528"/>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Model attack rate, kernel/cgroup/seccomp coverage, side channels, arbitrary uploads, production deployment and universal correctness.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APPENDIX B / EVIDENCE LEDGER</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Separate observations, inferences and open work.</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Synthetic fixtures. Recorded observations; no live model call.</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14</a:t>
            </a:r>
            <a:endParaRPr lang="en-US" sz="1200" dirty="0"/>
          </a:p>
        </p:txBody>
      </p:sp>
      <p:sp>
        <p:nvSpPr>
          <p:cNvPr id="7" name="Text 5"/>
          <p:cNvSpPr txBox="1"/>
          <p:nvPr/>
        </p:nvSpPr>
        <p:spPr>
          <a:xfrm>
            <a:off x="548640" y="1911096"/>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Observed</a:t>
            </a:r>
            <a:endParaRPr lang="en-US" sz="1900" dirty="0"/>
          </a:p>
        </p:txBody>
      </p:sp>
      <p:sp>
        <p:nvSpPr>
          <p:cNvPr id="8" name="Text 6"/>
          <p:cNvSpPr txBox="1"/>
          <p:nvPr/>
        </p:nvSpPr>
        <p:spPr>
          <a:xfrm>
            <a:off x="3575304" y="1911096"/>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29 isolated-lab assertions; six local factory checks; 26 gate/criteria regression tests. Weak cases deliberately create false accepts.</a:t>
            </a:r>
            <a:endParaRPr lang="en-US" sz="1800" dirty="0"/>
          </a:p>
        </p:txBody>
      </p:sp>
      <p:sp>
        <p:nvSpPr>
          <p:cNvPr id="9" name="Text 7"/>
          <p:cNvSpPr txBox="1"/>
          <p:nvPr/>
        </p:nvSpPr>
        <p:spPr>
          <a:xfrm>
            <a:off x="548640" y="3063240"/>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Inferred</a:t>
            </a:r>
            <a:endParaRPr lang="en-US" sz="1900" dirty="0"/>
          </a:p>
        </p:txBody>
      </p:sp>
      <p:sp>
        <p:nvSpPr>
          <p:cNvPr id="10" name="Text 8"/>
          <p:cNvSpPr txBox="1"/>
          <p:nvPr/>
        </p:nvSpPr>
        <p:spPr>
          <a:xfrm>
            <a:off x="3575304" y="3063240"/>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Shared expectations can contaminate several reviewers. Snapshot state can propagate. No multi-model or snapshot benchmark is presented.</a:t>
            </a:r>
            <a:endParaRPr lang="en-US" sz="1800" dirty="0"/>
          </a:p>
        </p:txBody>
      </p:sp>
      <p:sp>
        <p:nvSpPr>
          <p:cNvPr id="11" name="Text 9"/>
          <p:cNvSpPr txBox="1"/>
          <p:nvPr/>
        </p:nvSpPr>
        <p:spPr>
          <a:xfrm>
            <a:off x="548640" y="4215384"/>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Audit fixes</a:t>
            </a:r>
            <a:endParaRPr lang="en-US" sz="1900" dirty="0"/>
          </a:p>
        </p:txBody>
      </p:sp>
      <p:sp>
        <p:nvSpPr>
          <p:cNvPr id="12" name="Text 10"/>
          <p:cNvSpPr txBox="1"/>
          <p:nvPr/>
        </p:nvSpPr>
        <p:spPr>
          <a:xfrm>
            <a:off x="3575304" y="4215384"/>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Fresh-swap test ordering; byte revalidation; stored-object checks; atomic nonce plus payload publication; measured checker hashes.</a:t>
            </a:r>
            <a:endParaRPr lang="en-US" sz="1800" dirty="0"/>
          </a:p>
        </p:txBody>
      </p:sp>
      <p:sp>
        <p:nvSpPr>
          <p:cNvPr id="13" name="Text 11"/>
          <p:cNvSpPr txBox="1"/>
          <p:nvPr/>
        </p:nvSpPr>
        <p:spPr>
          <a:xfrm>
            <a:off x="548640" y="5367528"/>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Still required</a:t>
            </a:r>
            <a:endParaRPr lang="en-US" sz="1900" dirty="0"/>
          </a:p>
        </p:txBody>
      </p:sp>
      <p:sp>
        <p:nvSpPr>
          <p:cNvPr id="14" name="Text 12"/>
          <p:cNvSpPr txBox="1"/>
          <p:nvPr/>
        </p:nvSpPr>
        <p:spPr>
          <a:xfrm>
            <a:off x="3575304" y="5367528"/>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Production publisher integration, an isolated hostile-candidate executor, dependency-complete environment attestation and broader policy coverage.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APPENDIX C / APPROVAL BINDING</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approval binds the evaluated context.</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Synthetic fixtures. Recorded observations; no live model call.</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15</a:t>
            </a:r>
            <a:endParaRPr lang="en-US" sz="1200" dirty="0"/>
          </a:p>
        </p:txBody>
      </p:sp>
      <p:sp>
        <p:nvSpPr>
          <p:cNvPr id="7" name="Text 5"/>
          <p:cNvSpPr txBox="1"/>
          <p:nvPr/>
        </p:nvSpPr>
        <p:spPr>
          <a:xfrm>
            <a:off x="548640" y="1911096"/>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Subject</a:t>
            </a:r>
            <a:endParaRPr lang="en-US" sz="1900" dirty="0"/>
          </a:p>
        </p:txBody>
      </p:sp>
      <p:sp>
        <p:nvSpPr>
          <p:cNvPr id="8" name="Text 6"/>
          <p:cNvSpPr txBox="1"/>
          <p:nvPr/>
        </p:nvSpPr>
        <p:spPr>
          <a:xfrm>
            <a:off x="3575304" y="1911096"/>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artifact_manifest_digest; task_id; run_id; schema_version</a:t>
            </a:r>
            <a:endParaRPr lang="en-US" sz="1800" dirty="0"/>
          </a:p>
        </p:txBody>
      </p:sp>
      <p:sp>
        <p:nvSpPr>
          <p:cNvPr id="9" name="Text 7"/>
          <p:cNvSpPr txBox="1"/>
          <p:nvPr/>
        </p:nvSpPr>
        <p:spPr>
          <a:xfrm>
            <a:off x="548640" y="3063240"/>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Decision inputs</a:t>
            </a:r>
            <a:endParaRPr lang="en-US" sz="1900" dirty="0"/>
          </a:p>
        </p:txBody>
      </p:sp>
      <p:sp>
        <p:nvSpPr>
          <p:cNvPr id="10" name="Text 8"/>
          <p:cNvSpPr txBox="1"/>
          <p:nvPr/>
        </p:nvSpPr>
        <p:spPr>
          <a:xfrm>
            <a:off x="3575304" y="3063240"/>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verifier_bundle_digest; expected_results_digest; policy_digest</a:t>
            </a:r>
            <a:endParaRPr lang="en-US" sz="1800" dirty="0"/>
          </a:p>
        </p:txBody>
      </p:sp>
      <p:sp>
        <p:nvSpPr>
          <p:cNvPr id="11" name="Text 9"/>
          <p:cNvSpPr txBox="1"/>
          <p:nvPr/>
        </p:nvSpPr>
        <p:spPr>
          <a:xfrm>
            <a:off x="548640" y="4215384"/>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Execution context</a:t>
            </a:r>
            <a:endParaRPr lang="en-US" sz="1900" dirty="0"/>
          </a:p>
        </p:txBody>
      </p:sp>
      <p:sp>
        <p:nvSpPr>
          <p:cNvPr id="12" name="Text 10"/>
          <p:cNvSpPr txBox="1"/>
          <p:nvPr/>
        </p:nvSpPr>
        <p:spPr>
          <a:xfrm>
            <a:off x="3575304" y="4215384"/>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acceptance_environment_manifest_digest; decision; nonce; controller MAC</a:t>
            </a:r>
            <a:endParaRPr lang="en-US" sz="1800" dirty="0"/>
          </a:p>
        </p:txBody>
      </p:sp>
      <p:sp>
        <p:nvSpPr>
          <p:cNvPr id="13" name="Text 11"/>
          <p:cNvSpPr txBox="1"/>
          <p:nvPr/>
        </p:nvSpPr>
        <p:spPr>
          <a:xfrm>
            <a:off x="548640" y="5367528"/>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Caveat</a:t>
            </a:r>
            <a:endParaRPr lang="en-US" sz="1900" dirty="0"/>
          </a:p>
        </p:txBody>
      </p:sp>
      <p:sp>
        <p:nvSpPr>
          <p:cNvPr id="14" name="Text 12"/>
          <p:cNvSpPr txBox="1"/>
          <p:nvPr/>
        </p:nvSpPr>
        <p:spPr>
          <a:xfrm>
            <a:off x="3575304" y="5367528"/>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A declared environment hash is not remote attestation. This reference bundle does not pin every interpreter or OS dependency.</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APPENDIX D / COLD REPRODUCTION</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Reproduce each layer without a cloud account.</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Synthetic fixtures. Recorded observations; no live model call.</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16</a:t>
            </a:r>
            <a:endParaRPr lang="en-US" sz="1200" dirty="0"/>
          </a:p>
        </p:txBody>
      </p:sp>
      <p:sp>
        <p:nvSpPr>
          <p:cNvPr id="7" name="Text 5"/>
          <p:cNvSpPr txBox="1"/>
          <p:nvPr/>
        </p:nvSpPr>
        <p:spPr>
          <a:xfrm>
            <a:off x="548640" y="1911096"/>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Factory + tests</a:t>
            </a:r>
            <a:endParaRPr lang="en-US" sz="1900" dirty="0"/>
          </a:p>
        </p:txBody>
      </p:sp>
      <p:sp>
        <p:nvSpPr>
          <p:cNvPr id="8" name="Text 6"/>
          <p:cNvSpPr txBox="1"/>
          <p:nvPr/>
        </p:nvSpPr>
        <p:spPr>
          <a:xfrm>
            <a:off x="3575304" y="1911096"/>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make factory</a:t>
            </a:r>
            <a:endParaRPr lang="en-US" sz="1800" dirty="0"/>
          </a:p>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make test</a:t>
            </a:r>
            <a:endParaRPr lang="en-US" sz="1800" dirty="0"/>
          </a:p>
        </p:txBody>
      </p:sp>
      <p:sp>
        <p:nvSpPr>
          <p:cNvPr id="9" name="Text 7"/>
          <p:cNvSpPr txBox="1"/>
          <p:nvPr/>
        </p:nvSpPr>
        <p:spPr>
          <a:xfrm>
            <a:off x="548640" y="3063240"/>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Real isolation</a:t>
            </a:r>
            <a:endParaRPr lang="en-US" sz="1900" dirty="0"/>
          </a:p>
        </p:txBody>
      </p:sp>
      <p:sp>
        <p:nvSpPr>
          <p:cNvPr id="10" name="Text 8"/>
          <p:cNvSpPr txBox="1"/>
          <p:nvPr/>
        </p:nvSpPr>
        <p:spPr>
          <a:xfrm>
            <a:off x="3575304" y="3063240"/>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make demo   # disposable Linux + bubblewrap</a:t>
            </a:r>
            <a:endParaRPr lang="en-US" sz="1800" dirty="0"/>
          </a:p>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make verify # require recorded sources and expected checks</a:t>
            </a:r>
            <a:endParaRPr lang="en-US" sz="1800" dirty="0"/>
          </a:p>
        </p:txBody>
      </p:sp>
      <p:sp>
        <p:nvSpPr>
          <p:cNvPr id="11" name="Text 9"/>
          <p:cNvSpPr txBox="1"/>
          <p:nvPr/>
        </p:nvSpPr>
        <p:spPr>
          <a:xfrm>
            <a:off x="548640" y="4215384"/>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Deck</a:t>
            </a:r>
            <a:endParaRPr lang="en-US" sz="1900" dirty="0"/>
          </a:p>
        </p:txBody>
      </p:sp>
      <p:sp>
        <p:nvSpPr>
          <p:cNvPr id="12" name="Text 10"/>
          <p:cNvSpPr txBox="1"/>
          <p:nvPr/>
        </p:nvSpPr>
        <p:spPr>
          <a:xfrm>
            <a:off x="3575304" y="4215384"/>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npm install --ignore-scripts</a:t>
            </a:r>
            <a:endParaRPr lang="en-US" sz="1800" dirty="0"/>
          </a:p>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make snapshot  # editable PPTX + Beamer PDF</a:t>
            </a:r>
            <a:endParaRPr lang="en-US" sz="1800" dirty="0"/>
          </a:p>
        </p:txBody>
      </p:sp>
      <p:sp>
        <p:nvSpPr>
          <p:cNvPr id="13" name="Text 11"/>
          <p:cNvSpPr txBox="1"/>
          <p:nvPr/>
        </p:nvSpPr>
        <p:spPr>
          <a:xfrm>
            <a:off x="548640" y="5367528"/>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Stage backup</a:t>
            </a:r>
            <a:endParaRPr lang="en-US" sz="1900" dirty="0"/>
          </a:p>
        </p:txBody>
      </p:sp>
      <p:sp>
        <p:nvSpPr>
          <p:cNvPr id="14" name="Text 12"/>
          <p:cNvSpPr txBox="1"/>
          <p:nvPr/>
        </p:nvSpPr>
        <p:spPr>
          <a:xfrm>
            <a:off x="3575304" y="5367528"/>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python3 tools/replay.py verifier</a:t>
            </a:r>
            <a:endParaRPr lang="en-US" sz="1800" dirty="0"/>
          </a:p>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Recorded evidence is labeled; it is not a live attack.</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APPENDIX E / PRIOR WORK</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The contribution is a reproducible boundary audit.</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Synthetic fixtures. Recorded observations; no live model call.</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17</a:t>
            </a:r>
            <a:endParaRPr lang="en-US" sz="1200" dirty="0"/>
          </a:p>
        </p:txBody>
      </p:sp>
      <p:sp>
        <p:nvSpPr>
          <p:cNvPr id="7" name="Text 5"/>
          <p:cNvSpPr txBox="1"/>
          <p:nvPr/>
        </p:nvSpPr>
        <p:spPr>
          <a:xfrm>
            <a:off x="548640" y="1929384"/>
            <a:ext cx="10972800" cy="374904"/>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Bubblewrap: guarantees depend on the selected policy</a:t>
            </a:r>
            <a:endParaRPr lang="en-US" sz="2000" dirty="0"/>
          </a:p>
        </p:txBody>
      </p:sp>
      <p:sp>
        <p:nvSpPr>
          <p:cNvPr id="8" name="Text 6">
            <a:hlinkClick r:id="rId1" tooltip=""/>
          </p:cNvPr>
          <p:cNvSpPr txBox="1"/>
          <p:nvPr/>
        </p:nvSpPr>
        <p:spPr>
          <a:xfrm>
            <a:off x="548640" y="2359152"/>
            <a:ext cx="11064240" cy="457200"/>
          </a:xfrm>
          <a:prstGeom prst="rect">
            <a:avLst/>
          </a:prstGeom>
          <a:noFill/>
          <a:ln/>
        </p:spPr>
        <p:txBody>
          <a:bodyPr wrap="square" lIns="0" tIns="0" rIns="0" bIns="0" rtlCol="0" anchor="t"/>
          <a:lstStyle/>
          <a:p>
            <a:pPr algn="l" indent="0" marL="0">
              <a:lnSpc>
                <a:spcPct val="112000"/>
              </a:lnSpc>
              <a:buNone/>
            </a:pPr>
            <a:r>
              <a:rPr lang="en-US" sz="1400" u="sng" dirty="0">
                <a:solidFill>
                  <a:srgbClr val="ACB9C2"/>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https://github.com/containers/bubblewrap</a:t>
            </a:r>
            <a:endParaRPr lang="en-US" sz="1400" dirty="0"/>
          </a:p>
        </p:txBody>
      </p:sp>
      <p:sp>
        <p:nvSpPr>
          <p:cNvPr id="9" name="Text 7"/>
          <p:cNvSpPr txBox="1"/>
          <p:nvPr/>
        </p:nvSpPr>
        <p:spPr>
          <a:xfrm>
            <a:off x="548640" y="2962656"/>
            <a:ext cx="10972800" cy="374904"/>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SLSA: verify artifact identity and provenance expectations</a:t>
            </a:r>
            <a:endParaRPr lang="en-US" sz="2000" dirty="0"/>
          </a:p>
        </p:txBody>
      </p:sp>
      <p:sp>
        <p:nvSpPr>
          <p:cNvPr id="10" name="Text 8">
            <a:hlinkClick r:id="rId2" tooltip=""/>
          </p:cNvPr>
          <p:cNvSpPr txBox="1"/>
          <p:nvPr/>
        </p:nvSpPr>
        <p:spPr>
          <a:xfrm>
            <a:off x="548640" y="3392424"/>
            <a:ext cx="11064240" cy="457200"/>
          </a:xfrm>
          <a:prstGeom prst="rect">
            <a:avLst/>
          </a:prstGeom>
          <a:noFill/>
          <a:ln/>
        </p:spPr>
        <p:txBody>
          <a:bodyPr wrap="square" lIns="0" tIns="0" rIns="0" bIns="0" rtlCol="0" anchor="t"/>
          <a:lstStyle/>
          <a:p>
            <a:pPr algn="l" indent="0" marL="0">
              <a:lnSpc>
                <a:spcPct val="112000"/>
              </a:lnSpc>
              <a:buNone/>
            </a:pPr>
            <a:r>
              <a:rPr lang="en-US" sz="1400" u="sng" dirty="0">
                <a:solidFill>
                  <a:srgbClr val="ACB9C2"/>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https://slsa.dev/spec/v1.2/verifying-artifacts</a:t>
            </a:r>
            <a:endParaRPr lang="en-US" sz="1400" dirty="0"/>
          </a:p>
        </p:txBody>
      </p:sp>
      <p:sp>
        <p:nvSpPr>
          <p:cNvPr id="11" name="Text 9"/>
          <p:cNvSpPr txBox="1"/>
          <p:nvPr/>
        </p:nvSpPr>
        <p:spPr>
          <a:xfrm>
            <a:off x="548640" y="3995928"/>
            <a:ext cx="10972800" cy="374904"/>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Anthropic: reward hacking in programming-task training</a:t>
            </a:r>
            <a:endParaRPr lang="en-US" sz="2000" dirty="0"/>
          </a:p>
        </p:txBody>
      </p:sp>
      <p:sp>
        <p:nvSpPr>
          <p:cNvPr id="12" name="Text 10">
            <a:hlinkClick r:id="rId3" tooltip=""/>
          </p:cNvPr>
          <p:cNvSpPr txBox="1"/>
          <p:nvPr/>
        </p:nvSpPr>
        <p:spPr>
          <a:xfrm>
            <a:off x="548640" y="4425696"/>
            <a:ext cx="11064240" cy="457200"/>
          </a:xfrm>
          <a:prstGeom prst="rect">
            <a:avLst/>
          </a:prstGeom>
          <a:noFill/>
          <a:ln/>
        </p:spPr>
        <p:txBody>
          <a:bodyPr wrap="square" lIns="0" tIns="0" rIns="0" bIns="0" rtlCol="0" anchor="t"/>
          <a:lstStyle/>
          <a:p>
            <a:pPr algn="l" indent="0" marL="0">
              <a:lnSpc>
                <a:spcPct val="112000"/>
              </a:lnSpc>
              <a:buNone/>
            </a:pPr>
            <a:r>
              <a:rPr lang="en-US" sz="1400" u="sng" dirty="0">
                <a:solidFill>
                  <a:srgbClr val="ACB9C2"/>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https://www.anthropic.com/research/emergent-misalignment-reward-hacking</a:t>
            </a:r>
            <a:endParaRPr lang="en-US" sz="1400" dirty="0"/>
          </a:p>
        </p:txBody>
      </p:sp>
      <p:sp>
        <p:nvSpPr>
          <p:cNvPr id="13" name="Text 11"/>
          <p:cNvSpPr txBox="1"/>
          <p:nvPr/>
        </p:nvSpPr>
        <p:spPr>
          <a:xfrm>
            <a:off x="548640" y="5029200"/>
            <a:ext cx="10972800" cy="374904"/>
          </a:xfrm>
          <a:prstGeom prst="rect">
            <a:avLst/>
          </a:prstGeom>
          <a:noFill/>
          <a:ln/>
        </p:spPr>
        <p:txBody>
          <a:bodyPr wrap="square" lIns="0" tIns="0" rIns="0" bIns="0" rtlCol="0" anchor="t"/>
          <a:lstStyle/>
          <a:p>
            <a:pPr algn="l" indent="0" marL="0">
              <a:lnSpc>
                <a:spcPct val="112000"/>
              </a:lnSpc>
              <a:buNone/>
            </a:pPr>
            <a:r>
              <a:rPr lang="en-US" sz="2000" b="1" dirty="0">
                <a:solidFill>
                  <a:srgbClr val="8FE3CB"/>
                </a:solidFill>
                <a:latin typeface="Aptos" pitchFamily="34" charset="0"/>
                <a:ea typeface="Aptos" pitchFamily="34" charset="-122"/>
                <a:cs typeface="Aptos" pitchFamily="34" charset="-120"/>
              </a:rPr>
              <a:t>This repository: implementation, evidence and claim limits</a:t>
            </a:r>
            <a:endParaRPr lang="en-US" sz="2000" dirty="0"/>
          </a:p>
        </p:txBody>
      </p:sp>
      <p:sp>
        <p:nvSpPr>
          <p:cNvPr id="14" name="Text 12">
            <a:hlinkClick r:id="rId4" tooltip=""/>
          </p:cNvPr>
          <p:cNvSpPr txBox="1"/>
          <p:nvPr/>
        </p:nvSpPr>
        <p:spPr>
          <a:xfrm>
            <a:off x="548640" y="5458968"/>
            <a:ext cx="11064240" cy="457200"/>
          </a:xfrm>
          <a:prstGeom prst="rect">
            <a:avLst/>
          </a:prstGeom>
          <a:noFill/>
          <a:ln/>
        </p:spPr>
        <p:txBody>
          <a:bodyPr wrap="square" lIns="0" tIns="0" rIns="0" bIns="0" rtlCol="0" anchor="t"/>
          <a:lstStyle/>
          <a:p>
            <a:pPr algn="l" indent="0" marL="0">
              <a:lnSpc>
                <a:spcPct val="112000"/>
              </a:lnSpc>
              <a:buNone/>
            </a:pPr>
            <a:r>
              <a:rPr lang="en-US" sz="1400" u="sng" dirty="0">
                <a:solidFill>
                  <a:srgbClr val="ACB9C2"/>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https://github.com/zozo123/nyc-talk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0789920" cy="228600"/>
          </a:xfrm>
          <a:prstGeom prst="rect">
            <a:avLst/>
          </a:prstGeom>
          <a:noFill/>
          <a:ln/>
        </p:spPr>
        <p:txBody>
          <a:bodyPr wrap="square" lIns="0" tIns="0" rIns="0" bIns="0" rtlCol="0" anchor="t"/>
          <a:lstStyle/>
          <a:p>
            <a:pPr algn="l" indent="0" marL="0">
              <a:lnSpc>
                <a:spcPct val="112000"/>
              </a:lnSpc>
              <a:buNone/>
            </a:pPr>
            <a:r>
              <a:rPr lang="en-US" sz="1200" b="1" dirty="0">
                <a:solidFill>
                  <a:srgbClr val="8FE3CB"/>
                </a:solidFill>
                <a:latin typeface="Aptos" pitchFamily="34" charset="0"/>
                <a:ea typeface="Aptos" pitchFamily="34" charset="-122"/>
                <a:cs typeface="Aptos" pitchFamily="34" charset="-120"/>
              </a:rPr>
              <a:t>APPENDIX F / FAST Q&amp;A</a:t>
            </a:r>
            <a:endParaRPr lang="en-US" sz="1200" dirty="0"/>
          </a:p>
        </p:txBody>
      </p:sp>
      <p:sp>
        <p:nvSpPr>
          <p:cNvPr id="3" name="Text 1"/>
          <p:cNvSpPr txBox="1"/>
          <p:nvPr/>
        </p:nvSpPr>
        <p:spPr>
          <a:xfrm>
            <a:off x="548640" y="841248"/>
            <a:ext cx="11064240" cy="960120"/>
          </a:xfrm>
          <a:prstGeom prst="rect">
            <a:avLst/>
          </a:prstGeom>
          <a:noFill/>
          <a:ln/>
        </p:spPr>
        <p:txBody>
          <a:bodyPr wrap="square" lIns="0" tIns="0" rIns="0" bIns="0" rtlCol="0" anchor="t"/>
          <a:lstStyle/>
          <a:p>
            <a:pPr algn="l" indent="0" marL="0">
              <a:lnSpc>
                <a:spcPct val="112000"/>
              </a:lnSpc>
              <a:buNone/>
            </a:pPr>
            <a:r>
              <a:rPr lang="en-US" sz="3400" b="1" dirty="0">
                <a:solidFill>
                  <a:srgbClr val="F2F3EE"/>
                </a:solidFill>
                <a:latin typeface="Aptos" pitchFamily="34" charset="0"/>
                <a:ea typeface="Aptos" pitchFamily="34" charset="-122"/>
                <a:cs typeface="Aptos" pitchFamily="34" charset="-120"/>
              </a:rPr>
              <a:t>Answers to the questions this demo should invite.</a:t>
            </a:r>
            <a:endParaRPr lang="en-US" sz="3400" dirty="0"/>
          </a:p>
        </p:txBody>
      </p:sp>
      <p:sp>
        <p:nvSpPr>
          <p:cNvPr id="4" name="Shape 2"/>
          <p:cNvSpPr/>
          <p:nvPr/>
        </p:nvSpPr>
        <p:spPr>
          <a:xfrm>
            <a:off x="548640" y="6336792"/>
            <a:ext cx="11064240" cy="0"/>
          </a:xfrm>
          <a:prstGeom prst="line">
            <a:avLst/>
          </a:prstGeom>
          <a:noFill/>
          <a:ln w="8890">
            <a:solidFill>
              <a:srgbClr val="40515B"/>
            </a:solidFill>
            <a:prstDash val="solid"/>
          </a:ln>
        </p:spPr>
      </p:sp>
      <p:sp>
        <p:nvSpPr>
          <p:cNvPr id="5" name="Text 3"/>
          <p:cNvSpPr txBox="1"/>
          <p:nvPr/>
        </p:nvSpPr>
        <p:spPr>
          <a:xfrm>
            <a:off x="548640" y="6473952"/>
            <a:ext cx="10012680" cy="201168"/>
          </a:xfrm>
          <a:prstGeom prst="rect">
            <a:avLst/>
          </a:prstGeom>
          <a:noFill/>
          <a:ln/>
        </p:spPr>
        <p:txBody>
          <a:bodyPr wrap="square" lIns="0" tIns="0" rIns="0" bIns="0" rtlCol="0" anchor="t"/>
          <a:lstStyle/>
          <a:p>
            <a:pPr algn="l" indent="0" marL="0">
              <a:lnSpc>
                <a:spcPct val="112000"/>
              </a:lnSpc>
              <a:buNone/>
            </a:pPr>
            <a:r>
              <a:rPr lang="en-US" sz="1000" dirty="0">
                <a:solidFill>
                  <a:srgbClr val="ACB9C2"/>
                </a:solidFill>
                <a:latin typeface="Aptos" pitchFamily="34" charset="0"/>
                <a:ea typeface="Aptos" pitchFamily="34" charset="-122"/>
                <a:cs typeface="Aptos" pitchFamily="34" charset="-120"/>
              </a:rPr>
              <a:t>Synthetic fixtures. Recorded observations; no live model call.</a:t>
            </a:r>
            <a:endParaRPr lang="en-US" sz="1000" dirty="0"/>
          </a:p>
        </p:txBody>
      </p:sp>
      <p:sp>
        <p:nvSpPr>
          <p:cNvPr id="6" name="Text 4"/>
          <p:cNvSpPr txBox="1"/>
          <p:nvPr/>
        </p:nvSpPr>
        <p:spPr>
          <a:xfrm>
            <a:off x="10927080" y="6455664"/>
            <a:ext cx="658368" cy="256032"/>
          </a:xfrm>
          <a:prstGeom prst="rect">
            <a:avLst/>
          </a:prstGeom>
          <a:noFill/>
          <a:ln/>
        </p:spPr>
        <p:txBody>
          <a:bodyPr wrap="square" lIns="0" tIns="0" rIns="0" bIns="0" rtlCol="0" anchor="t"/>
          <a:lstStyle/>
          <a:p>
            <a:pPr algn="r" indent="0" marL="0">
              <a:lnSpc>
                <a:spcPct val="112000"/>
              </a:lnSpc>
              <a:buNone/>
            </a:pPr>
            <a:r>
              <a:rPr lang="en-US" sz="1200" dirty="0">
                <a:solidFill>
                  <a:srgbClr val="ACB9C2"/>
                </a:solidFill>
                <a:latin typeface="Aptos" pitchFamily="34" charset="0"/>
                <a:ea typeface="Aptos" pitchFamily="34" charset="-122"/>
                <a:cs typeface="Aptos" pitchFamily="34" charset="-120"/>
              </a:rPr>
              <a:t>18</a:t>
            </a:r>
            <a:endParaRPr lang="en-US" sz="1200" dirty="0"/>
          </a:p>
        </p:txBody>
      </p:sp>
      <p:sp>
        <p:nvSpPr>
          <p:cNvPr id="7" name="Text 5"/>
          <p:cNvSpPr txBox="1"/>
          <p:nvPr/>
        </p:nvSpPr>
        <p:spPr>
          <a:xfrm>
            <a:off x="548640" y="1911096"/>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Why no live LLM?</a:t>
            </a:r>
            <a:endParaRPr lang="en-US" sz="1900" dirty="0"/>
          </a:p>
        </p:txBody>
      </p:sp>
      <p:sp>
        <p:nvSpPr>
          <p:cNvPr id="8" name="Text 6"/>
          <p:cNvSpPr txBox="1"/>
          <p:nvPr/>
        </p:nvSpPr>
        <p:spPr>
          <a:xfrm>
            <a:off x="3575304" y="1911096"/>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The deterministic fixture isolates an authority failure. Model discovery, frequency and transfer would require a separate evaluation.</a:t>
            </a:r>
            <a:endParaRPr lang="en-US" sz="1800" dirty="0"/>
          </a:p>
        </p:txBody>
      </p:sp>
      <p:sp>
        <p:nvSpPr>
          <p:cNvPr id="9" name="Text 7"/>
          <p:cNvSpPr txBox="1"/>
          <p:nvPr/>
        </p:nvSpPr>
        <p:spPr>
          <a:xfrm>
            <a:off x="548640" y="3063240"/>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Why not another VM?</a:t>
            </a:r>
            <a:endParaRPr lang="en-US" sz="1900" dirty="0"/>
          </a:p>
        </p:txBody>
      </p:sp>
      <p:sp>
        <p:nvSpPr>
          <p:cNvPr id="10" name="Text 8"/>
          <p:cNvSpPr txBox="1"/>
          <p:nvPr/>
        </p:nvSpPr>
        <p:spPr>
          <a:xfrm>
            <a:off x="3575304" y="3063240"/>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The verifier must also stop trusting worker-controlled criteria. Execution separation and decision independence are distinct requirements.</a:t>
            </a:r>
            <a:endParaRPr lang="en-US" sz="1800" dirty="0"/>
          </a:p>
        </p:txBody>
      </p:sp>
      <p:sp>
        <p:nvSpPr>
          <p:cNvPr id="11" name="Text 9"/>
          <p:cNvSpPr txBox="1"/>
          <p:nvPr/>
        </p:nvSpPr>
        <p:spPr>
          <a:xfrm>
            <a:off x="548640" y="4215384"/>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Does the chain stop it?</a:t>
            </a:r>
            <a:endParaRPr lang="en-US" sz="1900" dirty="0"/>
          </a:p>
        </p:txBody>
      </p:sp>
      <p:sp>
        <p:nvSpPr>
          <p:cNvPr id="12" name="Text 10"/>
          <p:cNvSpPr txBox="1"/>
          <p:nvPr/>
        </p:nvSpPr>
        <p:spPr>
          <a:xfrm>
            <a:off x="3575304" y="4215384"/>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A separately retained head exposes history disagreement. The judge and publication gate enforce acceptance.</a:t>
            </a:r>
            <a:endParaRPr lang="en-US" sz="1800" dirty="0"/>
          </a:p>
        </p:txBody>
      </p:sp>
      <p:sp>
        <p:nvSpPr>
          <p:cNvPr id="13" name="Text 11"/>
          <p:cNvSpPr txBox="1"/>
          <p:nvPr/>
        </p:nvSpPr>
        <p:spPr>
          <a:xfrm>
            <a:off x="548640" y="5367528"/>
            <a:ext cx="2816352" cy="594360"/>
          </a:xfrm>
          <a:prstGeom prst="rect">
            <a:avLst/>
          </a:prstGeom>
          <a:noFill/>
          <a:ln/>
        </p:spPr>
        <p:txBody>
          <a:bodyPr wrap="square" lIns="0" tIns="0" rIns="0" bIns="0" rtlCol="0" anchor="t"/>
          <a:lstStyle/>
          <a:p>
            <a:pPr algn="l" indent="0" marL="0">
              <a:lnSpc>
                <a:spcPct val="112000"/>
              </a:lnSpc>
              <a:buNone/>
            </a:pPr>
            <a:r>
              <a:rPr lang="en-US" sz="1900" b="1" dirty="0">
                <a:solidFill>
                  <a:srgbClr val="8FE3CB"/>
                </a:solidFill>
                <a:latin typeface="Aptos" pitchFamily="34" charset="0"/>
                <a:ea typeface="Aptos" pitchFamily="34" charset="-122"/>
                <a:cs typeface="Aptos" pitchFamily="34" charset="-120"/>
              </a:rPr>
              <a:t>What is new here?</a:t>
            </a:r>
            <a:endParaRPr lang="en-US" sz="1900" dirty="0"/>
          </a:p>
        </p:txBody>
      </p:sp>
      <p:sp>
        <p:nvSpPr>
          <p:cNvPr id="14" name="Text 12"/>
          <p:cNvSpPr txBox="1"/>
          <p:nvPr/>
        </p:nvSpPr>
        <p:spPr>
          <a:xfrm>
            <a:off x="3575304" y="5367528"/>
            <a:ext cx="8065008" cy="932688"/>
          </a:xfrm>
          <a:prstGeom prst="rect">
            <a:avLst/>
          </a:prstGeom>
          <a:noFill/>
          <a:ln/>
        </p:spPr>
        <p:txBody>
          <a:bodyPr wrap="square" lIns="0" tIns="0" rIns="0" bIns="0" rtlCol="0" anchor="t"/>
          <a:lstStyle/>
          <a:p>
            <a:pPr algn="l" indent="0" marL="0">
              <a:lnSpc>
                <a:spcPct val="112000"/>
              </a:lnSpc>
              <a:buNone/>
            </a:pPr>
            <a:r>
              <a:rPr lang="en-US" sz="1800" dirty="0">
                <a:solidFill>
                  <a:srgbClr val="F2F3EE"/>
                </a:solidFill>
                <a:latin typeface="Aptos" pitchFamily="34" charset="0"/>
                <a:ea typeface="Aptos" pitchFamily="34" charset="-122"/>
                <a:cs typeface="Aptos" pitchFamily="34" charset="-120"/>
              </a:rPr>
              <a:t>A repeatable four-boundary audit and concrete corrections to our own reference gate. No vendor incident or new cryptographic primitive is claimed.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Incredibuild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Agent Escaped Without Escaping the Sandbox</dc:title>
  <dc:subject>AI Agent Security Summit - New York - October 21, 2026</dc:subject>
  <dc:creator>Yossi Eliaz</dc:creator>
  <cp:lastModifiedBy>Yossi Eliaz</cp:lastModifiedBy>
  <cp:revision>1</cp:revision>
  <dcterms:created xsi:type="dcterms:W3CDTF">2026-09-20T11:18:32Z</dcterms:created>
  <dcterms:modified xsi:type="dcterms:W3CDTF">2026-09-20T11:18:32Z</dcterms:modified>
</cp:coreProperties>
</file>